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35a3605f2ccb4490" /><Relationship Type="http://schemas.openxmlformats.org/officeDocument/2006/relationships/extended-properties" Target="/docProps/app.xml" Id="R4c7604e646054aed" /><Relationship Type="http://schemas.openxmlformats.org/officeDocument/2006/relationships/officeDocument" Target="/ppt/presentation.xml" Id="R62f28381114a4292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6791307c780a41ac"/>
  </p:sldMasterIdLst>
  <p:notesMasterIdLst>
    <p:notesMasterId xmlns:r="http://schemas.openxmlformats.org/officeDocument/2006/relationships" r:id="R39ce22a0c6c84b06"/>
  </p:notesMasterIdLst>
  <p:sldIdLst>
    <p:sldId xmlns:r="http://schemas.openxmlformats.org/officeDocument/2006/relationships" id="256" r:id="Ra7c8638c18f241fe"/>
    <p:sldId xmlns:r="http://schemas.openxmlformats.org/officeDocument/2006/relationships" id="257" r:id="R939da812d1094574"/>
    <p:sldId xmlns:r="http://schemas.openxmlformats.org/officeDocument/2006/relationships" id="258" r:id="Ref1fc10dc2c24a23"/>
    <p:sldId xmlns:r="http://schemas.openxmlformats.org/officeDocument/2006/relationships" id="259" r:id="R34659a1d2c2a405d"/>
    <p:sldId xmlns:r="http://schemas.openxmlformats.org/officeDocument/2006/relationships" id="260" r:id="R5e54f03f7797405e"/>
    <p:sldId xmlns:r="http://schemas.openxmlformats.org/officeDocument/2006/relationships" id="261" r:id="R93702f09f48e4ce8"/>
    <p:sldId xmlns:r="http://schemas.openxmlformats.org/officeDocument/2006/relationships" id="262" r:id="R6e6f54d763a84013"/>
    <p:sldId xmlns:r="http://schemas.openxmlformats.org/officeDocument/2006/relationships" id="263" r:id="R0be3f30d17104be1"/>
  </p:sldIdLst>
  <p:sldSz cx="12192000" cy="6858000"/>
  <p:notesSz cx="6858000" cy="9144000"/>
  <p:embeddedFontLst>
    <p:embeddedFont>
      <p:font typeface="Playfair Display Cartesian"/>
      <p:regular r:id="rId201314"/>
    </p:embeddedFont>
    <p:embeddedFont>
      <p:font typeface="Inter Cartesian"/>
      <p:regular r:id="rId201315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175e799507594687"/><Relationship Type="http://schemas.openxmlformats.org/officeDocument/2006/relationships/slideMaster" Target="/ppt/slideMasters/slideMaster1.xml" Id="R6791307c780a41ac"/><Relationship Type="http://schemas.openxmlformats.org/officeDocument/2006/relationships/notesMaster" Target="/ppt/notesMasters/notesMaster1.xml" Id="R39ce22a0c6c84b06"/><Relationship Type="http://schemas.openxmlformats.org/officeDocument/2006/relationships/presProps" Target="/ppt/presProps.xml" Id="R00518b106ac1435e"/><Relationship Type="http://schemas.openxmlformats.org/officeDocument/2006/relationships/tableStyles" Target="/ppt/tableStyles.xml" Id="R4da82f87e68d470c"/><Relationship Type="http://schemas.openxmlformats.org/officeDocument/2006/relationships/slide" Target="/ppt/slides/slide1.xml" Id="Ra7c8638c18f241fe"/><Relationship Type="http://schemas.openxmlformats.org/officeDocument/2006/relationships/slide" Target="/ppt/slides/slide2.xml" Id="R939da812d1094574"/><Relationship Type="http://schemas.openxmlformats.org/officeDocument/2006/relationships/slide" Target="/ppt/slides/slide3.xml" Id="Ref1fc10dc2c24a23"/><Relationship Type="http://schemas.openxmlformats.org/officeDocument/2006/relationships/slide" Target="/ppt/slides/slide4.xml" Id="R34659a1d2c2a405d"/><Relationship Type="http://schemas.openxmlformats.org/officeDocument/2006/relationships/slide" Target="/ppt/slides/slide5.xml" Id="R5e54f03f7797405e"/><Relationship Type="http://schemas.openxmlformats.org/officeDocument/2006/relationships/slide" Target="/ppt/slides/slide6.xml" Id="R93702f09f48e4ce8"/><Relationship Type="http://schemas.openxmlformats.org/officeDocument/2006/relationships/slide" Target="/ppt/slides/slide7.xml" Id="R6e6f54d763a84013"/><Relationship Type="http://schemas.openxmlformats.org/officeDocument/2006/relationships/slide" Target="/ppt/slides/slide8.xml" Id="R0be3f30d17104be1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2acaa1cc8468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13018a4968b4fa6" /><Relationship Type="http://schemas.openxmlformats.org/officeDocument/2006/relationships/notesMaster" Target="/ppt/notesMasters/notesMaster1.xml" Id="R674a232079b844a0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7919601812a4409d" /><Relationship Type="http://schemas.openxmlformats.org/officeDocument/2006/relationships/notesMaster" Target="/ppt/notesMasters/notesMaster1.xml" Id="R2e1f0f3c52104bd5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19e94858b6d84c52" /><Relationship Type="http://schemas.openxmlformats.org/officeDocument/2006/relationships/notesMaster" Target="/ppt/notesMasters/notesMaster1.xml" Id="R2a6edbe3a6444718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fbba8a24d38943c6" /><Relationship Type="http://schemas.openxmlformats.org/officeDocument/2006/relationships/notesMaster" Target="/ppt/notesMasters/notesMaster1.xml" Id="R6c8ea7b81cb54385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9c21545c55cc436f" /><Relationship Type="http://schemas.openxmlformats.org/officeDocument/2006/relationships/notesMaster" Target="/ppt/notesMasters/notesMaster1.xml" Id="R083226bb0fad4e67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3acf3ff66e584839" /><Relationship Type="http://schemas.openxmlformats.org/officeDocument/2006/relationships/notesMaster" Target="/ppt/notesMasters/notesMaster1.xml" Id="Rba16eaeac3694ace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1d77c7843b604714" /><Relationship Type="http://schemas.openxmlformats.org/officeDocument/2006/relationships/notesMaster" Target="/ppt/notesMasters/notesMaster1.xml" Id="Rea04afb9235948d5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cd40eba20e04446b" /><Relationship Type="http://schemas.openxmlformats.org/officeDocument/2006/relationships/notesMaster" Target="/ppt/notesMasters/notesMaster1.xml" Id="R3bf962d9834f4f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The attention curves are illustrative and are not measured research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four-block observation across 12 repeated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representative session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https://github.com/zarazhangrui/beautiful-html-templates/tree/main/templates/cartesian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fa51c69e75843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4bec7c48b81249a8" /><Relationship Type="http://schemas.openxmlformats.org/officeDocument/2006/relationships/slideLayout" Target="/ppt/slideLayouts/slideLayout1.xml" Id="Raf2a3319d49c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2a3319d49c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bc4dfceaab346ea" /><Relationship Type="http://schemas.openxmlformats.org/officeDocument/2006/relationships/notesSlide" Target="/ppt/notesSlides/notesSlide1.xml" Id="Rdf501e914f4d4864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c038dd693a94a91" /><Relationship Type="http://schemas.openxmlformats.org/officeDocument/2006/relationships/notesSlide" Target="/ppt/notesSlides/notesSlide2.xml" Id="R2f5e35220fd34cde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ed8ad22e9b74b73" /><Relationship Type="http://schemas.openxmlformats.org/officeDocument/2006/relationships/notesSlide" Target="/ppt/notesSlides/notesSlide3.xml" Id="R861ce00e039f49b8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d97a04df2b0468a" /><Relationship Type="http://schemas.openxmlformats.org/officeDocument/2006/relationships/notesSlide" Target="/ppt/notesSlides/notesSlide4.xml" Id="Rafb87d4049da46b8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a3c19dddc664487" /><Relationship Type="http://schemas.openxmlformats.org/officeDocument/2006/relationships/chart" Target="/ppt/slides/charts/chart1.xml" Id="Rb87534e530f94111" /><Relationship Type="http://schemas.openxmlformats.org/officeDocument/2006/relationships/notesSlide" Target="/ppt/notesSlides/notesSlide5.xml" Id="R4e27d9718a9649ed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6f69614983c4f01" /><Relationship Type="http://schemas.openxmlformats.org/officeDocument/2006/relationships/chart" Target="/ppt/slides/charts/chart2.xml" Id="R6c833bc595584adb" /><Relationship Type="http://schemas.openxmlformats.org/officeDocument/2006/relationships/notesSlide" Target="/ppt/notesSlides/notesSlide6.xml" Id="Re60755ac382c484c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22a19b8e11b4419" /><Relationship Type="http://schemas.openxmlformats.org/officeDocument/2006/relationships/notesSlide" Target="/ppt/notesSlides/notesSlide7.xml" Id="Rcdae843653324a1b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e7035f7c0fb4218" /><Relationship Type="http://schemas.openxmlformats.org/officeDocument/2006/relationships/notesSlide" Target="/ppt/notesSlides/notesSlide8.xml" Id="R7b3ea41f91504c2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Noise</c:v>
          </c:tx>
          <c:spPr>
            <a:solidFill xmlns:a="http://schemas.openxmlformats.org/drawingml/2006/main">
              <a:srgbClr val="8A8178"/>
            </a:solidFill>
            <a:ln xmlns:a="http://schemas.openxmlformats.org/drawingml/2006/main" w="28575">
              <a:solidFill>
                <a:srgbClr val="8A8178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Arrive</c:v>
              </c:pt>
              <c:pt idx="1">
                <c:v>Settle</c:v>
              </c:pt>
              <c:pt idx="2">
                <c:v>Deepen</c:v>
              </c:pt>
              <c:pt idx="3">
                <c:v>Drift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82</c:v>
              </c:pt>
              <c:pt idx="1">
                <c:v>55</c:v>
              </c:pt>
              <c:pt idx="2">
                <c:v>28</c:v>
              </c:pt>
              <c:pt idx="3">
                <c:v>18</c:v>
              </c:pt>
              <c:pt idx="4">
                <c:v>30</c:v>
              </c:pt>
            </c:numLit>
          </c:val>
        </c:ser>
        <c:ser>
          <c:idx val="1"/>
          <c:order val="1"/>
          <c:tx>
            <c:v>Focus</c:v>
          </c:tx>
          <c:spPr>
            <a:solidFill xmlns:a="http://schemas.openxmlformats.org/drawingml/2006/main">
              <a:srgbClr val="1A1A1A"/>
            </a:solidFill>
            <a:ln xmlns:a="http://schemas.openxmlformats.org/drawingml/2006/main" w="28575">
              <a:solidFill>
                <a:srgbClr val="1A1A1A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Arrive</c:v>
              </c:pt>
              <c:pt idx="1">
                <c:v>Settle</c:v>
              </c:pt>
              <c:pt idx="2">
                <c:v>Deepen</c:v>
              </c:pt>
              <c:pt idx="3">
                <c:v>Drift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24</c:v>
              </c:pt>
              <c:pt idx="1">
                <c:v>48</c:v>
              </c:pt>
              <c:pt idx="2">
                <c:v>76</c:v>
              </c:pt>
              <c:pt idx="3">
                <c:v>90</c:v>
              </c:pt>
              <c:pt idx="4">
                <c:v>72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Inter Cartesian"/>
                <a:solidFill>
                  <a:srgbClr val="5A5A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0A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Inter Cartesian"/>
                <a:solidFill>
                  <a:srgbClr val="5A5A5A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E2DBD1"/>
        </a:solidFill>
        <a:ln xmlns:a="http://schemas.openxmlformats.org/drawingml/2006/main" w="9525">
          <a:solidFill>
            <a:srgbClr val="B8B0A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Inter Cartesian"/>
              <a:solidFill>
                <a:srgbClr val="5A5A5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E2DBD1"/>
    </a:solidFill>
    <a:ln xmlns:a="http://schemas.openxmlformats.org/drawingml/2006/main" w="0">
      <a:solidFill>
        <a:srgbClr val="E2DBD1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Open desk</c:v>
          </c:tx>
          <c:spPr>
            <a:solidFill xmlns:a="http://schemas.openxmlformats.org/drawingml/2006/main">
              <a:srgbClr val="8A8178"/>
            </a:solidFill>
            <a:ln xmlns:a="http://schemas.openxmlformats.org/drawingml/2006/main" w="28575">
              <a:solidFill>
                <a:srgbClr val="8A8178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Block 1</c:v>
              </c:pt>
              <c:pt idx="1">
                <c:v>Block 2</c:v>
              </c:pt>
              <c:pt idx="2">
                <c:v>Block 3</c:v>
              </c:pt>
              <c:pt idx="3">
                <c:v>Block 4</c:v>
              </c:pt>
            </c:strLit>
          </c:cat>
          <c:val>
            <c:numLit>
              <c:formatCode>General</c:formatCode>
              <c:ptCount val="4"/>
              <c:pt idx="0">
                <c:v>58</c:v>
              </c:pt>
              <c:pt idx="1">
                <c:v>52</c:v>
              </c:pt>
              <c:pt idx="2">
                <c:v>46</c:v>
              </c:pt>
              <c:pt idx="3">
                <c:v>42</c:v>
              </c:pt>
            </c:numLit>
          </c:val>
        </c:ser>
        <c:ser>
          <c:idx val="1"/>
          <c:order val="1"/>
          <c:tx>
            <c:v>Quiet ritual</c:v>
          </c:tx>
          <c:spPr>
            <a:solidFill xmlns:a="http://schemas.openxmlformats.org/drawingml/2006/main">
              <a:srgbClr val="1A1A1A"/>
            </a:solidFill>
            <a:ln xmlns:a="http://schemas.openxmlformats.org/drawingml/2006/main" w="28575">
              <a:solidFill>
                <a:srgbClr val="1A1A1A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Block 1</c:v>
              </c:pt>
              <c:pt idx="1">
                <c:v>Block 2</c:v>
              </c:pt>
              <c:pt idx="2">
                <c:v>Block 3</c:v>
              </c:pt>
              <c:pt idx="3">
                <c:v>Block 4</c:v>
              </c:pt>
            </c:strLit>
          </c:cat>
          <c:val>
            <c:numLit>
              <c:formatCode>General</c:formatCode>
              <c:ptCount val="4"/>
              <c:pt idx="0">
                <c:v>60</c:v>
              </c:pt>
              <c:pt idx="1">
                <c:v>68</c:v>
              </c:pt>
              <c:pt idx="2">
                <c:v>76</c:v>
              </c:pt>
              <c:pt idx="3">
                <c:v>81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Inter Cartesian"/>
                <a:solidFill>
                  <a:srgbClr val="5A5A5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0A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Inter Cartesian"/>
                <a:solidFill>
                  <a:srgbClr val="5A5A5A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EDE8E0"/>
        </a:solidFill>
        <a:ln xmlns:a="http://schemas.openxmlformats.org/drawingml/2006/main" w="9525">
          <a:solidFill>
            <a:srgbClr val="B8B0A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Inter Cartesian"/>
              <a:solidFill>
                <a:srgbClr val="5A5A5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EDE8E0"/>
    </a:solidFill>
    <a:ln xmlns:a="http://schemas.openxmlformats.org/drawingml/2006/main" w="0">
      <a:solidFill>
        <a:srgbClr val="EDE8E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cover-geo-circle">
            <a:extLst xmlns:a="http://schemas.openxmlformats.org/drawingml/2006/main">
              <a:ext uri="{FF2B5EF4-FFF2-40B4-BE49-F238E27FC236}">
                <a16:creationId xmlns:a16="http://schemas.microsoft.com/office/drawing/2014/main" id="{2AEF406F-E77A-4D3D-B6B3-33E82E7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181100"/>
            <a:ext cx="2324100" cy="2324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cart-cover-geo-circle-inner">
            <a:extLst xmlns:a="http://schemas.openxmlformats.org/drawingml/2006/main">
              <a:ext uri="{FF2B5EF4-FFF2-40B4-BE49-F238E27FC236}">
                <a16:creationId xmlns:a16="http://schemas.microsoft.com/office/drawing/2014/main" id="{8050A699-2F93-430F-B618-1DF1090E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084" y="1738884"/>
            <a:ext cx="1208532" cy="12085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cart-cover-geo-axis-h">
            <a:extLst xmlns:a="http://schemas.openxmlformats.org/drawingml/2006/main">
              <a:ext uri="{FF2B5EF4-FFF2-40B4-BE49-F238E27FC236}">
                <a16:creationId xmlns:a16="http://schemas.microsoft.com/office/drawing/2014/main" id="{FE3842D4-5713-4BE2-9202-401305C2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cover-geo-axis-v">
            <a:extLst xmlns:a="http://schemas.openxmlformats.org/drawingml/2006/main">
              <a:ext uri="{FF2B5EF4-FFF2-40B4-BE49-F238E27FC236}">
                <a16:creationId xmlns:a16="http://schemas.microsoft.com/office/drawing/2014/main" id="{EFC6292D-82BA-46E0-83AA-96D01FD4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66750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cover-kicker">
            <a:extLst xmlns:a="http://schemas.openxmlformats.org/drawingml/2006/main">
              <a:ext uri="{FF2B5EF4-FFF2-40B4-BE49-F238E27FC236}">
                <a16:creationId xmlns:a16="http://schemas.microsoft.com/office/drawing/2014/main" id="{7A8466A3-4316-4FC1-AB56-DA24C88D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AN ESSAY IN EIGHT FRAMES</a:t>
            </a:r>
          </a:p>
        </p:txBody>
      </p:sp>
      <p:sp>
        <p:nvSpPr>
          <p:cNvPr id="6" name="cart-cover-title">
            <a:extLst xmlns:a="http://schemas.openxmlformats.org/drawingml/2006/main">
              <a:ext uri="{FF2B5EF4-FFF2-40B4-BE49-F238E27FC236}">
                <a16:creationId xmlns:a16="http://schemas.microsoft.com/office/drawing/2014/main" id="{C670229C-1A55-49CC-9644-79800AA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810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9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9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Attention has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9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9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 shape.</a:t>
            </a:r>
          </a:p>
        </p:txBody>
      </p:sp>
      <p:sp>
        <p:nvSpPr>
          <p:cNvPr id="7" name="cart-cover-sub">
            <a:extLst xmlns:a="http://schemas.openxmlformats.org/drawingml/2006/main">
              <a:ext uri="{FF2B5EF4-FFF2-40B4-BE49-F238E27FC236}">
                <a16:creationId xmlns:a16="http://schemas.microsoft.com/office/drawing/2014/main" id="{55C6BFC5-C5C5-45B2-B322-E97E8F77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80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What we notice expands when the noise recedes.</a:t>
            </a:r>
          </a:p>
        </p:txBody>
      </p:sp>
      <p:sp>
        <p:nvSpPr>
          <p:cNvPr id="8" name="cart-cover-accent">
            <a:extLst xmlns:a="http://schemas.openxmlformats.org/drawingml/2006/main">
              <a:ext uri="{FF2B5EF4-FFF2-40B4-BE49-F238E27FC236}">
                <a16:creationId xmlns:a16="http://schemas.microsoft.com/office/drawing/2014/main" id="{85C2849C-50CB-453F-BE8F-FAA27F4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t-cover-foot">
            <a:extLst xmlns:a="http://schemas.openxmlformats.org/drawingml/2006/main">
              <a:ext uri="{FF2B5EF4-FFF2-40B4-BE49-F238E27FC236}">
                <a16:creationId xmlns:a16="http://schemas.microsoft.com/office/drawing/2014/main" id="{8BFD8703-1254-4DFD-BCF6-0F7F0B2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FOCUS  ·  SIGNAL  ·  SPACE</a:t>
            </a:r>
          </a:p>
        </p:txBody>
      </p:sp>
    </p:spTree>
    <p:extLst>
      <p:ext uri="{BB962C8B-B14F-4D97-AF65-F5344CB8AC3E}">
        <p14:creationId xmlns:p14="http://schemas.microsoft.com/office/powerpoint/2010/main" val="1004746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label-2">
            <a:extLst xmlns:a="http://schemas.openxmlformats.org/drawingml/2006/main">
              <a:ext uri="{FF2B5EF4-FFF2-40B4-BE49-F238E27FC236}">
                <a16:creationId xmlns:a16="http://schemas.microsoft.com/office/drawing/2014/main" id="{53E90523-9B3C-4476-8C71-C94E5C06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THE PREMISE</a:t>
            </a:r>
          </a:p>
        </p:txBody>
      </p:sp>
      <p:sp>
        <p:nvSpPr>
          <p:cNvPr id="2" name="cart-page-2">
            <a:extLst xmlns:a="http://schemas.openxmlformats.org/drawingml/2006/main">
              <a:ext uri="{FF2B5EF4-FFF2-40B4-BE49-F238E27FC236}">
                <a16:creationId xmlns:a16="http://schemas.microsoft.com/office/drawing/2014/main" id="{76F89D39-8DA2-41A6-9EA1-95678CF0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02 / 08</a:t>
            </a:r>
          </a:p>
        </p:txBody>
      </p:sp>
      <p:sp>
        <p:nvSpPr>
          <p:cNvPr id="3" name="cart-top-rule-2">
            <a:extLst xmlns:a="http://schemas.openxmlformats.org/drawingml/2006/main">
              <a:ext uri="{FF2B5EF4-FFF2-40B4-BE49-F238E27FC236}">
                <a16:creationId xmlns:a16="http://schemas.microsoft.com/office/drawing/2014/main" id="{2C962B56-7695-4CD2-90DB-286B49A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foot-rule-2">
            <a:extLst xmlns:a="http://schemas.openxmlformats.org/drawingml/2006/main">
              <a:ext uri="{FF2B5EF4-FFF2-40B4-BE49-F238E27FC236}">
                <a16:creationId xmlns:a16="http://schemas.microsoft.com/office/drawing/2014/main" id="{01AE8A53-A3C7-4B0F-AC90-245E782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premise-vertical">
            <a:extLst xmlns:a="http://schemas.openxmlformats.org/drawingml/2006/main">
              <a:ext uri="{FF2B5EF4-FFF2-40B4-BE49-F238E27FC236}">
                <a16:creationId xmlns:a16="http://schemas.microsoft.com/office/drawing/2014/main" id="{F6A6FEED-49DF-4A7C-9D93-90E77F7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00150"/>
            <a:ext cx="95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t-premise-title">
            <a:extLst xmlns:a="http://schemas.openxmlformats.org/drawingml/2006/main">
              <a:ext uri="{FF2B5EF4-FFF2-40B4-BE49-F238E27FC236}">
                <a16:creationId xmlns:a16="http://schemas.microsoft.com/office/drawing/2014/main" id="{06206651-0394-4E32-B41A-67147A5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3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Focus is not force.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3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3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It is subtraction.</a:t>
            </a:r>
          </a:p>
        </p:txBody>
      </p:sp>
      <p:sp>
        <p:nvSpPr>
          <p:cNvPr id="7" name="cart-premise-body">
            <a:extLst xmlns:a="http://schemas.openxmlformats.org/drawingml/2006/main">
              <a:ext uri="{FF2B5EF4-FFF2-40B4-BE49-F238E27FC236}">
                <a16:creationId xmlns:a16="http://schemas.microsoft.com/office/drawing/2014/main" id="{1195D3EE-C8A1-49A5-87B3-9EEC5800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718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6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Clarity appears when fewer things compete for the same moment.</a:t>
            </a:r>
          </a:p>
        </p:txBody>
      </p:sp>
      <p:sp>
        <p:nvSpPr>
          <p:cNvPr id="8" name="cart-premise-ring-0">
            <a:extLst xmlns:a="http://schemas.openxmlformats.org/drawingml/2006/main">
              <a:ext uri="{FF2B5EF4-FFF2-40B4-BE49-F238E27FC236}">
                <a16:creationId xmlns:a16="http://schemas.microsoft.com/office/drawing/2014/main" id="{B1FB6258-4141-4D6B-A420-AA3F901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9" name="cart-premise-ring-text-0">
            <a:extLst xmlns:a="http://schemas.openxmlformats.org/drawingml/2006/main">
              <a:ext uri="{FF2B5EF4-FFF2-40B4-BE49-F238E27FC236}">
                <a16:creationId xmlns:a16="http://schemas.microsoft.com/office/drawing/2014/main" id="{F7D9468C-472C-4E12-A981-521D0DE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</a:t>
            </a:r>
          </a:p>
        </p:txBody>
      </p:sp>
      <p:sp>
        <p:nvSpPr>
          <p:cNvPr id="10" name="cart-premise-item-0">
            <a:extLst xmlns:a="http://schemas.openxmlformats.org/drawingml/2006/main">
              <a:ext uri="{FF2B5EF4-FFF2-40B4-BE49-F238E27FC236}">
                <a16:creationId xmlns:a16="http://schemas.microsoft.com/office/drawing/2014/main" id="{32FD0BB4-04C7-42DD-A0C0-1A411CD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rPr>
              <a:t>Clear</a:t>
            </a:r>
          </a:p>
        </p:txBody>
      </p:sp>
      <p:sp>
        <p:nvSpPr>
          <p:cNvPr id="11" name="cart-premise-ring-1">
            <a:extLst xmlns:a="http://schemas.openxmlformats.org/drawingml/2006/main">
              <a:ext uri="{FF2B5EF4-FFF2-40B4-BE49-F238E27FC236}">
                <a16:creationId xmlns:a16="http://schemas.microsoft.com/office/drawing/2014/main" id="{22BD57DA-99ED-45FC-8BA1-A7BC7C4C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cart-premise-ring-text-1">
            <a:extLst xmlns:a="http://schemas.openxmlformats.org/drawingml/2006/main">
              <a:ext uri="{FF2B5EF4-FFF2-40B4-BE49-F238E27FC236}">
                <a16:creationId xmlns:a16="http://schemas.microsoft.com/office/drawing/2014/main" id="{2C3EB11C-69FD-4A8C-8C8C-14848CF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II</a:t>
            </a:r>
          </a:p>
        </p:txBody>
      </p:sp>
      <p:sp>
        <p:nvSpPr>
          <p:cNvPr id="13" name="cart-premise-item-1">
            <a:extLst xmlns:a="http://schemas.openxmlformats.org/drawingml/2006/main">
              <a:ext uri="{FF2B5EF4-FFF2-40B4-BE49-F238E27FC236}">
                <a16:creationId xmlns:a16="http://schemas.microsoft.com/office/drawing/2014/main" id="{41FFA16E-9E5A-49B3-906B-375DD7A8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rPr>
              <a:t>Choose</a:t>
            </a:r>
          </a:p>
        </p:txBody>
      </p:sp>
      <p:sp>
        <p:nvSpPr>
          <p:cNvPr id="14" name="cart-premise-ring-2">
            <a:extLst xmlns:a="http://schemas.openxmlformats.org/drawingml/2006/main">
              <a:ext uri="{FF2B5EF4-FFF2-40B4-BE49-F238E27FC236}">
                <a16:creationId xmlns:a16="http://schemas.microsoft.com/office/drawing/2014/main" id="{1EF023FE-83E0-4D0C-84F9-970A19C9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585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5" name="cart-premise-ring-text-2">
            <a:extLst xmlns:a="http://schemas.openxmlformats.org/drawingml/2006/main">
              <a:ext uri="{FF2B5EF4-FFF2-40B4-BE49-F238E27FC236}">
                <a16:creationId xmlns:a16="http://schemas.microsoft.com/office/drawing/2014/main" id="{3EA5D21A-EE0D-480B-9ED2-F43494B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5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III</a:t>
            </a:r>
          </a:p>
        </p:txBody>
      </p:sp>
      <p:sp>
        <p:nvSpPr>
          <p:cNvPr id="16" name="cart-premise-item-2">
            <a:extLst xmlns:a="http://schemas.openxmlformats.org/drawingml/2006/main">
              <a:ext uri="{FF2B5EF4-FFF2-40B4-BE49-F238E27FC236}">
                <a16:creationId xmlns:a16="http://schemas.microsoft.com/office/drawing/2014/main" id="{BC8ED3C8-A279-4689-850D-54D680B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53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rPr>
              <a:t>Stay</a:t>
            </a:r>
          </a:p>
        </p:txBody>
      </p:sp>
      <p:sp>
        <p:nvSpPr>
          <p:cNvPr id="17" name="cart-premise-ring-3">
            <a:extLst xmlns:a="http://schemas.openxmlformats.org/drawingml/2006/main">
              <a:ext uri="{FF2B5EF4-FFF2-40B4-BE49-F238E27FC236}">
                <a16:creationId xmlns:a16="http://schemas.microsoft.com/office/drawing/2014/main" id="{CD46B321-06AB-472D-9E3D-1CFE1D10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95850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cart-premise-ring-text-3">
            <a:extLst xmlns:a="http://schemas.openxmlformats.org/drawingml/2006/main">
              <a:ext uri="{FF2B5EF4-FFF2-40B4-BE49-F238E27FC236}">
                <a16:creationId xmlns:a16="http://schemas.microsoft.com/office/drawing/2014/main" id="{9E58C505-6CCA-4EA6-A0C7-723F6A2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95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IV</a:t>
            </a:r>
          </a:p>
        </p:txBody>
      </p:sp>
      <p:sp>
        <p:nvSpPr>
          <p:cNvPr id="19" name="cart-premise-item-3">
            <a:extLst xmlns:a="http://schemas.openxmlformats.org/drawingml/2006/main">
              <a:ext uri="{FF2B5EF4-FFF2-40B4-BE49-F238E27FC236}">
                <a16:creationId xmlns:a16="http://schemas.microsoft.com/office/drawing/2014/main" id="{11AA60F1-6DA3-479B-A4DB-86A4F72B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1A1A1A"/>
                </a:solidFill>
                <a:latin typeface="Inter Cartesian"/>
                <a:ea typeface="Inter Cartesian"/>
                <a:cs typeface="Inter Cartesian"/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743013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2DBD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label-3">
            <a:extLst xmlns:a="http://schemas.openxmlformats.org/drawingml/2006/main">
              <a:ext uri="{FF2B5EF4-FFF2-40B4-BE49-F238E27FC236}">
                <a16:creationId xmlns:a16="http://schemas.microsoft.com/office/drawing/2014/main" id="{ACBD1754-72CA-4742-A532-AB0076C7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CONDITIONS</a:t>
            </a:r>
          </a:p>
        </p:txBody>
      </p:sp>
      <p:sp>
        <p:nvSpPr>
          <p:cNvPr id="2" name="cart-page-3">
            <a:extLst xmlns:a="http://schemas.openxmlformats.org/drawingml/2006/main">
              <a:ext uri="{FF2B5EF4-FFF2-40B4-BE49-F238E27FC236}">
                <a16:creationId xmlns:a16="http://schemas.microsoft.com/office/drawing/2014/main" id="{9C957037-C711-4ED4-BE09-B2D04FC5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03 / 08</a:t>
            </a:r>
          </a:p>
        </p:txBody>
      </p:sp>
      <p:sp>
        <p:nvSpPr>
          <p:cNvPr id="3" name="cart-top-rule-3">
            <a:extLst xmlns:a="http://schemas.openxmlformats.org/drawingml/2006/main">
              <a:ext uri="{FF2B5EF4-FFF2-40B4-BE49-F238E27FC236}">
                <a16:creationId xmlns:a16="http://schemas.microsoft.com/office/drawing/2014/main" id="{14ADC8E6-4962-40AE-B4E8-4EFE36A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foot-rule-3">
            <a:extLst xmlns:a="http://schemas.openxmlformats.org/drawingml/2006/main">
              <a:ext uri="{FF2B5EF4-FFF2-40B4-BE49-F238E27FC236}">
                <a16:creationId xmlns:a16="http://schemas.microsoft.com/office/drawing/2014/main" id="{DEC98073-CEF7-4B9D-BF7A-9B330C7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cap-title">
            <a:extLst xmlns:a="http://schemas.openxmlformats.org/drawingml/2006/main">
              <a:ext uri="{FF2B5EF4-FFF2-40B4-BE49-F238E27FC236}">
                <a16:creationId xmlns:a16="http://schemas.microsoft.com/office/drawing/2014/main" id="{6FC6D56E-9DDF-4FE4-8058-B80DD10C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9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Three conditions for deeper work.</a:t>
            </a:r>
          </a:p>
        </p:txBody>
      </p:sp>
      <p:sp>
        <p:nvSpPr>
          <p:cNvPr id="6" name="cart-card-0">
            <a:extLst xmlns:a="http://schemas.openxmlformats.org/drawingml/2006/main">
              <a:ext uri="{FF2B5EF4-FFF2-40B4-BE49-F238E27FC236}">
                <a16:creationId xmlns:a16="http://schemas.microsoft.com/office/drawing/2014/main" id="{2900B34E-AC8C-40DF-B0E0-858BD51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3718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D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7" name="cart-card-ring-0">
            <a:extLst xmlns:a="http://schemas.openxmlformats.org/drawingml/2006/main">
              <a:ext uri="{FF2B5EF4-FFF2-40B4-BE49-F238E27FC236}">
                <a16:creationId xmlns:a16="http://schemas.microsoft.com/office/drawing/2014/main" id="{31843EEA-5398-47E9-BAAA-22A623DD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8" name="cart-card-num-0">
            <a:extLst xmlns:a="http://schemas.openxmlformats.org/drawingml/2006/main">
              <a:ext uri="{FF2B5EF4-FFF2-40B4-BE49-F238E27FC236}">
                <a16:creationId xmlns:a16="http://schemas.microsoft.com/office/drawing/2014/main" id="{64A00B96-9D36-45F8-AC53-B678B6FA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</a:t>
            </a:r>
          </a:p>
        </p:txBody>
      </p:sp>
      <p:sp>
        <p:nvSpPr>
          <p:cNvPr id="9" name="cart-card-title-0">
            <a:extLst xmlns:a="http://schemas.openxmlformats.org/drawingml/2006/main">
              <a:ext uri="{FF2B5EF4-FFF2-40B4-BE49-F238E27FC236}">
                <a16:creationId xmlns:a16="http://schemas.microsoft.com/office/drawing/2014/main" id="{79BBAABC-F316-47E8-999F-5945B00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3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Distance</a:t>
            </a:r>
          </a:p>
        </p:txBody>
      </p:sp>
      <p:sp>
        <p:nvSpPr>
          <p:cNvPr id="10" name="cart-card-rule-0">
            <a:extLst xmlns:a="http://schemas.openxmlformats.org/drawingml/2006/main">
              <a:ext uri="{FF2B5EF4-FFF2-40B4-BE49-F238E27FC236}">
                <a16:creationId xmlns:a16="http://schemas.microsoft.com/office/drawing/2014/main" id="{2D8733A4-0FA8-4BCE-8117-935E6E5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t-card-body-0">
            <a:extLst xmlns:a="http://schemas.openxmlformats.org/drawingml/2006/main">
              <a:ext uri="{FF2B5EF4-FFF2-40B4-BE49-F238E27FC236}">
                <a16:creationId xmlns:a16="http://schemas.microsoft.com/office/drawing/2014/main" id="{1B72B0C0-885D-43D9-9629-77583AB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Put the noise somewhere you cannot reach.</a:t>
            </a:r>
          </a:p>
        </p:txBody>
      </p:sp>
      <p:sp>
        <p:nvSpPr>
          <p:cNvPr id="12" name="cart-card-1">
            <a:extLst xmlns:a="http://schemas.openxmlformats.org/drawingml/2006/main">
              <a:ext uri="{FF2B5EF4-FFF2-40B4-BE49-F238E27FC236}">
                <a16:creationId xmlns:a16="http://schemas.microsoft.com/office/drawing/2014/main" id="{93941450-F1FB-4CC0-9609-3A8A4A3A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3718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D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3" name="cart-card-ring-1">
            <a:extLst xmlns:a="http://schemas.openxmlformats.org/drawingml/2006/main">
              <a:ext uri="{FF2B5EF4-FFF2-40B4-BE49-F238E27FC236}">
                <a16:creationId xmlns:a16="http://schemas.microsoft.com/office/drawing/2014/main" id="{9BA28DFE-33A1-446D-9E50-68F7F44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4" name="cart-card-num-1">
            <a:extLst xmlns:a="http://schemas.openxmlformats.org/drawingml/2006/main">
              <a:ext uri="{FF2B5EF4-FFF2-40B4-BE49-F238E27FC236}">
                <a16:creationId xmlns:a16="http://schemas.microsoft.com/office/drawing/2014/main" id="{1AC7823A-ACA5-4EE5-A94D-CC1C84D6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II</a:t>
            </a:r>
          </a:p>
        </p:txBody>
      </p:sp>
      <p:sp>
        <p:nvSpPr>
          <p:cNvPr id="15" name="cart-card-title-1">
            <a:extLst xmlns:a="http://schemas.openxmlformats.org/drawingml/2006/main">
              <a:ext uri="{FF2B5EF4-FFF2-40B4-BE49-F238E27FC236}">
                <a16:creationId xmlns:a16="http://schemas.microsoft.com/office/drawing/2014/main" id="{7E073938-62D1-4456-BC8A-045BEE2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3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Rhythm</a:t>
            </a:r>
          </a:p>
        </p:txBody>
      </p:sp>
      <p:sp>
        <p:nvSpPr>
          <p:cNvPr id="16" name="cart-card-rule-1">
            <a:extLst xmlns:a="http://schemas.openxmlformats.org/drawingml/2006/main">
              <a:ext uri="{FF2B5EF4-FFF2-40B4-BE49-F238E27FC236}">
                <a16:creationId xmlns:a16="http://schemas.microsoft.com/office/drawing/2014/main" id="{61D9205B-DBAE-43E7-BAD3-2362DBB2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t-card-body-1">
            <a:extLst xmlns:a="http://schemas.openxmlformats.org/drawingml/2006/main">
              <a:ext uri="{FF2B5EF4-FFF2-40B4-BE49-F238E27FC236}">
                <a16:creationId xmlns:a16="http://schemas.microsoft.com/office/drawing/2014/main" id="{702BB202-3B89-4D6B-997A-B6FAEFE9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767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Work inside one calm, protected interval.</a:t>
            </a:r>
          </a:p>
        </p:txBody>
      </p:sp>
      <p:sp>
        <p:nvSpPr>
          <p:cNvPr id="18" name="cart-card-2">
            <a:extLst xmlns:a="http://schemas.openxmlformats.org/drawingml/2006/main">
              <a:ext uri="{FF2B5EF4-FFF2-40B4-BE49-F238E27FC236}">
                <a16:creationId xmlns:a16="http://schemas.microsoft.com/office/drawing/2014/main" id="{6FC7EF6F-36FC-4AE8-A3C5-2E61E1D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33718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D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9" name="cart-card-ring-2">
            <a:extLst xmlns:a="http://schemas.openxmlformats.org/drawingml/2006/main">
              <a:ext uri="{FF2B5EF4-FFF2-40B4-BE49-F238E27FC236}">
                <a16:creationId xmlns:a16="http://schemas.microsoft.com/office/drawing/2014/main" id="{56560C04-A165-47B4-8BE7-CDD825E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0" name="cart-card-num-2">
            <a:extLst xmlns:a="http://schemas.openxmlformats.org/drawingml/2006/main">
              <a:ext uri="{FF2B5EF4-FFF2-40B4-BE49-F238E27FC236}">
                <a16:creationId xmlns:a16="http://schemas.microsoft.com/office/drawing/2014/main" id="{C22950F5-A012-4155-BE55-FAD48EFF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1200" b="0" i="0">
                <a:solidFill>
                  <a:srgbClr val="8A8178"/>
                </a:solidFill>
                <a:latin typeface="Playfair Display Cartesian"/>
                <a:ea typeface="Playfair Display Cartesian"/>
                <a:cs typeface="Playfair Display Cartesian"/>
              </a:rPr>
              <a:t>III</a:t>
            </a:r>
          </a:p>
        </p:txBody>
      </p:sp>
      <p:sp>
        <p:nvSpPr>
          <p:cNvPr id="21" name="cart-card-title-2">
            <a:extLst xmlns:a="http://schemas.openxmlformats.org/drawingml/2006/main">
              <a:ext uri="{FF2B5EF4-FFF2-40B4-BE49-F238E27FC236}">
                <a16:creationId xmlns:a16="http://schemas.microsoft.com/office/drawing/2014/main" id="{D2E92749-8EE6-4C87-A5B1-A7DD461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3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Finish</a:t>
            </a:r>
          </a:p>
        </p:txBody>
      </p:sp>
      <p:sp>
        <p:nvSpPr>
          <p:cNvPr id="22" name="cart-card-rule-2">
            <a:extLst xmlns:a="http://schemas.openxmlformats.org/drawingml/2006/main">
              <a:ext uri="{FF2B5EF4-FFF2-40B4-BE49-F238E27FC236}">
                <a16:creationId xmlns:a16="http://schemas.microsoft.com/office/drawing/2014/main" id="{8EC2983D-E0D4-4D74-B662-800CCE2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rt-card-body-2">
            <a:extLst xmlns:a="http://schemas.openxmlformats.org/drawingml/2006/main">
              <a:ext uri="{FF2B5EF4-FFF2-40B4-BE49-F238E27FC236}">
                <a16:creationId xmlns:a16="http://schemas.microsoft.com/office/drawing/2014/main" id="{F998C772-487C-46D0-8FAD-3AF2F30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Stop at a deliberate edge, not exhaustion.</a:t>
            </a:r>
          </a:p>
        </p:txBody>
      </p:sp>
    </p:spTree>
    <p:extLst>
      <p:ext uri="{BB962C8B-B14F-4D97-AF65-F5344CB8AC3E}">
        <p14:creationId xmlns:p14="http://schemas.microsoft.com/office/powerpoint/2010/main" val="2014577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label-4">
            <a:extLst xmlns:a="http://schemas.openxmlformats.org/drawingml/2006/main">
              <a:ext uri="{FF2B5EF4-FFF2-40B4-BE49-F238E27FC236}">
                <a16:creationId xmlns:a16="http://schemas.microsoft.com/office/drawing/2014/main" id="{B2841623-9E4C-4CB0-8EEB-F0FA421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QUIET RITUAL</a:t>
            </a:r>
          </a:p>
        </p:txBody>
      </p:sp>
      <p:sp>
        <p:nvSpPr>
          <p:cNvPr id="2" name="cart-page-4">
            <a:extLst xmlns:a="http://schemas.openxmlformats.org/drawingml/2006/main">
              <a:ext uri="{FF2B5EF4-FFF2-40B4-BE49-F238E27FC236}">
                <a16:creationId xmlns:a16="http://schemas.microsoft.com/office/drawing/2014/main" id="{66DC0381-815E-4454-91FB-988F6E0D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04 / 08</a:t>
            </a:r>
          </a:p>
        </p:txBody>
      </p:sp>
      <p:sp>
        <p:nvSpPr>
          <p:cNvPr id="3" name="cart-top-rule-4">
            <a:extLst xmlns:a="http://schemas.openxmlformats.org/drawingml/2006/main">
              <a:ext uri="{FF2B5EF4-FFF2-40B4-BE49-F238E27FC236}">
                <a16:creationId xmlns:a16="http://schemas.microsoft.com/office/drawing/2014/main" id="{82DAD58C-ADCA-42D1-8AD3-6A04EB7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foot-rule-4">
            <a:extLst xmlns:a="http://schemas.openxmlformats.org/drawingml/2006/main">
              <a:ext uri="{FF2B5EF4-FFF2-40B4-BE49-F238E27FC236}">
                <a16:creationId xmlns:a16="http://schemas.microsoft.com/office/drawing/2014/main" id="{30B8D3AC-2B46-4491-9919-8036745D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flow-title">
            <a:extLst xmlns:a="http://schemas.openxmlformats.org/drawingml/2006/main">
              <a:ext uri="{FF2B5EF4-FFF2-40B4-BE49-F238E27FC236}">
                <a16:creationId xmlns:a16="http://schemas.microsoft.com/office/drawing/2014/main" id="{F7774F39-E456-48AF-89A2-B5FA2493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6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 ritual simple enough to repeat.</a:t>
            </a:r>
          </a:p>
        </p:txBody>
      </p:sp>
      <p:sp>
        <p:nvSpPr>
          <p:cNvPr id="6" name="cart-flow-line">
            <a:extLst xmlns:a="http://schemas.openxmlformats.org/drawingml/2006/main">
              <a:ext uri="{FF2B5EF4-FFF2-40B4-BE49-F238E27FC236}">
                <a16:creationId xmlns:a16="http://schemas.microsoft.com/office/drawing/2014/main" id="{A8E72CBD-0092-4BA3-8C8B-B969597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t-flow-node-0">
            <a:extLst xmlns:a="http://schemas.openxmlformats.org/drawingml/2006/main">
              <a:ext uri="{FF2B5EF4-FFF2-40B4-BE49-F238E27FC236}">
                <a16:creationId xmlns:a16="http://schemas.microsoft.com/office/drawing/2014/main" id="{8AFDC53A-4B4F-4DC6-B2BC-FB58F0A1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E0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8" name="cart-flow-node-text-0">
            <a:extLst xmlns:a="http://schemas.openxmlformats.org/drawingml/2006/main">
              <a:ext uri="{FF2B5EF4-FFF2-40B4-BE49-F238E27FC236}">
                <a16:creationId xmlns:a16="http://schemas.microsoft.com/office/drawing/2014/main" id="{A35FEA29-096A-4642-8346-28FE789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01</a:t>
            </a:r>
          </a:p>
        </p:txBody>
      </p:sp>
      <p:sp>
        <p:nvSpPr>
          <p:cNvPr id="9" name="cart-flow-head-0">
            <a:extLst xmlns:a="http://schemas.openxmlformats.org/drawingml/2006/main">
              <a:ext uri="{FF2B5EF4-FFF2-40B4-BE49-F238E27FC236}">
                <a16:creationId xmlns:a16="http://schemas.microsoft.com/office/drawing/2014/main" id="{0BBEFC27-F439-4181-AF8D-B51FCB54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Clear</a:t>
            </a:r>
          </a:p>
        </p:txBody>
      </p:sp>
      <p:sp>
        <p:nvSpPr>
          <p:cNvPr id="10" name="cart-flow-body-0">
            <a:extLst xmlns:a="http://schemas.openxmlformats.org/drawingml/2006/main">
              <a:ext uri="{FF2B5EF4-FFF2-40B4-BE49-F238E27FC236}">
                <a16:creationId xmlns:a16="http://schemas.microsoft.com/office/drawing/2014/main" id="{2658A744-A026-4068-82C2-C8FA8CD3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Remove loose inputs</a:t>
            </a:r>
          </a:p>
        </p:txBody>
      </p:sp>
      <p:sp>
        <p:nvSpPr>
          <p:cNvPr id="11" name="cart-flow-node-1">
            <a:extLst xmlns:a="http://schemas.openxmlformats.org/drawingml/2006/main">
              <a:ext uri="{FF2B5EF4-FFF2-40B4-BE49-F238E27FC236}">
                <a16:creationId xmlns:a16="http://schemas.microsoft.com/office/drawing/2014/main" id="{CF59F927-E585-4AD7-AB1D-6F766253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90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E0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cart-flow-node-text-1">
            <a:extLst xmlns:a="http://schemas.openxmlformats.org/drawingml/2006/main">
              <a:ext uri="{FF2B5EF4-FFF2-40B4-BE49-F238E27FC236}">
                <a16:creationId xmlns:a16="http://schemas.microsoft.com/office/drawing/2014/main" id="{299AEFFE-719B-473A-9659-066D20F5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90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02</a:t>
            </a:r>
          </a:p>
        </p:txBody>
      </p:sp>
      <p:sp>
        <p:nvSpPr>
          <p:cNvPr id="13" name="cart-flow-head-1">
            <a:extLst xmlns:a="http://schemas.openxmlformats.org/drawingml/2006/main">
              <a:ext uri="{FF2B5EF4-FFF2-40B4-BE49-F238E27FC236}">
                <a16:creationId xmlns:a16="http://schemas.microsoft.com/office/drawing/2014/main" id="{89780D38-295A-42A7-B42A-A8597919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005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Choose</a:t>
            </a:r>
          </a:p>
        </p:txBody>
      </p:sp>
      <p:sp>
        <p:nvSpPr>
          <p:cNvPr id="14" name="cart-flow-body-1">
            <a:extLst xmlns:a="http://schemas.openxmlformats.org/drawingml/2006/main">
              <a:ext uri="{FF2B5EF4-FFF2-40B4-BE49-F238E27FC236}">
                <a16:creationId xmlns:a16="http://schemas.microsoft.com/office/drawing/2014/main" id="{A9E49183-FC36-4D10-A945-8010C048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52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Name one outcome</a:t>
            </a:r>
          </a:p>
        </p:txBody>
      </p:sp>
      <p:sp>
        <p:nvSpPr>
          <p:cNvPr id="15" name="cart-flow-node-2">
            <a:extLst xmlns:a="http://schemas.openxmlformats.org/drawingml/2006/main">
              <a:ext uri="{FF2B5EF4-FFF2-40B4-BE49-F238E27FC236}">
                <a16:creationId xmlns:a16="http://schemas.microsoft.com/office/drawing/2014/main" id="{139E7DE7-65F7-44BC-85B8-862C4911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E0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6" name="cart-flow-node-text-2">
            <a:extLst xmlns:a="http://schemas.openxmlformats.org/drawingml/2006/main">
              <a:ext uri="{FF2B5EF4-FFF2-40B4-BE49-F238E27FC236}">
                <a16:creationId xmlns:a16="http://schemas.microsoft.com/office/drawing/2014/main" id="{3FC60DCE-9D25-4543-AFA1-20479D7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03</a:t>
            </a:r>
          </a:p>
        </p:txBody>
      </p:sp>
      <p:sp>
        <p:nvSpPr>
          <p:cNvPr id="17" name="cart-flow-head-2">
            <a:extLst xmlns:a="http://schemas.openxmlformats.org/drawingml/2006/main">
              <a:ext uri="{FF2B5EF4-FFF2-40B4-BE49-F238E27FC236}">
                <a16:creationId xmlns:a16="http://schemas.microsoft.com/office/drawing/2014/main" id="{F93D3230-7FAD-403A-ADFD-B4A03ED7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Stay</a:t>
            </a:r>
          </a:p>
        </p:txBody>
      </p:sp>
      <p:sp>
        <p:nvSpPr>
          <p:cNvPr id="18" name="cart-flow-body-2">
            <a:extLst xmlns:a="http://schemas.openxmlformats.org/drawingml/2006/main">
              <a:ext uri="{FF2B5EF4-FFF2-40B4-BE49-F238E27FC236}">
                <a16:creationId xmlns:a16="http://schemas.microsoft.com/office/drawing/2014/main" id="{9146F606-1008-48D0-AC6C-F24123E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Work until the bell</a:t>
            </a:r>
          </a:p>
        </p:txBody>
      </p:sp>
      <p:sp>
        <p:nvSpPr>
          <p:cNvPr id="19" name="cart-flow-node-3">
            <a:extLst xmlns:a="http://schemas.openxmlformats.org/drawingml/2006/main">
              <a:ext uri="{FF2B5EF4-FFF2-40B4-BE49-F238E27FC236}">
                <a16:creationId xmlns:a16="http://schemas.microsoft.com/office/drawing/2014/main" id="{A3A8B7AC-0752-4FC0-A357-A040923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E0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0" name="cart-flow-node-text-3">
            <a:extLst xmlns:a="http://schemas.openxmlformats.org/drawingml/2006/main">
              <a:ext uri="{FF2B5EF4-FFF2-40B4-BE49-F238E27FC236}">
                <a16:creationId xmlns:a16="http://schemas.microsoft.com/office/drawing/2014/main" id="{BD242F19-8B33-4273-A382-3B77D872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04</a:t>
            </a:r>
          </a:p>
        </p:txBody>
      </p:sp>
      <p:sp>
        <p:nvSpPr>
          <p:cNvPr id="21" name="cart-flow-head-3">
            <a:extLst xmlns:a="http://schemas.openxmlformats.org/drawingml/2006/main">
              <a:ext uri="{FF2B5EF4-FFF2-40B4-BE49-F238E27FC236}">
                <a16:creationId xmlns:a16="http://schemas.microsoft.com/office/drawing/2014/main" id="{73045AB5-BBEB-4004-8A47-E276DC6E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005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21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Close</a:t>
            </a:r>
          </a:p>
        </p:txBody>
      </p:sp>
      <p:sp>
        <p:nvSpPr>
          <p:cNvPr id="22" name="cart-flow-body-3">
            <a:extLst xmlns:a="http://schemas.openxmlformats.org/drawingml/2006/main">
              <a:ext uri="{FF2B5EF4-FFF2-40B4-BE49-F238E27FC236}">
                <a16:creationId xmlns:a16="http://schemas.microsoft.com/office/drawing/2014/main" id="{42D81262-9C70-45FA-B806-B0412100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529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275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Leave a next step</a:t>
            </a:r>
          </a:p>
        </p:txBody>
      </p:sp>
    </p:spTree>
    <p:extLst>
      <p:ext uri="{BB962C8B-B14F-4D97-AF65-F5344CB8AC3E}">
        <p14:creationId xmlns:p14="http://schemas.microsoft.com/office/powerpoint/2010/main" val="869224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DBD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label-5">
            <a:extLst xmlns:a="http://schemas.openxmlformats.org/drawingml/2006/main">
              <a:ext uri="{FF2B5EF4-FFF2-40B4-BE49-F238E27FC236}">
                <a16:creationId xmlns:a16="http://schemas.microsoft.com/office/drawing/2014/main" id="{47A2EDF2-F0E9-4BE6-8E06-68C1970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ATTENTION CURVE</a:t>
            </a:r>
          </a:p>
        </p:txBody>
      </p:sp>
      <p:sp>
        <p:nvSpPr>
          <p:cNvPr id="2" name="cart-page-5">
            <a:extLst xmlns:a="http://schemas.openxmlformats.org/drawingml/2006/main">
              <a:ext uri="{FF2B5EF4-FFF2-40B4-BE49-F238E27FC236}">
                <a16:creationId xmlns:a16="http://schemas.microsoft.com/office/drawing/2014/main" id="{81081847-F705-4AC9-86FA-4DC8FB4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05 / 08</a:t>
            </a:r>
          </a:p>
        </p:txBody>
      </p:sp>
      <p:sp>
        <p:nvSpPr>
          <p:cNvPr id="3" name="cart-top-rule-5">
            <a:extLst xmlns:a="http://schemas.openxmlformats.org/drawingml/2006/main">
              <a:ext uri="{FF2B5EF4-FFF2-40B4-BE49-F238E27FC236}">
                <a16:creationId xmlns:a16="http://schemas.microsoft.com/office/drawing/2014/main" id="{3C834F01-C965-4DF4-85F8-70179789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foot-rule-5">
            <a:extLst xmlns:a="http://schemas.openxmlformats.org/drawingml/2006/main">
              <a:ext uri="{FF2B5EF4-FFF2-40B4-BE49-F238E27FC236}">
                <a16:creationId xmlns:a16="http://schemas.microsoft.com/office/drawing/2014/main" id="{C0EE6E56-A945-496F-BA45-C4AA5346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chart-title">
            <a:extLst xmlns:a="http://schemas.openxmlformats.org/drawingml/2006/main">
              <a:ext uri="{FF2B5EF4-FFF2-40B4-BE49-F238E27FC236}">
                <a16:creationId xmlns:a16="http://schemas.microsoft.com/office/drawing/2014/main" id="{3E053015-9D39-45A8-8FD4-1736DAE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2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Attention changes shape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225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across a quiet hour.</a:t>
            </a:r>
          </a:p>
        </p:txBody>
      </p:sp>
      <p:graphicFrame>
        <p:nvGraphicFramePr>
          <p:cNvPr id="17" name="cart-native-capability-chart"/>
          <p:cNvGraphicFramePr/>
          <p:nvPr/>
        </p:nvGraphicFramePr>
        <p:xfrm>
          <a:off xmlns:a="http://schemas.openxmlformats.org/drawingml/2006/main" x="590550" y="2514600"/>
          <a:ext xmlns:a="http://schemas.openxmlformats.org/drawingml/2006/main" cx="752475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7534e530f94111"/>
          </a:graphicData>
        </a:graphic>
      </p:graphicFrame>
      <p:sp>
        <p:nvSpPr>
          <p:cNvPr id="7" name="cart-chart-geo-circle">
            <a:extLst xmlns:a="http://schemas.openxmlformats.org/drawingml/2006/main">
              <a:ext uri="{FF2B5EF4-FFF2-40B4-BE49-F238E27FC236}">
                <a16:creationId xmlns:a16="http://schemas.microsoft.com/office/drawing/2014/main" id="{20624AD0-A44F-474B-B3B3-C576BCC3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1790700" cy="1790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8" name="cart-chart-geo-circle-inner">
            <a:extLst xmlns:a="http://schemas.openxmlformats.org/drawingml/2006/main">
              <a:ext uri="{FF2B5EF4-FFF2-40B4-BE49-F238E27FC236}">
                <a16:creationId xmlns:a16="http://schemas.microsoft.com/office/drawing/2014/main" id="{64AD6CF2-3142-4C70-BAD4-8A240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118" y="3115818"/>
            <a:ext cx="931164" cy="9311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9" name="cart-chart-geo-axis-h">
            <a:extLst xmlns:a="http://schemas.openxmlformats.org/drawingml/2006/main">
              <a:ext uri="{FF2B5EF4-FFF2-40B4-BE49-F238E27FC236}">
                <a16:creationId xmlns:a16="http://schemas.microsoft.com/office/drawing/2014/main" id="{6C68B6C0-BA45-4F24-BE6E-FF706FE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t-chart-geo-axis-v">
            <a:extLst xmlns:a="http://schemas.openxmlformats.org/drawingml/2006/main">
              <a:ext uri="{FF2B5EF4-FFF2-40B4-BE49-F238E27FC236}">
                <a16:creationId xmlns:a16="http://schemas.microsoft.com/office/drawing/2014/main" id="{D3D8543F-99A2-4420-A456-A0C3FCE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71700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t-chart-note">
            <a:extLst xmlns:a="http://schemas.openxmlformats.org/drawingml/2006/main">
              <a:ext uri="{FF2B5EF4-FFF2-40B4-BE49-F238E27FC236}">
                <a16:creationId xmlns:a16="http://schemas.microsoft.com/office/drawing/2014/main" id="{23C8F26E-0763-4C3B-B348-B88949F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The crossover matters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35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more than the peak.</a:t>
            </a:r>
          </a:p>
        </p:txBody>
      </p:sp>
    </p:spTree>
    <p:extLst>
      <p:ext uri="{BB962C8B-B14F-4D97-AF65-F5344CB8AC3E}">
        <p14:creationId xmlns:p14="http://schemas.microsoft.com/office/powerpoint/2010/main" val="1047701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label-6">
            <a:extLst xmlns:a="http://schemas.openxmlformats.org/drawingml/2006/main">
              <a:ext uri="{FF2B5EF4-FFF2-40B4-BE49-F238E27FC236}">
                <a16:creationId xmlns:a16="http://schemas.microsoft.com/office/drawing/2014/main" id="{0835C5F8-942E-4054-B471-B5153E2A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FOUR-BLOCK STUDY</a:t>
            </a:r>
          </a:p>
        </p:txBody>
      </p:sp>
      <p:sp>
        <p:nvSpPr>
          <p:cNvPr id="2" name="cart-page-6">
            <a:extLst xmlns:a="http://schemas.openxmlformats.org/drawingml/2006/main">
              <a:ext uri="{FF2B5EF4-FFF2-40B4-BE49-F238E27FC236}">
                <a16:creationId xmlns:a16="http://schemas.microsoft.com/office/drawing/2014/main" id="{458DABE2-E6AF-44F0-8D3D-0EF4D8A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06 / 08</a:t>
            </a:r>
          </a:p>
        </p:txBody>
      </p:sp>
      <p:sp>
        <p:nvSpPr>
          <p:cNvPr id="3" name="cart-top-rule-6">
            <a:extLst xmlns:a="http://schemas.openxmlformats.org/drawingml/2006/main">
              <a:ext uri="{FF2B5EF4-FFF2-40B4-BE49-F238E27FC236}">
                <a16:creationId xmlns:a16="http://schemas.microsoft.com/office/drawing/2014/main" id="{C0766AEC-C13A-4348-8980-2239A8A6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foot-rule-6">
            <a:extLst xmlns:a="http://schemas.openxmlformats.org/drawingml/2006/main">
              <a:ext uri="{FF2B5EF4-FFF2-40B4-BE49-F238E27FC236}">
                <a16:creationId xmlns:a16="http://schemas.microsoft.com/office/drawing/2014/main" id="{A6156564-CAFD-40D3-99F4-DA0C97E9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block-title">
            <a:extLst xmlns:a="http://schemas.openxmlformats.org/drawingml/2006/main">
              <a:ext uri="{FF2B5EF4-FFF2-40B4-BE49-F238E27FC236}">
                <a16:creationId xmlns:a16="http://schemas.microsoft.com/office/drawing/2014/main" id="{E5173175-BA68-4B95-BA85-C0EAF003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3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 quiet ritual compounds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3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across four work blocks.</a:t>
            </a:r>
          </a:p>
        </p:txBody>
      </p:sp>
      <p:graphicFrame>
        <p:nvGraphicFramePr>
          <p:cNvPr id="16" name="cart-four-block-chart"/>
          <p:cNvGraphicFramePr/>
          <p:nvPr/>
        </p:nvGraphicFramePr>
        <p:xfrm>
          <a:off xmlns:a="http://schemas.openxmlformats.org/drawingml/2006/main" x="590550" y="2514600"/>
          <a:ext xmlns:a="http://schemas.openxmlformats.org/drawingml/2006/main" cx="752475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833bc595584adb"/>
          </a:graphicData>
        </a:graphic>
      </p:graphicFrame>
      <p:sp>
        <p:nvSpPr>
          <p:cNvPr id="7" name="cart-block-callout-line">
            <a:extLst xmlns:a="http://schemas.openxmlformats.org/drawingml/2006/main">
              <a:ext uri="{FF2B5EF4-FFF2-40B4-BE49-F238E27FC236}">
                <a16:creationId xmlns:a16="http://schemas.microsoft.com/office/drawing/2014/main" id="{D922723C-F1C9-455B-8509-2A902392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-block-callout-value">
            <a:extLst xmlns:a="http://schemas.openxmlformats.org/drawingml/2006/main">
              <a:ext uri="{FF2B5EF4-FFF2-40B4-BE49-F238E27FC236}">
                <a16:creationId xmlns:a16="http://schemas.microsoft.com/office/drawing/2014/main" id="{97305798-812D-498C-8564-1E3F3B1A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35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+21</a:t>
            </a:r>
          </a:p>
        </p:txBody>
      </p:sp>
      <p:sp>
        <p:nvSpPr>
          <p:cNvPr id="9" name="cart-block-callout-label">
            <a:extLst xmlns:a="http://schemas.openxmlformats.org/drawingml/2006/main">
              <a:ext uri="{FF2B5EF4-FFF2-40B4-BE49-F238E27FC236}">
                <a16:creationId xmlns:a16="http://schemas.microsoft.com/office/drawing/2014/main" id="{02B98B1D-9035-4109-BA2E-B0F1CF6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50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focus points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500" b="0" i="0">
                <a:solidFill>
                  <a:srgbClr val="5A5A5A"/>
                </a:solidFill>
                <a:latin typeface="Inter Cartesian"/>
                <a:ea typeface="Inter Cartesian"/>
                <a:cs typeface="Inter Cartesian"/>
              </a:rPr>
              <a:t>by block four</a:t>
            </a:r>
          </a:p>
        </p:txBody>
      </p:sp>
      <p:sp>
        <p:nvSpPr>
          <p:cNvPr id="10" name="cart-block-footnote">
            <a:extLst xmlns:a="http://schemas.openxmlformats.org/drawingml/2006/main">
              <a:ext uri="{FF2B5EF4-FFF2-40B4-BE49-F238E27FC236}">
                <a16:creationId xmlns:a16="http://schemas.microsoft.com/office/drawing/2014/main" id="{5F348431-A30C-4F78-BC1B-51778EA6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10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Illustrative observation · 12 repeated sessions</a:t>
            </a:r>
          </a:p>
        </p:txBody>
      </p:sp>
    </p:spTree>
    <p:extLst>
      <p:ext uri="{BB962C8B-B14F-4D97-AF65-F5344CB8AC3E}">
        <p14:creationId xmlns:p14="http://schemas.microsoft.com/office/powerpoint/2010/main" val="1377397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2DBD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label-7">
            <a:extLst xmlns:a="http://schemas.openxmlformats.org/drawingml/2006/main">
              <a:ext uri="{FF2B5EF4-FFF2-40B4-BE49-F238E27FC236}">
                <a16:creationId xmlns:a16="http://schemas.microsoft.com/office/drawing/2014/main" id="{093C9D72-A5E5-462F-80C1-4616DC1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SESSION LOG</a:t>
            </a:r>
          </a:p>
        </p:txBody>
      </p:sp>
      <p:sp>
        <p:nvSpPr>
          <p:cNvPr id="2" name="cart-page-7">
            <a:extLst xmlns:a="http://schemas.openxmlformats.org/drawingml/2006/main">
              <a:ext uri="{FF2B5EF4-FFF2-40B4-BE49-F238E27FC236}">
                <a16:creationId xmlns:a16="http://schemas.microsoft.com/office/drawing/2014/main" id="{547053C6-CC58-4F33-9FD3-582980FD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07 / 08</a:t>
            </a:r>
          </a:p>
        </p:txBody>
      </p:sp>
      <p:sp>
        <p:nvSpPr>
          <p:cNvPr id="3" name="cart-top-rule-7">
            <a:extLst xmlns:a="http://schemas.openxmlformats.org/drawingml/2006/main">
              <a:ext uri="{FF2B5EF4-FFF2-40B4-BE49-F238E27FC236}">
                <a16:creationId xmlns:a16="http://schemas.microsoft.com/office/drawing/2014/main" id="{ABFFC8D8-C93B-4B39-BB57-7F23310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t-foot-rule-7">
            <a:extLst xmlns:a="http://schemas.openxmlformats.org/drawingml/2006/main">
              <a:ext uri="{FF2B5EF4-FFF2-40B4-BE49-F238E27FC236}">
                <a16:creationId xmlns:a16="http://schemas.microsoft.com/office/drawing/2014/main" id="{F9312D2D-3F17-4F48-9462-4455031F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t-log-title">
            <a:extLst xmlns:a="http://schemas.openxmlformats.org/drawingml/2006/main">
              <a:ext uri="{FF2B5EF4-FFF2-40B4-BE49-F238E27FC236}">
                <a16:creationId xmlns:a16="http://schemas.microsoft.com/office/drawing/2014/main" id="{695DF73F-2054-44AA-8F79-6D088009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790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3900" b="0" i="0">
                <a:solidFill>
                  <a:srgbClr val="1A1A1A"/>
                </a:solidFill>
                <a:latin typeface="Playfair Display Cartesian"/>
                <a:ea typeface="Playfair Display Cartesian"/>
                <a:cs typeface="Playfair Display Cartesian"/>
              </a:rPr>
              <a:t>A quiet hour, recorded.</a:t>
            </a:r>
          </a:p>
        </p:txBody>
      </p:sp>
      <p:graphicFrame>
        <p:nvGraphicFramePr>
          <p:cNvPr id="13" name="cart-session-log-table"/>
          <p:cNvGraphicFramePr/>
          <p:nvPr/>
        </p:nvGraphicFramePr>
        <p:xfrm>
          <a:off xmlns:a="http://schemas.openxmlformats.org/drawingml/2006/main" x="590550" y="2247900"/>
          <a:ext xmlns:a="http://schemas.openxmlformats.org/drawingml/2006/main" cx="110299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62245"/>
                <a:gridCol w="2289235"/>
                <a:gridCol w="2289235"/>
                <a:gridCol w="2289235"/>
              </a:tblGrid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EDE8E0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Block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DE8E0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Length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DE8E0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Distractions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DE8E0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Playfair Display Cartesian"/>
                          <a:ea typeface="Playfair Display Cartesian"/>
                          <a:cs typeface="Playfair Display Cartesian"/>
                        </a:rPr>
                        <a:t>Arrive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52 / 100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Playfair Display Cartesian"/>
                          <a:ea typeface="Playfair Display Cartesian"/>
                          <a:cs typeface="Playfair Display Cartesian"/>
                        </a:rPr>
                        <a:t>Settle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15 min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68 / 100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Playfair Display Cartesian"/>
                          <a:ea typeface="Playfair Display Cartesian"/>
                          <a:cs typeface="Playfair Display Cartesian"/>
                        </a:rPr>
                        <a:t>Deepen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25 min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84 / 100</a:t>
                      </a:r>
                    </a:p>
                  </a:txBody>
                  <a:tcPr marL="91440" marR="91440" marT="45720" marB="45720">
                    <a:solidFill>
                      <a:srgbClr val="F7F3ED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Playfair Display Cartesian"/>
                          <a:ea typeface="Playfair Display Cartesian"/>
                          <a:cs typeface="Playfair Display Cartesian"/>
                        </a:rPr>
                        <a:t>Close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A1A1A"/>
                          </a:solidFill>
                          <a:latin typeface="Inter Cartesian"/>
                          <a:ea typeface="Inter Cartesian"/>
                          <a:cs typeface="Inter Cartesian"/>
                        </a:rPr>
                        <a:t>72 / 100</a:t>
                      </a:r>
                    </a:p>
                  </a:txBody>
                  <a:tcPr marL="91440" marR="91440" marT="45720" marB="45720"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  <p:sp>
        <p:nvSpPr>
          <p:cNvPr id="7" name="cart-log-footnote">
            <a:extLst xmlns:a="http://schemas.openxmlformats.org/drawingml/2006/main">
              <a:ext uri="{FF2B5EF4-FFF2-40B4-BE49-F238E27FC236}">
                <a16:creationId xmlns:a16="http://schemas.microsoft.com/office/drawing/2014/main" id="{54CCB90A-75D0-4607-946B-BE6199D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7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One representative session · focus recorded immediately after each block</a:t>
            </a:r>
          </a:p>
        </p:txBody>
      </p:sp>
    </p:spTree>
    <p:extLst>
      <p:ext uri="{BB962C8B-B14F-4D97-AF65-F5344CB8AC3E}">
        <p14:creationId xmlns:p14="http://schemas.microsoft.com/office/powerpoint/2010/main" val="426623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A1A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rt-close-ring">
            <a:extLst xmlns:a="http://schemas.openxmlformats.org/drawingml/2006/main">
              <a:ext uri="{FF2B5EF4-FFF2-40B4-BE49-F238E27FC236}">
                <a16:creationId xmlns:a16="http://schemas.microsoft.com/office/drawing/2014/main" id="{A8F41690-5658-4F8D-B3FB-24737700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178"/>
            </a:solidFill>
            <a:prstDash val="solid"/>
          </a:ln>
        </p:spPr>
      </p:sp>
      <p:sp>
        <p:nvSpPr>
          <p:cNvPr id="2" name="cart-close-ring-2">
            <a:extLst xmlns:a="http://schemas.openxmlformats.org/drawingml/2006/main">
              <a:ext uri="{FF2B5EF4-FFF2-40B4-BE49-F238E27FC236}">
                <a16:creationId xmlns:a16="http://schemas.microsoft.com/office/drawing/2014/main" id="{A120FEB0-1F0C-49F6-9ADB-05AF294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1047750" cy="1047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178"/>
            </a:solidFill>
            <a:prstDash val="solid"/>
          </a:ln>
        </p:spPr>
      </p:sp>
      <p:sp>
        <p:nvSpPr>
          <p:cNvPr id="3" name="cart-close-label">
            <a:extLst xmlns:a="http://schemas.openxmlformats.org/drawingml/2006/main">
              <a:ext uri="{FF2B5EF4-FFF2-40B4-BE49-F238E27FC236}">
                <a16:creationId xmlns:a16="http://schemas.microsoft.com/office/drawing/2014/main" id="{9E4CAFF8-CA10-4BAA-B48B-13E0AFE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900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THE EIGHTH FRAME</a:t>
            </a:r>
          </a:p>
        </p:txBody>
      </p:sp>
      <p:sp>
        <p:nvSpPr>
          <p:cNvPr id="4" name="cart-close-title">
            <a:extLst xmlns:a="http://schemas.openxmlformats.org/drawingml/2006/main">
              <a:ext uri="{FF2B5EF4-FFF2-40B4-BE49-F238E27FC236}">
                <a16:creationId xmlns:a16="http://schemas.microsoft.com/office/drawing/2014/main" id="{488C6A5F-F561-4D75-8B37-D8706C59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191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0" i="0">
                <a:solidFill>
                  <a:srgbClr val="EDE8E0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650" b="0" i="0">
                <a:solidFill>
                  <a:srgbClr val="EDE8E0"/>
                </a:solidFill>
                <a:latin typeface="Playfair Display Cartesian"/>
                <a:ea typeface="Playfair Display Cartesian"/>
                <a:cs typeface="Playfair Display Cartesian"/>
              </a:rPr>
              <a:t>Make room.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650" b="0" i="0">
                <a:solidFill>
                  <a:srgbClr val="EDE8E0"/>
                </a:solidFill>
                <a:latin typeface="Playfair Display Cartesian"/>
                <a:ea typeface="Playfair Display Cartesian"/>
                <a:cs typeface="Playfair Display Cartesian"/>
              </a:defRPr>
            </a:pPr>
            <a:r>
              <a:rPr sz="4650" b="0" i="0">
                <a:solidFill>
                  <a:srgbClr val="EDE8E0"/>
                </a:solidFill>
                <a:latin typeface="Playfair Display Cartesian"/>
                <a:ea typeface="Playfair Display Cartesian"/>
                <a:cs typeface="Playfair Display Cartesian"/>
              </a:rPr>
              <a:t>Then notice more.</a:t>
            </a:r>
          </a:p>
        </p:txBody>
      </p:sp>
      <p:sp>
        <p:nvSpPr>
          <p:cNvPr id="5" name="cart-close-body">
            <a:extLst xmlns:a="http://schemas.openxmlformats.org/drawingml/2006/main">
              <a:ext uri="{FF2B5EF4-FFF2-40B4-BE49-F238E27FC236}">
                <a16:creationId xmlns:a16="http://schemas.microsoft.com/office/drawing/2014/main" id="{C063792E-0105-4C2C-8B60-63621877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8B0A4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1800" b="0" i="0">
                <a:solidFill>
                  <a:srgbClr val="B8B0A4"/>
                </a:solidFill>
                <a:latin typeface="Inter Cartesian"/>
                <a:ea typeface="Inter Cartesian"/>
                <a:cs typeface="Inter Cartesian"/>
              </a:rPr>
              <a:t>The quieter system often does the better thinking.</a:t>
            </a:r>
          </a:p>
        </p:txBody>
      </p:sp>
      <p:sp>
        <p:nvSpPr>
          <p:cNvPr id="6" name="cart-close-rule">
            <a:extLst xmlns:a="http://schemas.openxmlformats.org/drawingml/2006/main">
              <a:ext uri="{FF2B5EF4-FFF2-40B4-BE49-F238E27FC236}">
                <a16:creationId xmlns:a16="http://schemas.microsoft.com/office/drawing/2014/main" id="{2F6C5777-5F5E-4474-9AFC-8A3E5E53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1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t-close-attribution">
            <a:extLst xmlns:a="http://schemas.openxmlformats.org/drawingml/2006/main">
              <a:ext uri="{FF2B5EF4-FFF2-40B4-BE49-F238E27FC236}">
                <a16:creationId xmlns:a16="http://schemas.microsoft.com/office/drawing/2014/main" id="{F4592000-13C7-419A-BFC6-0C6673F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defRPr>
            </a:pPr>
            <a:r>
              <a:rPr sz="825" b="0" i="0">
                <a:solidFill>
                  <a:srgbClr val="8A8178"/>
                </a:solidFill>
                <a:latin typeface="Inter Cartesian"/>
                <a:ea typeface="Inter Cartesian"/>
                <a:cs typeface="Inter Cartesian"/>
              </a:rPr>
              <a:t>CARTESIAN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527506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2026-07-25T15:50:45.1360000Z</dcterms:created>
  <dcterms:modified xsi:type="dcterms:W3CDTF">2026-07-25T15:50:45.1360000Z</dcterms:modified>
</coreProperties>
</file>