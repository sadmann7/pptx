
<file path=[Content_Types].xml><?xml version="1.0" encoding="utf-8"?>
<Types xmlns="http://schemas.openxmlformats.org/package/2006/content-types">
  <Default Extension="fntdata" ContentType="application/x-fontdata"/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6db7aeb0054a4787" /><Relationship Type="http://schemas.openxmlformats.org/officeDocument/2006/relationships/extended-properties" Target="/docProps/app.xml" Id="R4a246d021b1545fb" /><Relationship Type="http://schemas.openxmlformats.org/officeDocument/2006/relationships/officeDocument" Target="/ppt/presentation.xml" Id="R68e7c6ab100c4daa" /></Relationships>
</file>

<file path=ppt/presentation.xml><?xml version="1.0" encoding="utf-8"?>
<p:presentation xmlns:r="http://schemas.openxmlformats.org/officeDocument/2006/relationships" xmlns:p="http://schemas.openxmlformats.org/presentationml/2006/main" saveSubsetFonts="false" embedTrueTypeFonts="true">
  <p:sldMasterIdLst>
    <p:sldMasterId xmlns:r="http://schemas.openxmlformats.org/officeDocument/2006/relationships" id="2147483648" r:id="R7295d93909db48f0"/>
  </p:sldMasterIdLst>
  <p:notesMasterIdLst>
    <p:notesMasterId xmlns:r="http://schemas.openxmlformats.org/officeDocument/2006/relationships" r:id="Rf5435600f4a847cf"/>
  </p:notesMasterIdLst>
  <p:sldIdLst>
    <p:sldId xmlns:r="http://schemas.openxmlformats.org/officeDocument/2006/relationships" id="256" r:id="R34d73b72a14e42e3"/>
    <p:sldId xmlns:r="http://schemas.openxmlformats.org/officeDocument/2006/relationships" id="257" r:id="R606af371282246a1"/>
    <p:sldId xmlns:r="http://schemas.openxmlformats.org/officeDocument/2006/relationships" id="258" r:id="Rd3fd3a89bd414881"/>
    <p:sldId xmlns:r="http://schemas.openxmlformats.org/officeDocument/2006/relationships" id="259" r:id="Re98529b7fee14d59"/>
    <p:sldId xmlns:r="http://schemas.openxmlformats.org/officeDocument/2006/relationships" id="260" r:id="Rd70cad6ed2454ff9"/>
    <p:sldId xmlns:r="http://schemas.openxmlformats.org/officeDocument/2006/relationships" id="261" r:id="R7de8a56af9a54b91"/>
    <p:sldId xmlns:r="http://schemas.openxmlformats.org/officeDocument/2006/relationships" id="262" r:id="Rb7c82f7136c2496a"/>
    <p:sldId xmlns:r="http://schemas.openxmlformats.org/officeDocument/2006/relationships" id="263" r:id="Rea8a52a48bf1479a"/>
  </p:sldIdLst>
  <p:sldSz cx="12192000" cy="6858000"/>
  <p:notesSz cx="6858000" cy="9144000"/>
  <p:embeddedFontLst>
    <p:embeddedFont>
      <p:font typeface="Archivo Black Display"/>
      <p:regular r:id="rId201314"/>
    </p:embeddedFont>
    <p:embeddedFont>
      <p:font typeface="Space Grotesk Text"/>
      <p:regular r:id="rId201315"/>
    </p:embeddedFont>
    <p:embeddedFont>
      <p:font typeface="JetBrains Mono"/>
      <p:regular r:id="rId201316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9a95f36abd224878"/><Relationship Type="http://schemas.openxmlformats.org/officeDocument/2006/relationships/slideMaster" Target="/ppt/slideMasters/slideMaster1.xml" Id="R7295d93909db48f0"/><Relationship Type="http://schemas.openxmlformats.org/officeDocument/2006/relationships/notesMaster" Target="/ppt/notesMasters/notesMaster1.xml" Id="Rf5435600f4a847cf"/><Relationship Type="http://schemas.openxmlformats.org/officeDocument/2006/relationships/presProps" Target="/ppt/presProps.xml" Id="R953b21beffe9457d"/><Relationship Type="http://schemas.openxmlformats.org/officeDocument/2006/relationships/tableStyles" Target="/ppt/tableStyles.xml" Id="R7bd911aae070449f"/><Relationship Type="http://schemas.openxmlformats.org/officeDocument/2006/relationships/slide" Target="/ppt/slides/slide1.xml" Id="R34d73b72a14e42e3"/><Relationship Type="http://schemas.openxmlformats.org/officeDocument/2006/relationships/slide" Target="/ppt/slides/slide2.xml" Id="R606af371282246a1"/><Relationship Type="http://schemas.openxmlformats.org/officeDocument/2006/relationships/slide" Target="/ppt/slides/slide3.xml" Id="Rd3fd3a89bd414881"/><Relationship Type="http://schemas.openxmlformats.org/officeDocument/2006/relationships/slide" Target="/ppt/slides/slide4.xml" Id="Re98529b7fee14d59"/><Relationship Type="http://schemas.openxmlformats.org/officeDocument/2006/relationships/slide" Target="/ppt/slides/slide5.xml" Id="Rd70cad6ed2454ff9"/><Relationship Type="http://schemas.openxmlformats.org/officeDocument/2006/relationships/slide" Target="/ppt/slides/slide6.xml" Id="R7de8a56af9a54b91"/><Relationship Type="http://schemas.openxmlformats.org/officeDocument/2006/relationships/slide" Target="/ppt/slides/slide7.xml" Id="Rb7c82f7136c2496a"/><Relationship Type="http://schemas.openxmlformats.org/officeDocument/2006/relationships/slide" Target="/ppt/slides/slide8.xml" Id="Rea8a52a48bf1479a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a6932f03d2eb46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f6221d9f1ad94ac4" /><Relationship Type="http://schemas.openxmlformats.org/officeDocument/2006/relationships/notesMaster" Target="/ppt/notesMasters/notesMaster1.xml" Id="R66d704b77b0a4484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ee2c83ca4167416e" /><Relationship Type="http://schemas.openxmlformats.org/officeDocument/2006/relationships/notesMaster" Target="/ppt/notesMasters/notesMaster1.xml" Id="R1c444bbffc5a4a7b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3a97ccdd6c6b4e7a" /><Relationship Type="http://schemas.openxmlformats.org/officeDocument/2006/relationships/notesMaster" Target="/ppt/notesMasters/notesMaster1.xml" Id="Rc29e365cd82741d0" 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/ppt/slides/slide4.xml" Id="R4736d73ba2ed4b22" /><Relationship Type="http://schemas.openxmlformats.org/officeDocument/2006/relationships/notesMaster" Target="/ppt/notesMasters/notesMaster1.xml" Id="R209044341fea4181" 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/ppt/slides/slide5.xml" Id="Ra0cb98eaa0fb4df5" /><Relationship Type="http://schemas.openxmlformats.org/officeDocument/2006/relationships/notesMaster" Target="/ppt/notesMasters/notesMaster1.xml" Id="Rb82c1bf9270b4e3d" 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/ppt/slides/slide6.xml" Id="Rbb1b926e6fda429c" /><Relationship Type="http://schemas.openxmlformats.org/officeDocument/2006/relationships/notesMaster" Target="/ppt/notesMasters/notesMaster1.xml" Id="Rb1dd5fa5d6534335" 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/ppt/slides/slide7.xml" Id="R602988cee4ba4630" /><Relationship Type="http://schemas.openxmlformats.org/officeDocument/2006/relationships/notesMaster" Target="/ppt/notesMasters/notesMaster1.xml" Id="R79b9d74b38f44314" 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/ppt/slides/slide8.xml" Id="R90ece8f073f94ca4" /><Relationship Type="http://schemas.openxmlformats.org/officeDocument/2006/relationships/notesMaster" Target="/ppt/notesMasters/notesMaster1.xml" Id="Ra73b55714c7748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https://github.com/zarazhangrui/beautiful-html-templates/tree/main/templates/creative-mode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https://github.com/zarazhangrui/beautiful-html-templates/tree/main/templates/creative-mode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https://github.com/zarazhangrui/beautiful-html-templates/tree/main/templates/creative-mode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https://github.com/zarazhangrui/beautiful-html-templates/tree/main/templates/creative-mode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Illustrative creative-process scores.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https://github.com/zarazhangrui/beautiful-html-templates/tree/main/templates/creative-mode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Illustrative creative prompt matrix.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https://github.com/zarazhangrui/beautiful-html-templates/tree/main/templates/creative-mode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Illustrative studio test across four 90-minute sessions.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https://github.com/zarazhangrui/beautiful-html-templates/tree/main/templates/creative-mode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Illustrative 90-minute creative sprint scorecard.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https://github.com/zarazhangrui/beautiful-html-templates/tree/main/templates/creative-mode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6b874a07256a41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b99493a8fe6549cd" /><Relationship Type="http://schemas.openxmlformats.org/officeDocument/2006/relationships/slideLayout" Target="/ppt/slideLayouts/slideLayout1.xml" Id="Rab7af196413e4c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7af196413e4c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02f3afba3664ded" /><Relationship Type="http://schemas.openxmlformats.org/officeDocument/2006/relationships/notesSlide" Target="/ppt/notesSlides/notesSlide1.xml" Id="R52f76b2929224d3e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98303d4d7304168" /><Relationship Type="http://schemas.openxmlformats.org/officeDocument/2006/relationships/notesSlide" Target="/ppt/notesSlides/notesSlide2.xml" Id="R52c796cc0bdf4d68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c1a7d7d85b24326" /><Relationship Type="http://schemas.openxmlformats.org/officeDocument/2006/relationships/notesSlide" Target="/ppt/notesSlides/notesSlide3.xml" Id="R7c320056d57d4baa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45f9fc33b3f45fa" /><Relationship Type="http://schemas.openxmlformats.org/officeDocument/2006/relationships/chart" Target="/ppt/slides/charts/chart1.xml" Id="R291518a731d44ae5" /><Relationship Type="http://schemas.openxmlformats.org/officeDocument/2006/relationships/notesSlide" Target="/ppt/notesSlides/notesSlide4.xml" Id="Rbab0d18a01c643e9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ba5d30c32e04386" /><Relationship Type="http://schemas.openxmlformats.org/officeDocument/2006/relationships/notesSlide" Target="/ppt/notesSlides/notesSlide5.xml" Id="Rb374b5e451b0470b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b4f4f1c2870402f" /><Relationship Type="http://schemas.openxmlformats.org/officeDocument/2006/relationships/chart" Target="/ppt/slides/charts/chart2.xml" Id="R3ad75acb9c8e43a0" /><Relationship Type="http://schemas.openxmlformats.org/officeDocument/2006/relationships/notesSlide" Target="/ppt/notesSlides/notesSlide6.xml" Id="R8d2fd683700746f0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2b60024b52249bf" /><Relationship Type="http://schemas.openxmlformats.org/officeDocument/2006/relationships/notesSlide" Target="/ppt/notesSlides/notesSlide7.xml" Id="R16353dfd8e00429d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6c844677942486d" /><Relationship Type="http://schemas.openxmlformats.org/officeDocument/2006/relationships/notesSlide" Target="/ppt/notesSlides/notesSlide8.xml" Id="R69c0652fadb64afe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Safe</c:v>
          </c:tx>
          <c:spPr>
            <a:solidFill xmlns:a="http://schemas.openxmlformats.org/drawingml/2006/main">
              <a:srgbClr val="1F8A4C"/>
            </a:solidFill>
            <a:ln xmlns:a="http://schemas.openxmlformats.org/drawingml/2006/main" w="28575">
              <a:solidFill>
                <a:srgbClr val="1F8A4C"/>
              </a:solidFill>
              <a:prstDash val="solid"/>
            </a:ln>
          </c:spPr>
          <c:marker>
            <c:symbol val="none"/>
          </c:marker>
          <c:cat>
            <c:strLit>
              <c:ptCount val="5"/>
              <c:pt idx="0">
                <c:v>Spark</c:v>
              </c:pt>
              <c:pt idx="1">
                <c:v>Copy</c:v>
              </c:pt>
              <c:pt idx="2">
                <c:v>Twist</c:v>
              </c:pt>
              <c:pt idx="3">
                <c:v>Break</c:v>
              </c:pt>
              <c:pt idx="4">
                <c:v>Commit</c:v>
              </c:pt>
            </c:strLit>
          </c:cat>
          <c:val>
            <c:numLit>
              <c:formatCode>General</c:formatCode>
              <c:ptCount val="5"/>
              <c:pt idx="0">
                <c:v>88</c:v>
              </c:pt>
              <c:pt idx="1">
                <c:v>78</c:v>
              </c:pt>
              <c:pt idx="2">
                <c:v>58</c:v>
              </c:pt>
              <c:pt idx="3">
                <c:v>40</c:v>
              </c:pt>
              <c:pt idx="4">
                <c:v>32</c:v>
              </c:pt>
            </c:numLit>
          </c:val>
        </c:ser>
        <c:ser>
          <c:idx val="1"/>
          <c:order val="1"/>
          <c:tx>
            <c:v>Strange</c:v>
          </c:tx>
          <c:spPr>
            <a:solidFill xmlns:a="http://schemas.openxmlformats.org/drawingml/2006/main">
              <a:srgbClr val="F06CA8"/>
            </a:solidFill>
            <a:ln xmlns:a="http://schemas.openxmlformats.org/drawingml/2006/main" w="28575">
              <a:solidFill>
                <a:srgbClr val="F06CA8"/>
              </a:solidFill>
              <a:prstDash val="solid"/>
            </a:ln>
          </c:spPr>
          <c:marker>
            <c:symbol val="none"/>
          </c:marker>
          <c:cat>
            <c:strLit>
              <c:ptCount val="5"/>
              <c:pt idx="0">
                <c:v>Spark</c:v>
              </c:pt>
              <c:pt idx="1">
                <c:v>Copy</c:v>
              </c:pt>
              <c:pt idx="2">
                <c:v>Twist</c:v>
              </c:pt>
              <c:pt idx="3">
                <c:v>Break</c:v>
              </c:pt>
              <c:pt idx="4">
                <c:v>Commit</c:v>
              </c:pt>
            </c:strLit>
          </c:cat>
          <c:val>
            <c:numLit>
              <c:formatCode>General</c:formatCode>
              <c:ptCount val="5"/>
              <c:pt idx="0">
                <c:v>20</c:v>
              </c:pt>
              <c:pt idx="1">
                <c:v>38</c:v>
              </c:pt>
              <c:pt idx="2">
                <c:v>64</c:v>
              </c:pt>
              <c:pt idx="3">
                <c:v>86</c:v>
              </c:pt>
              <c:pt idx="4">
                <c:v>94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latin typeface="Space Grotesk Text"/>
                <a:solidFill>
                  <a:srgbClr val="0F0F0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C6A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latin typeface="Space Grotesk Text"/>
                <a:solidFill>
                  <a:srgbClr val="0F0F0F"/>
                </a:solidFill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EFE9D9"/>
        </a:solidFill>
        <a:ln xmlns:a="http://schemas.openxmlformats.org/drawingml/2006/main" w="9525">
          <a:solidFill>
            <a:srgbClr val="CFC6A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latin typeface="Space Grotesk Text"/>
              <a:solidFill>
                <a:srgbClr val="0F0F0F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EFE9D9"/>
    </a:solidFill>
    <a:ln xmlns:a="http://schemas.openxmlformats.org/drawingml/2006/main" w="0">
      <a:solidFill>
        <a:srgbClr val="EFE9D9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Generated</c:v>
          </c:tx>
          <c:spPr>
            <a:solidFill xmlns:a="http://schemas.openxmlformats.org/drawingml/2006/main">
              <a:srgbClr val="1F8A4C"/>
            </a:solidFill>
            <a:ln xmlns:a="http://schemas.openxmlformats.org/drawingml/2006/main" w="19050">
              <a:solidFill>
                <a:srgbClr val="1F8A4C"/>
              </a:solidFill>
              <a:prstDash val="solid"/>
            </a:ln>
          </c:spPr>
          <c:cat>
            <c:strLit>
              <c:ptCount val="4"/>
              <c:pt idx="0">
                <c:v>Free brief</c:v>
              </c:pt>
              <c:pt idx="1">
                <c:v>One color</c:v>
              </c:pt>
              <c:pt idx="2">
                <c:v>Wrong tool</c:v>
              </c:pt>
              <c:pt idx="3">
                <c:v>No undo</c:v>
              </c:pt>
            </c:strLit>
          </c:cat>
          <c:val>
            <c:numLit>
              <c:formatCode>General</c:formatCode>
              <c:ptCount val="4"/>
              <c:pt idx="0">
                <c:v>11</c:v>
              </c:pt>
              <c:pt idx="1">
                <c:v>18</c:v>
              </c:pt>
              <c:pt idx="2">
                <c:v>22</c:v>
              </c:pt>
              <c:pt idx="3">
                <c:v>16</c:v>
              </c:pt>
            </c:numLit>
          </c:val>
        </c:ser>
        <c:ser>
          <c:idx val="1"/>
          <c:order val="1"/>
          <c:tx>
            <c:v>Shortlisted</c:v>
          </c:tx>
          <c:spPr>
            <a:solidFill xmlns:a="http://schemas.openxmlformats.org/drawingml/2006/main">
              <a:srgbClr val="F06CA8"/>
            </a:solidFill>
            <a:ln xmlns:a="http://schemas.openxmlformats.org/drawingml/2006/main" w="19050">
              <a:solidFill>
                <a:srgbClr val="F06CA8"/>
              </a:solidFill>
              <a:prstDash val="solid"/>
            </a:ln>
          </c:spPr>
          <c:cat>
            <c:strLit>
              <c:ptCount val="4"/>
              <c:pt idx="0">
                <c:v>Free brief</c:v>
              </c:pt>
              <c:pt idx="1">
                <c:v>One color</c:v>
              </c:pt>
              <c:pt idx="2">
                <c:v>Wrong tool</c:v>
              </c:pt>
              <c:pt idx="3">
                <c:v>No undo</c:v>
              </c:pt>
            </c:strLit>
          </c:cat>
          <c:val>
            <c:numLit>
              <c:formatCode>General</c:formatCode>
              <c:ptCount val="4"/>
              <c:pt idx="0">
                <c:v>3</c:v>
              </c:pt>
              <c:pt idx="1">
                <c:v>5</c:v>
              </c:pt>
              <c:pt idx="2">
                <c:v>6</c:v>
              </c:pt>
              <c:pt idx="3">
                <c:v>4</c:v>
              </c:pt>
            </c:numLit>
          </c:val>
        </c:ser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CFC6A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latin typeface="Space Grotesk Text"/>
                <a:solidFill>
                  <a:srgbClr val="0F0F0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C6A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latin typeface="Space Grotesk Text"/>
                <a:solidFill>
                  <a:srgbClr val="0F0F0F"/>
                </a:solidFill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EFE9D9"/>
        </a:solidFill>
        <a:ln xmlns:a="http://schemas.openxmlformats.org/drawingml/2006/main" w="9525">
          <a:solidFill>
            <a:srgbClr val="CFC6A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latin typeface="Space Grotesk Text"/>
              <a:solidFill>
                <a:srgbClr val="0F0F0F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EFE9D9"/>
    </a:solidFill>
    <a:ln xmlns:a="http://schemas.openxmlformats.org/drawingml/2006/main" w="0">
      <a:solidFill>
        <a:srgbClr val="EFE9D9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E9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reative-label-1">
            <a:extLst xmlns:a="http://schemas.openxmlformats.org/drawingml/2006/main">
              <a:ext uri="{FF2B5EF4-FFF2-40B4-BE49-F238E27FC236}">
                <a16:creationId xmlns:a16="http://schemas.microsoft.com/office/drawing/2014/main" id="{9EF381E9-B4DA-4B81-9A64-821DCF73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MAKE SOMETHING STRANGE / LAUNCH</a:t>
            </a:r>
          </a:p>
        </p:txBody>
      </p:sp>
      <p:sp>
        <p:nvSpPr>
          <p:cNvPr id="2" name="creative-page-1">
            <a:extLst xmlns:a="http://schemas.openxmlformats.org/drawingml/2006/main">
              <a:ext uri="{FF2B5EF4-FFF2-40B4-BE49-F238E27FC236}">
                <a16:creationId xmlns:a16="http://schemas.microsoft.com/office/drawing/2014/main" id="{BE804F64-26B7-42C5-B0D3-242A1E97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29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01 / 08</a:t>
            </a:r>
          </a:p>
        </p:txBody>
      </p:sp>
      <p:sp>
        <p:nvSpPr>
          <p:cNvPr id="3" name="creative-foot-1">
            <a:extLst xmlns:a="http://schemas.openxmlformats.org/drawingml/2006/main">
              <a:ext uri="{FF2B5EF4-FFF2-40B4-BE49-F238E27FC236}">
                <a16:creationId xmlns:a16="http://schemas.microsoft.com/office/drawing/2014/main" id="{2513671A-A391-4C8C-8209-40C0130C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CREATIVE MODE · KEEP THE WEIRD PART</a:t>
            </a:r>
          </a:p>
        </p:txBody>
      </p:sp>
      <p:sp>
        <p:nvSpPr>
          <p:cNvPr id="4" name="creative-cover-green-shadow">
            <a:extLst xmlns:a="http://schemas.openxmlformats.org/drawingml/2006/main">
              <a:ext uri="{FF2B5EF4-FFF2-40B4-BE49-F238E27FC236}">
                <a16:creationId xmlns:a16="http://schemas.microsoft.com/office/drawing/2014/main" id="{ED3CC879-F000-497E-8E01-D6CA543A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7200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reative-cover-green-surface">
            <a:extLst xmlns:a="http://schemas.openxmlformats.org/drawingml/2006/main">
              <a:ext uri="{FF2B5EF4-FFF2-40B4-BE49-F238E27FC236}">
                <a16:creationId xmlns:a16="http://schemas.microsoft.com/office/drawing/2014/main" id="{713D9A15-9294-46CE-9236-8CE9FFD1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52500"/>
            <a:ext cx="7200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 w="38100">
            <a:solidFill>
              <a:srgbClr val="0F0F0F"/>
            </a:solidFill>
            <a:prstDash val="solid"/>
          </a:ln>
        </p:spPr>
      </p:sp>
      <p:sp>
        <p:nvSpPr>
          <p:cNvPr id="6" name="creative-cover-title">
            <a:extLst xmlns:a="http://schemas.openxmlformats.org/drawingml/2006/main">
              <a:ext uri="{FF2B5EF4-FFF2-40B4-BE49-F238E27FC236}">
                <a16:creationId xmlns:a16="http://schemas.microsoft.com/office/drawing/2014/main" id="{C76DB5AA-CE2C-4D33-8E89-6EBD11A8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09700"/>
            <a:ext cx="6477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5000"/>
              </a:lnSpc>
              <a:buNone/>
              <a:defRPr sz="5550" b="0" i="0">
                <a:solidFill>
                  <a:srgbClr val="EFE9D9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5550" b="0" i="0">
                <a:solidFill>
                  <a:srgbClr val="EFE9D9"/>
                </a:solidFill>
                <a:latin typeface="Archivo Black Display"/>
                <a:ea typeface="Archivo Black Display"/>
                <a:cs typeface="Archivo Black Display"/>
              </a:rPr>
              <a:t>MAKE</a:t>
            </a:r>
          </a:p>
          <a:p xmlns:a="http://schemas.openxmlformats.org/drawingml/2006/main">
            <a:pPr algn="l">
              <a:lnSpc>
                <a:spcPct val="85000"/>
              </a:lnSpc>
              <a:buNone/>
              <a:defRPr sz="5550" b="0" i="0">
                <a:solidFill>
                  <a:srgbClr val="EFE9D9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5550" b="0" i="0">
                <a:solidFill>
                  <a:srgbClr val="EFE9D9"/>
                </a:solidFill>
                <a:latin typeface="Archivo Black Display"/>
                <a:ea typeface="Archivo Black Display"/>
                <a:cs typeface="Archivo Black Display"/>
              </a:rPr>
              <a:t>SOMETHING</a:t>
            </a:r>
          </a:p>
          <a:p xmlns:a="http://schemas.openxmlformats.org/drawingml/2006/main">
            <a:pPr algn="l">
              <a:lnSpc>
                <a:spcPct val="85000"/>
              </a:lnSpc>
              <a:buNone/>
              <a:defRPr sz="5550" b="0" i="0">
                <a:solidFill>
                  <a:srgbClr val="EFE9D9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5550" b="0" i="0">
                <a:solidFill>
                  <a:srgbClr val="EFE9D9"/>
                </a:solidFill>
                <a:latin typeface="Archivo Black Display"/>
                <a:ea typeface="Archivo Black Display"/>
                <a:cs typeface="Archivo Black Display"/>
              </a:rPr>
              <a:t>STRANGE.</a:t>
            </a:r>
          </a:p>
        </p:txBody>
      </p:sp>
      <p:sp>
        <p:nvSpPr>
          <p:cNvPr id="7" name="creative-cover-pink-shadow">
            <a:extLst xmlns:a="http://schemas.openxmlformats.org/drawingml/2006/main">
              <a:ext uri="{FF2B5EF4-FFF2-40B4-BE49-F238E27FC236}">
                <a16:creationId xmlns:a16="http://schemas.microsoft.com/office/drawing/2014/main" id="{B8D11C4E-8260-4942-BADC-F3C6D102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28700"/>
            <a:ext cx="36576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reative-cover-pink-surface">
            <a:extLst xmlns:a="http://schemas.openxmlformats.org/drawingml/2006/main">
              <a:ext uri="{FF2B5EF4-FFF2-40B4-BE49-F238E27FC236}">
                <a16:creationId xmlns:a16="http://schemas.microsoft.com/office/drawing/2014/main" id="{ABDF7C90-3D59-41DF-A5DE-6941992B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952500"/>
            <a:ext cx="36576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A8"/>
          </a:solidFill>
          <a:ln xmlns:a="http://schemas.openxmlformats.org/drawingml/2006/main" w="38100">
            <a:solidFill>
              <a:srgbClr val="0F0F0F"/>
            </a:solidFill>
            <a:prstDash val="solid"/>
          </a:ln>
        </p:spPr>
      </p:sp>
      <p:sp>
        <p:nvSpPr>
          <p:cNvPr id="9" name="creative-cover-pink-title">
            <a:extLst xmlns:a="http://schemas.openxmlformats.org/drawingml/2006/main">
              <a:ext uri="{FF2B5EF4-FFF2-40B4-BE49-F238E27FC236}">
                <a16:creationId xmlns:a16="http://schemas.microsoft.com/office/drawing/2014/main" id="{934258EA-9FB2-4067-9A12-676648B5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95400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330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RULE 01</a:t>
            </a:r>
          </a:p>
        </p:txBody>
      </p:sp>
      <p:sp>
        <p:nvSpPr>
          <p:cNvPr id="10" name="creative-cover-pink-body">
            <a:extLst xmlns:a="http://schemas.openxmlformats.org/drawingml/2006/main">
              <a:ext uri="{FF2B5EF4-FFF2-40B4-BE49-F238E27FC236}">
                <a16:creationId xmlns:a16="http://schemas.microsoft.com/office/drawing/2014/main" id="{AD4E6125-512B-41C9-BB06-276BCA98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F0F0F"/>
                </a:solidFill>
                <a:latin typeface="Space Grotesk Text"/>
                <a:ea typeface="Space Grotesk Text"/>
                <a:cs typeface="Space Grotesk Text"/>
              </a:defRPr>
            </a:pPr>
            <a:r>
              <a:rPr sz="1500" b="0" i="0">
                <a:solidFill>
                  <a:srgbClr val="0F0F0F"/>
                </a:solidFill>
                <a:latin typeface="Space Grotesk Text"/>
                <a:ea typeface="Space Grotesk Text"/>
                <a:cs typeface="Space Grotesk Text"/>
              </a:rPr>
              <a:t>Start before it</a:t>
            </a:r>
          </a:p>
          <a:p xmlns:a="http://schemas.openxmlformats.org/drawingml/2006/main">
            <a:pPr algn="l">
              <a:defRPr sz="1500" b="0" i="0">
                <a:solidFill>
                  <a:srgbClr val="0F0F0F"/>
                </a:solidFill>
                <a:latin typeface="Space Grotesk Text"/>
                <a:ea typeface="Space Grotesk Text"/>
                <a:cs typeface="Space Grotesk Text"/>
              </a:defRPr>
            </a:pPr>
            <a:r>
              <a:rPr sz="1500" b="0" i="0">
                <a:solidFill>
                  <a:srgbClr val="0F0F0F"/>
                </a:solidFill>
                <a:latin typeface="Space Grotesk Text"/>
                <a:ea typeface="Space Grotesk Text"/>
                <a:cs typeface="Space Grotesk Text"/>
              </a:rPr>
              <a:t>makes sense.</a:t>
            </a:r>
          </a:p>
        </p:txBody>
      </p:sp>
      <p:sp>
        <p:nvSpPr>
          <p:cNvPr id="11" name="creative-cover-yellow-shadow">
            <a:extLst xmlns:a="http://schemas.openxmlformats.org/drawingml/2006/main">
              <a:ext uri="{FF2B5EF4-FFF2-40B4-BE49-F238E27FC236}">
                <a16:creationId xmlns:a16="http://schemas.microsoft.com/office/drawing/2014/main" id="{472B17AB-89CE-40BE-B1E4-C7DA7ACC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36576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reative-cover-yellow-surface">
            <a:extLst xmlns:a="http://schemas.openxmlformats.org/drawingml/2006/main">
              <a:ext uri="{FF2B5EF4-FFF2-40B4-BE49-F238E27FC236}">
                <a16:creationId xmlns:a16="http://schemas.microsoft.com/office/drawing/2014/main" id="{F0BC273B-64B5-49B7-9548-CCAC1533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76600"/>
            <a:ext cx="36576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518"/>
          </a:solidFill>
          <a:ln xmlns:a="http://schemas.openxmlformats.org/drawingml/2006/main" w="38100">
            <a:solidFill>
              <a:srgbClr val="0F0F0F"/>
            </a:solidFill>
            <a:prstDash val="solid"/>
          </a:ln>
        </p:spPr>
      </p:sp>
      <p:sp>
        <p:nvSpPr>
          <p:cNvPr id="13" name="creative-cover-yellow-title">
            <a:extLst xmlns:a="http://schemas.openxmlformats.org/drawingml/2006/main">
              <a:ext uri="{FF2B5EF4-FFF2-40B4-BE49-F238E27FC236}">
                <a16:creationId xmlns:a16="http://schemas.microsoft.com/office/drawing/2014/main" id="{9FD54B7E-C4C9-424A-A559-393372E4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0450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330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RULE 02</a:t>
            </a:r>
          </a:p>
        </p:txBody>
      </p:sp>
      <p:sp>
        <p:nvSpPr>
          <p:cNvPr id="14" name="creative-cover-yellow-body">
            <a:extLst xmlns:a="http://schemas.openxmlformats.org/drawingml/2006/main">
              <a:ext uri="{FF2B5EF4-FFF2-40B4-BE49-F238E27FC236}">
                <a16:creationId xmlns:a16="http://schemas.microsoft.com/office/drawing/2014/main" id="{97C738ED-1109-40A5-A2CD-A5344390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57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F0F0F"/>
                </a:solidFill>
                <a:latin typeface="Space Grotesk Text"/>
                <a:ea typeface="Space Grotesk Text"/>
                <a:cs typeface="Space Grotesk Text"/>
              </a:defRPr>
            </a:pPr>
            <a:r>
              <a:rPr sz="1500" b="0" i="0">
                <a:solidFill>
                  <a:srgbClr val="0F0F0F"/>
                </a:solidFill>
                <a:latin typeface="Space Grotesk Text"/>
                <a:ea typeface="Space Grotesk Text"/>
                <a:cs typeface="Space Grotesk Text"/>
              </a:rPr>
              <a:t>Keep the weird part.</a:t>
            </a:r>
          </a:p>
        </p:txBody>
      </p:sp>
      <p:sp>
        <p:nvSpPr>
          <p:cNvPr id="15" name="creative-cover-tag-surface">
            <a:extLst xmlns:a="http://schemas.openxmlformats.org/drawingml/2006/main">
              <a:ext uri="{FF2B5EF4-FFF2-40B4-BE49-F238E27FC236}">
                <a16:creationId xmlns:a16="http://schemas.microsoft.com/office/drawing/2014/main" id="{3E310420-95FD-47CF-966A-8EB8D70B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48300"/>
            <a:ext cx="11182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1F"/>
          </a:solidFill>
          <a:ln xmlns:a="http://schemas.openxmlformats.org/drawingml/2006/main" w="38100">
            <a:solidFill>
              <a:srgbClr val="0F0F0F"/>
            </a:solidFill>
            <a:prstDash val="solid"/>
          </a:ln>
        </p:spPr>
      </p:sp>
      <p:sp>
        <p:nvSpPr>
          <p:cNvPr id="16" name="creative-cover-tag-text">
            <a:extLst xmlns:a="http://schemas.openxmlformats.org/drawingml/2006/main">
              <a:ext uri="{FF2B5EF4-FFF2-40B4-BE49-F238E27FC236}">
                <a16:creationId xmlns:a16="http://schemas.microsoft.com/office/drawing/2014/main" id="{3966F985-B42F-4A09-A26A-2D7077DE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EFE9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 i="0">
                <a:solidFill>
                  <a:srgbClr val="EFE9D9"/>
                </a:solidFill>
                <a:latin typeface="JetBrains Mono"/>
                <a:ea typeface="JetBrains Mono"/>
                <a:cs typeface="JetBrains Mono"/>
              </a:rPr>
              <a:t>A SMALL MANIFESTO FOR BIG IDEAS</a:t>
            </a:r>
          </a:p>
        </p:txBody>
      </p:sp>
    </p:spTree>
    <p:extLst>
      <p:ext uri="{BB962C8B-B14F-4D97-AF65-F5344CB8AC3E}">
        <p14:creationId xmlns:p14="http://schemas.microsoft.com/office/powerpoint/2010/main" val="1585675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FE9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reative-label-2">
            <a:extLst xmlns:a="http://schemas.openxmlformats.org/drawingml/2006/main">
              <a:ext uri="{FF2B5EF4-FFF2-40B4-BE49-F238E27FC236}">
                <a16:creationId xmlns:a16="http://schemas.microsoft.com/office/drawing/2014/main" id="{3FD49851-7B76-4589-B59A-3E52BB22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MAKE SOMETHING STRANGE / STATS</a:t>
            </a:r>
          </a:p>
        </p:txBody>
      </p:sp>
      <p:sp>
        <p:nvSpPr>
          <p:cNvPr id="2" name="creative-page-2">
            <a:extLst xmlns:a="http://schemas.openxmlformats.org/drawingml/2006/main">
              <a:ext uri="{FF2B5EF4-FFF2-40B4-BE49-F238E27FC236}">
                <a16:creationId xmlns:a16="http://schemas.microsoft.com/office/drawing/2014/main" id="{53BFE57D-B93A-48BB-AD32-7C4D177D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29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02 / 08</a:t>
            </a:r>
          </a:p>
        </p:txBody>
      </p:sp>
      <p:sp>
        <p:nvSpPr>
          <p:cNvPr id="3" name="creative-foot-2">
            <a:extLst xmlns:a="http://schemas.openxmlformats.org/drawingml/2006/main">
              <a:ext uri="{FF2B5EF4-FFF2-40B4-BE49-F238E27FC236}">
                <a16:creationId xmlns:a16="http://schemas.microsoft.com/office/drawing/2014/main" id="{2B8F1513-DD38-4B7D-9943-A923ED78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CREATIVE MODE · KEEP THE WEIRD PART</a:t>
            </a:r>
          </a:p>
        </p:txBody>
      </p:sp>
      <p:sp>
        <p:nvSpPr>
          <p:cNvPr id="4" name="creative-stats-title">
            <a:extLst xmlns:a="http://schemas.openxmlformats.org/drawingml/2006/main">
              <a:ext uri="{FF2B5EF4-FFF2-40B4-BE49-F238E27FC236}">
                <a16:creationId xmlns:a16="http://schemas.microsoft.com/office/drawing/2014/main" id="{C5783986-6949-4B28-A97E-3237EF2A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40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40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SMALL RULES.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40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40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WILD RESULTS.</a:t>
            </a:r>
          </a:p>
        </p:txBody>
      </p:sp>
      <p:sp>
        <p:nvSpPr>
          <p:cNvPr id="5" name="creative-stat-0-shadow">
            <a:extLst xmlns:a="http://schemas.openxmlformats.org/drawingml/2006/main">
              <a:ext uri="{FF2B5EF4-FFF2-40B4-BE49-F238E27FC236}">
                <a16:creationId xmlns:a16="http://schemas.microsoft.com/office/drawing/2014/main" id="{1D58A8AB-1D48-4E13-AAFF-9768DC9F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25527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reative-stat-0-surface">
            <a:extLst xmlns:a="http://schemas.openxmlformats.org/drawingml/2006/main">
              <a:ext uri="{FF2B5EF4-FFF2-40B4-BE49-F238E27FC236}">
                <a16:creationId xmlns:a16="http://schemas.microsoft.com/office/drawing/2014/main" id="{27CB87D2-EDFB-4BC1-890C-22CE4F13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0"/>
            <a:ext cx="25527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 w="38100">
            <a:solidFill>
              <a:srgbClr val="0F0F0F"/>
            </a:solidFill>
            <a:prstDash val="solid"/>
          </a:ln>
        </p:spPr>
      </p:sp>
      <p:sp>
        <p:nvSpPr>
          <p:cNvPr id="7" name="creative-stat-value-0">
            <a:extLst xmlns:a="http://schemas.openxmlformats.org/drawingml/2006/main">
              <a:ext uri="{FF2B5EF4-FFF2-40B4-BE49-F238E27FC236}">
                <a16:creationId xmlns:a16="http://schemas.microsoft.com/office/drawing/2014/main" id="{3BDFCCA7-8C47-459E-A033-217608FC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25" b="0" i="0">
                <a:solidFill>
                  <a:srgbClr val="EFE9D9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5625" b="0" i="0">
                <a:solidFill>
                  <a:srgbClr val="EFE9D9"/>
                </a:solidFill>
                <a:latin typeface="Archivo Black Display"/>
                <a:ea typeface="Archivo Black Display"/>
                <a:cs typeface="Archivo Black Display"/>
              </a:rPr>
              <a:t>03</a:t>
            </a:r>
          </a:p>
        </p:txBody>
      </p:sp>
      <p:sp>
        <p:nvSpPr>
          <p:cNvPr id="8" name="creative-stat-rule-0">
            <a:extLst xmlns:a="http://schemas.openxmlformats.org/drawingml/2006/main">
              <a:ext uri="{FF2B5EF4-FFF2-40B4-BE49-F238E27FC236}">
                <a16:creationId xmlns:a16="http://schemas.microsoft.com/office/drawing/2014/main" id="{F7E8A334-D0EA-44F9-8F0D-196D19EC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reative-stat-label-0">
            <a:extLst xmlns:a="http://schemas.openxmlformats.org/drawingml/2006/main">
              <a:ext uri="{FF2B5EF4-FFF2-40B4-BE49-F238E27FC236}">
                <a16:creationId xmlns:a16="http://schemas.microsoft.com/office/drawing/2014/main" id="{7136A906-8587-4C36-A142-CECB21D2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EFE9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EFE9D9"/>
                </a:solidFill>
                <a:latin typeface="JetBrains Mono"/>
                <a:ea typeface="JetBrains Mono"/>
                <a:cs typeface="JetBrains Mono"/>
              </a:rPr>
              <a:t>CONSTRAINTS</a:t>
            </a:r>
          </a:p>
        </p:txBody>
      </p:sp>
      <p:sp>
        <p:nvSpPr>
          <p:cNvPr id="10" name="creative-stat-1-shadow">
            <a:extLst xmlns:a="http://schemas.openxmlformats.org/drawingml/2006/main">
              <a:ext uri="{FF2B5EF4-FFF2-40B4-BE49-F238E27FC236}">
                <a16:creationId xmlns:a16="http://schemas.microsoft.com/office/drawing/2014/main" id="{270A59DA-8FF0-43DF-B25C-EF3DD3AC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43200"/>
            <a:ext cx="25527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reative-stat-1-surface">
            <a:extLst xmlns:a="http://schemas.openxmlformats.org/drawingml/2006/main">
              <a:ext uri="{FF2B5EF4-FFF2-40B4-BE49-F238E27FC236}">
                <a16:creationId xmlns:a16="http://schemas.microsoft.com/office/drawing/2014/main" id="{DC3E9763-E287-49D5-8A75-EF6C90BD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67000"/>
            <a:ext cx="25527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A8"/>
          </a:solidFill>
          <a:ln xmlns:a="http://schemas.openxmlformats.org/drawingml/2006/main" w="38100">
            <a:solidFill>
              <a:srgbClr val="0F0F0F"/>
            </a:solidFill>
            <a:prstDash val="solid"/>
          </a:ln>
        </p:spPr>
      </p:sp>
      <p:sp>
        <p:nvSpPr>
          <p:cNvPr id="12" name="creative-stat-value-1">
            <a:extLst xmlns:a="http://schemas.openxmlformats.org/drawingml/2006/main">
              <a:ext uri="{FF2B5EF4-FFF2-40B4-BE49-F238E27FC236}">
                <a16:creationId xmlns:a16="http://schemas.microsoft.com/office/drawing/2014/main" id="{0BA0859B-C0F9-4DF5-9D48-C24F4410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289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25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5625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90</a:t>
            </a:r>
          </a:p>
        </p:txBody>
      </p:sp>
      <p:sp>
        <p:nvSpPr>
          <p:cNvPr id="13" name="creative-stat-rule-1">
            <a:extLst xmlns:a="http://schemas.openxmlformats.org/drawingml/2006/main">
              <a:ext uri="{FF2B5EF4-FFF2-40B4-BE49-F238E27FC236}">
                <a16:creationId xmlns:a16="http://schemas.microsoft.com/office/drawing/2014/main" id="{6B26406D-3775-4EFC-B2AD-92298E21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672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reative-stat-label-1">
            <a:extLst xmlns:a="http://schemas.openxmlformats.org/drawingml/2006/main">
              <a:ext uri="{FF2B5EF4-FFF2-40B4-BE49-F238E27FC236}">
                <a16:creationId xmlns:a16="http://schemas.microsoft.com/office/drawing/2014/main" id="{2DAEDBDD-FD64-4015-935E-0EB998BC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148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MINUTES</a:t>
            </a:r>
          </a:p>
        </p:txBody>
      </p:sp>
      <p:sp>
        <p:nvSpPr>
          <p:cNvPr id="15" name="creative-stat-2-shadow">
            <a:extLst xmlns:a="http://schemas.openxmlformats.org/drawingml/2006/main">
              <a:ext uri="{FF2B5EF4-FFF2-40B4-BE49-F238E27FC236}">
                <a16:creationId xmlns:a16="http://schemas.microsoft.com/office/drawing/2014/main" id="{A7995E98-F7BC-4B3B-8A88-EB626DF7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43200"/>
            <a:ext cx="25527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reative-stat-2-surface">
            <a:extLst xmlns:a="http://schemas.openxmlformats.org/drawingml/2006/main">
              <a:ext uri="{FF2B5EF4-FFF2-40B4-BE49-F238E27FC236}">
                <a16:creationId xmlns:a16="http://schemas.microsoft.com/office/drawing/2014/main" id="{C6C5DCD1-3C7B-472B-9F1D-4510E5A7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25527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518"/>
          </a:solidFill>
          <a:ln xmlns:a="http://schemas.openxmlformats.org/drawingml/2006/main" w="38100">
            <a:solidFill>
              <a:srgbClr val="0F0F0F"/>
            </a:solidFill>
            <a:prstDash val="solid"/>
          </a:ln>
        </p:spPr>
      </p:sp>
      <p:sp>
        <p:nvSpPr>
          <p:cNvPr id="17" name="creative-stat-value-2">
            <a:extLst xmlns:a="http://schemas.openxmlformats.org/drawingml/2006/main">
              <a:ext uri="{FF2B5EF4-FFF2-40B4-BE49-F238E27FC236}">
                <a16:creationId xmlns:a16="http://schemas.microsoft.com/office/drawing/2014/main" id="{B3D617B4-9246-4004-B943-23442012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25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5625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01</a:t>
            </a:r>
          </a:p>
        </p:txBody>
      </p:sp>
      <p:sp>
        <p:nvSpPr>
          <p:cNvPr id="18" name="creative-stat-rule-2">
            <a:extLst xmlns:a="http://schemas.openxmlformats.org/drawingml/2006/main">
              <a:ext uri="{FF2B5EF4-FFF2-40B4-BE49-F238E27FC236}">
                <a16:creationId xmlns:a16="http://schemas.microsoft.com/office/drawing/2014/main" id="{F0853C39-83AB-4FAA-AB7C-A9F6EB31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672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reative-stat-label-2">
            <a:extLst xmlns:a="http://schemas.openxmlformats.org/drawingml/2006/main">
              <a:ext uri="{FF2B5EF4-FFF2-40B4-BE49-F238E27FC236}">
                <a16:creationId xmlns:a16="http://schemas.microsoft.com/office/drawing/2014/main" id="{99C033E0-0095-4DFC-A9A5-A310BB41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WEIRD RULE</a:t>
            </a:r>
          </a:p>
        </p:txBody>
      </p:sp>
      <p:sp>
        <p:nvSpPr>
          <p:cNvPr id="20" name="creative-stat-3-shadow">
            <a:extLst xmlns:a="http://schemas.openxmlformats.org/drawingml/2006/main">
              <a:ext uri="{FF2B5EF4-FFF2-40B4-BE49-F238E27FC236}">
                <a16:creationId xmlns:a16="http://schemas.microsoft.com/office/drawing/2014/main" id="{7AA4AC8E-A2F3-4039-BACF-E108CFA4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43200"/>
            <a:ext cx="25527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reative-stat-3-surface">
            <a:extLst xmlns:a="http://schemas.openxmlformats.org/drawingml/2006/main">
              <a:ext uri="{FF2B5EF4-FFF2-40B4-BE49-F238E27FC236}">
                <a16:creationId xmlns:a16="http://schemas.microsoft.com/office/drawing/2014/main" id="{E76DF30C-9CBB-489B-AEEB-0D637312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25527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1F"/>
          </a:solidFill>
          <a:ln xmlns:a="http://schemas.openxmlformats.org/drawingml/2006/main" w="38100">
            <a:solidFill>
              <a:srgbClr val="0F0F0F"/>
            </a:solidFill>
            <a:prstDash val="solid"/>
          </a:ln>
        </p:spPr>
      </p:sp>
      <p:sp>
        <p:nvSpPr>
          <p:cNvPr id="22" name="creative-stat-value-3">
            <a:extLst xmlns:a="http://schemas.openxmlformats.org/drawingml/2006/main">
              <a:ext uri="{FF2B5EF4-FFF2-40B4-BE49-F238E27FC236}">
                <a16:creationId xmlns:a16="http://schemas.microsoft.com/office/drawing/2014/main" id="{63C27993-E1B9-4E5F-8094-1F49BC49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289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25" b="0" i="0">
                <a:solidFill>
                  <a:srgbClr val="EFE9D9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5625" b="0" i="0">
                <a:solidFill>
                  <a:srgbClr val="EFE9D9"/>
                </a:solidFill>
                <a:latin typeface="Archivo Black Display"/>
                <a:ea typeface="Archivo Black Display"/>
                <a:cs typeface="Archivo Black Display"/>
              </a:rPr>
              <a:t>12</a:t>
            </a:r>
          </a:p>
        </p:txBody>
      </p:sp>
      <p:sp>
        <p:nvSpPr>
          <p:cNvPr id="23" name="creative-stat-rule-3">
            <a:extLst xmlns:a="http://schemas.openxmlformats.org/drawingml/2006/main">
              <a:ext uri="{FF2B5EF4-FFF2-40B4-BE49-F238E27FC236}">
                <a16:creationId xmlns:a16="http://schemas.microsoft.com/office/drawing/2014/main" id="{C5893953-460D-4F2A-9833-FA8EA883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672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reative-stat-label-3">
            <a:extLst xmlns:a="http://schemas.openxmlformats.org/drawingml/2006/main">
              <a:ext uri="{FF2B5EF4-FFF2-40B4-BE49-F238E27FC236}">
                <a16:creationId xmlns:a16="http://schemas.microsoft.com/office/drawing/2014/main" id="{A6320735-48C8-4429-8D67-3904D385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148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EFE9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EFE9D9"/>
                </a:solidFill>
                <a:latin typeface="JetBrains Mono"/>
                <a:ea typeface="JetBrains Mono"/>
                <a:cs typeface="JetBrains Mono"/>
              </a:rPr>
              <a:t>DIRECTIONS</a:t>
            </a:r>
          </a:p>
        </p:txBody>
      </p:sp>
    </p:spTree>
    <p:extLst>
      <p:ext uri="{BB962C8B-B14F-4D97-AF65-F5344CB8AC3E}">
        <p14:creationId xmlns:p14="http://schemas.microsoft.com/office/powerpoint/2010/main" val="18398242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4DCC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reative-label-3">
            <a:extLst xmlns:a="http://schemas.openxmlformats.org/drawingml/2006/main">
              <a:ext uri="{FF2B5EF4-FFF2-40B4-BE49-F238E27FC236}">
                <a16:creationId xmlns:a16="http://schemas.microsoft.com/office/drawing/2014/main" id="{4B817169-D967-41CD-9212-F876D734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MAKE SOMETHING STRANGE / CREATIVE LOOP</a:t>
            </a:r>
          </a:p>
        </p:txBody>
      </p:sp>
      <p:sp>
        <p:nvSpPr>
          <p:cNvPr id="2" name="creative-page-3">
            <a:extLst xmlns:a="http://schemas.openxmlformats.org/drawingml/2006/main">
              <a:ext uri="{FF2B5EF4-FFF2-40B4-BE49-F238E27FC236}">
                <a16:creationId xmlns:a16="http://schemas.microsoft.com/office/drawing/2014/main" id="{C1D8C61C-3706-4A38-A457-49515A17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29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03 / 08</a:t>
            </a:r>
          </a:p>
        </p:txBody>
      </p:sp>
      <p:sp>
        <p:nvSpPr>
          <p:cNvPr id="3" name="creative-foot-3">
            <a:extLst xmlns:a="http://schemas.openxmlformats.org/drawingml/2006/main">
              <a:ext uri="{FF2B5EF4-FFF2-40B4-BE49-F238E27FC236}">
                <a16:creationId xmlns:a16="http://schemas.microsoft.com/office/drawing/2014/main" id="{50C6520A-D02D-44C6-9872-9E0207B5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CREATIVE MODE · KEEP THE WEIRD PART</a:t>
            </a:r>
          </a:p>
        </p:txBody>
      </p:sp>
      <p:sp>
        <p:nvSpPr>
          <p:cNvPr id="4" name="creative-flow-title">
            <a:extLst xmlns:a="http://schemas.openxmlformats.org/drawingml/2006/main">
              <a:ext uri="{FF2B5EF4-FFF2-40B4-BE49-F238E27FC236}">
                <a16:creationId xmlns:a16="http://schemas.microsoft.com/office/drawing/2014/main" id="{5831EC22-2930-4636-A7E4-B0482FB9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90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390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FOUR MOVES.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390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390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ONE CREATIVE LOOP.</a:t>
            </a:r>
          </a:p>
        </p:txBody>
      </p:sp>
      <p:sp>
        <p:nvSpPr>
          <p:cNvPr id="5" name="creative-flow-0-shadow">
            <a:extLst xmlns:a="http://schemas.openxmlformats.org/drawingml/2006/main">
              <a:ext uri="{FF2B5EF4-FFF2-40B4-BE49-F238E27FC236}">
                <a16:creationId xmlns:a16="http://schemas.microsoft.com/office/drawing/2014/main" id="{77FA8E60-A1E4-4869-BF3A-06D6C602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2552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reative-flow-0-surface">
            <a:extLst xmlns:a="http://schemas.openxmlformats.org/drawingml/2006/main">
              <a:ext uri="{FF2B5EF4-FFF2-40B4-BE49-F238E27FC236}">
                <a16:creationId xmlns:a16="http://schemas.microsoft.com/office/drawing/2014/main" id="{A3B1ED28-9BAD-4695-9CAB-8EFBC359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14600"/>
            <a:ext cx="2552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 w="38100">
            <a:solidFill>
              <a:srgbClr val="0F0F0F"/>
            </a:solidFill>
            <a:prstDash val="solid"/>
          </a:ln>
        </p:spPr>
      </p:sp>
      <p:sp>
        <p:nvSpPr>
          <p:cNvPr id="7" name="creative-flow-num-0">
            <a:extLst xmlns:a="http://schemas.openxmlformats.org/drawingml/2006/main">
              <a:ext uri="{FF2B5EF4-FFF2-40B4-BE49-F238E27FC236}">
                <a16:creationId xmlns:a16="http://schemas.microsoft.com/office/drawing/2014/main" id="{18E25E17-4661-41D3-8BFB-04328AFF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0" i="0">
                <a:solidFill>
                  <a:srgbClr val="EFE9D9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3450" b="0" i="0">
                <a:solidFill>
                  <a:srgbClr val="EFE9D9"/>
                </a:solidFill>
                <a:latin typeface="Archivo Black Display"/>
                <a:ea typeface="Archivo Black Display"/>
                <a:cs typeface="Archivo Black Display"/>
              </a:rPr>
              <a:t>01</a:t>
            </a:r>
          </a:p>
        </p:txBody>
      </p:sp>
      <p:sp>
        <p:nvSpPr>
          <p:cNvPr id="8" name="creative-flow-title-0">
            <a:extLst xmlns:a="http://schemas.openxmlformats.org/drawingml/2006/main">
              <a:ext uri="{FF2B5EF4-FFF2-40B4-BE49-F238E27FC236}">
                <a16:creationId xmlns:a16="http://schemas.microsoft.com/office/drawing/2014/main" id="{93455254-6AFC-4E6D-8D28-CE6F0230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EFE9D9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2250" b="0" i="0">
                <a:solidFill>
                  <a:srgbClr val="EFE9D9"/>
                </a:solidFill>
                <a:latin typeface="Archivo Black Display"/>
                <a:ea typeface="Archivo Black Display"/>
                <a:cs typeface="Archivo Black Display"/>
              </a:rPr>
              <a:t>COLLECT</a:t>
            </a:r>
          </a:p>
        </p:txBody>
      </p:sp>
      <p:sp>
        <p:nvSpPr>
          <p:cNvPr id="9" name="creative-flow-rule-0">
            <a:extLst xmlns:a="http://schemas.openxmlformats.org/drawingml/2006/main">
              <a:ext uri="{FF2B5EF4-FFF2-40B4-BE49-F238E27FC236}">
                <a16:creationId xmlns:a16="http://schemas.microsoft.com/office/drawing/2014/main" id="{4AE273E4-4AD7-45C3-B0C2-64903D3D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reative-flow-body-0">
            <a:extLst xmlns:a="http://schemas.openxmlformats.org/drawingml/2006/main">
              <a:ext uri="{FF2B5EF4-FFF2-40B4-BE49-F238E27FC236}">
                <a16:creationId xmlns:a16="http://schemas.microsoft.com/office/drawing/2014/main" id="{5DE1B4D2-54D3-434C-84B0-718EFF83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FE9D9"/>
                </a:solidFill>
                <a:latin typeface="Space Grotesk Text"/>
                <a:ea typeface="Space Grotesk Text"/>
                <a:cs typeface="Space Grotesk Text"/>
              </a:defRPr>
            </a:pPr>
            <a:r>
              <a:rPr sz="1350" b="0" i="0">
                <a:solidFill>
                  <a:srgbClr val="EFE9D9"/>
                </a:solidFill>
                <a:latin typeface="Space Grotesk Text"/>
                <a:ea typeface="Space Grotesk Text"/>
                <a:cs typeface="Space Grotesk Text"/>
              </a:rPr>
              <a:t>Save sparks</a:t>
            </a:r>
          </a:p>
        </p:txBody>
      </p:sp>
      <p:sp>
        <p:nvSpPr>
          <p:cNvPr id="11" name="creative-flow-1-shadow">
            <a:extLst xmlns:a="http://schemas.openxmlformats.org/drawingml/2006/main">
              <a:ext uri="{FF2B5EF4-FFF2-40B4-BE49-F238E27FC236}">
                <a16:creationId xmlns:a16="http://schemas.microsoft.com/office/drawing/2014/main" id="{27B2F275-D746-43E0-BE2E-1BACDE4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90800"/>
            <a:ext cx="2552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reative-flow-1-surface">
            <a:extLst xmlns:a="http://schemas.openxmlformats.org/drawingml/2006/main">
              <a:ext uri="{FF2B5EF4-FFF2-40B4-BE49-F238E27FC236}">
                <a16:creationId xmlns:a16="http://schemas.microsoft.com/office/drawing/2014/main" id="{34368FBA-6BC7-45B6-9B7F-713C940F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14600"/>
            <a:ext cx="2552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A8"/>
          </a:solidFill>
          <a:ln xmlns:a="http://schemas.openxmlformats.org/drawingml/2006/main" w="38100">
            <a:solidFill>
              <a:srgbClr val="0F0F0F"/>
            </a:solidFill>
            <a:prstDash val="solid"/>
          </a:ln>
        </p:spPr>
      </p:sp>
      <p:sp>
        <p:nvSpPr>
          <p:cNvPr id="13" name="creative-flow-num-1">
            <a:extLst xmlns:a="http://schemas.openxmlformats.org/drawingml/2006/main">
              <a:ext uri="{FF2B5EF4-FFF2-40B4-BE49-F238E27FC236}">
                <a16:creationId xmlns:a16="http://schemas.microsoft.com/office/drawing/2014/main" id="{6612D7DD-9647-4DEE-B18B-13A4F83C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81300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34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02</a:t>
            </a:r>
          </a:p>
        </p:txBody>
      </p:sp>
      <p:sp>
        <p:nvSpPr>
          <p:cNvPr id="14" name="creative-flow-title-1">
            <a:extLst xmlns:a="http://schemas.openxmlformats.org/drawingml/2006/main">
              <a:ext uri="{FF2B5EF4-FFF2-40B4-BE49-F238E27FC236}">
                <a16:creationId xmlns:a16="http://schemas.microsoft.com/office/drawing/2014/main" id="{C38027CF-4D9A-49E6-99D1-C50E4C84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3380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22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COLLIDE</a:t>
            </a:r>
          </a:p>
        </p:txBody>
      </p:sp>
      <p:sp>
        <p:nvSpPr>
          <p:cNvPr id="15" name="creative-flow-rule-1">
            <a:extLst xmlns:a="http://schemas.openxmlformats.org/drawingml/2006/main">
              <a:ext uri="{FF2B5EF4-FFF2-40B4-BE49-F238E27FC236}">
                <a16:creationId xmlns:a16="http://schemas.microsoft.com/office/drawing/2014/main" id="{3D2BBC1D-CA4E-45C8-BFDF-BEDD89EC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19600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reative-flow-body-1">
            <a:extLst xmlns:a="http://schemas.openxmlformats.org/drawingml/2006/main">
              <a:ext uri="{FF2B5EF4-FFF2-40B4-BE49-F238E27FC236}">
                <a16:creationId xmlns:a16="http://schemas.microsoft.com/office/drawing/2014/main" id="{5C8E0BE6-A48E-44D2-AE3D-F2BFC32E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8630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0F0F"/>
                </a:solidFill>
                <a:latin typeface="Space Grotesk Text"/>
                <a:ea typeface="Space Grotesk Text"/>
                <a:cs typeface="Space Grotesk Text"/>
              </a:defRPr>
            </a:pPr>
            <a:r>
              <a:rPr sz="1350" b="0" i="0">
                <a:solidFill>
                  <a:srgbClr val="0F0F0F"/>
                </a:solidFill>
                <a:latin typeface="Space Grotesk Text"/>
                <a:ea typeface="Space Grotesk Text"/>
                <a:cs typeface="Space Grotesk Text"/>
              </a:rPr>
              <a:t>Combine wrong answers</a:t>
            </a:r>
          </a:p>
        </p:txBody>
      </p:sp>
      <p:sp>
        <p:nvSpPr>
          <p:cNvPr id="17" name="creative-flow-2-shadow">
            <a:extLst xmlns:a="http://schemas.openxmlformats.org/drawingml/2006/main">
              <a:ext uri="{FF2B5EF4-FFF2-40B4-BE49-F238E27FC236}">
                <a16:creationId xmlns:a16="http://schemas.microsoft.com/office/drawing/2014/main" id="{5D1D7D2B-9553-4024-89C5-9AA66FC6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90800"/>
            <a:ext cx="2552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reative-flow-2-surface">
            <a:extLst xmlns:a="http://schemas.openxmlformats.org/drawingml/2006/main">
              <a:ext uri="{FF2B5EF4-FFF2-40B4-BE49-F238E27FC236}">
                <a16:creationId xmlns:a16="http://schemas.microsoft.com/office/drawing/2014/main" id="{76F362DF-A877-4D8C-A284-8FD314B1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14600"/>
            <a:ext cx="2552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518"/>
          </a:solidFill>
          <a:ln xmlns:a="http://schemas.openxmlformats.org/drawingml/2006/main" w="38100">
            <a:solidFill>
              <a:srgbClr val="0F0F0F"/>
            </a:solidFill>
            <a:prstDash val="solid"/>
          </a:ln>
        </p:spPr>
      </p:sp>
      <p:sp>
        <p:nvSpPr>
          <p:cNvPr id="19" name="creative-flow-num-2">
            <a:extLst xmlns:a="http://schemas.openxmlformats.org/drawingml/2006/main">
              <a:ext uri="{FF2B5EF4-FFF2-40B4-BE49-F238E27FC236}">
                <a16:creationId xmlns:a16="http://schemas.microsoft.com/office/drawing/2014/main" id="{0079637A-8C8E-49B8-AA31-EC215022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34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03</a:t>
            </a:r>
          </a:p>
        </p:txBody>
      </p:sp>
      <p:sp>
        <p:nvSpPr>
          <p:cNvPr id="20" name="creative-flow-title-2">
            <a:extLst xmlns:a="http://schemas.openxmlformats.org/drawingml/2006/main">
              <a:ext uri="{FF2B5EF4-FFF2-40B4-BE49-F238E27FC236}">
                <a16:creationId xmlns:a16="http://schemas.microsoft.com/office/drawing/2014/main" id="{43298049-497E-4B83-A21C-B585E30B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3380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22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DISTORT</a:t>
            </a:r>
          </a:p>
        </p:txBody>
      </p:sp>
      <p:sp>
        <p:nvSpPr>
          <p:cNvPr id="21" name="creative-flow-rule-2">
            <a:extLst xmlns:a="http://schemas.openxmlformats.org/drawingml/2006/main">
              <a:ext uri="{FF2B5EF4-FFF2-40B4-BE49-F238E27FC236}">
                <a16:creationId xmlns:a16="http://schemas.microsoft.com/office/drawing/2014/main" id="{BAEC1610-96FE-4330-9035-92D3ECEA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reative-flow-body-2">
            <a:extLst xmlns:a="http://schemas.openxmlformats.org/drawingml/2006/main">
              <a:ext uri="{FF2B5EF4-FFF2-40B4-BE49-F238E27FC236}">
                <a16:creationId xmlns:a16="http://schemas.microsoft.com/office/drawing/2014/main" id="{01726430-5556-4389-A227-E5732600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0F0F"/>
                </a:solidFill>
                <a:latin typeface="Space Grotesk Text"/>
                <a:ea typeface="Space Grotesk Text"/>
                <a:cs typeface="Space Grotesk Text"/>
              </a:defRPr>
            </a:pPr>
            <a:r>
              <a:rPr sz="1350" b="0" i="0">
                <a:solidFill>
                  <a:srgbClr val="0F0F0F"/>
                </a:solidFill>
                <a:latin typeface="Space Grotesk Text"/>
                <a:ea typeface="Space Grotesk Text"/>
                <a:cs typeface="Space Grotesk Text"/>
              </a:rPr>
              <a:t>Push the odd detail</a:t>
            </a:r>
          </a:p>
        </p:txBody>
      </p:sp>
      <p:sp>
        <p:nvSpPr>
          <p:cNvPr id="23" name="creative-flow-3-shadow">
            <a:extLst xmlns:a="http://schemas.openxmlformats.org/drawingml/2006/main">
              <a:ext uri="{FF2B5EF4-FFF2-40B4-BE49-F238E27FC236}">
                <a16:creationId xmlns:a16="http://schemas.microsoft.com/office/drawing/2014/main" id="{B4EBDEE1-CC51-43CA-860F-1AE41E7B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90800"/>
            <a:ext cx="2552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reative-flow-3-surface">
            <a:extLst xmlns:a="http://schemas.openxmlformats.org/drawingml/2006/main">
              <a:ext uri="{FF2B5EF4-FFF2-40B4-BE49-F238E27FC236}">
                <a16:creationId xmlns:a16="http://schemas.microsoft.com/office/drawing/2014/main" id="{69D60935-54B4-412A-BB5A-0EE84F60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14600"/>
            <a:ext cx="2552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1F"/>
          </a:solidFill>
          <a:ln xmlns:a="http://schemas.openxmlformats.org/drawingml/2006/main" w="38100">
            <a:solidFill>
              <a:srgbClr val="0F0F0F"/>
            </a:solidFill>
            <a:prstDash val="solid"/>
          </a:ln>
        </p:spPr>
      </p:sp>
      <p:sp>
        <p:nvSpPr>
          <p:cNvPr id="25" name="creative-flow-num-3">
            <a:extLst xmlns:a="http://schemas.openxmlformats.org/drawingml/2006/main">
              <a:ext uri="{FF2B5EF4-FFF2-40B4-BE49-F238E27FC236}">
                <a16:creationId xmlns:a16="http://schemas.microsoft.com/office/drawing/2014/main" id="{CD865E92-F6F2-4051-A22B-CB5EC7CA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81300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0" i="0">
                <a:solidFill>
                  <a:srgbClr val="EFE9D9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3450" b="0" i="0">
                <a:solidFill>
                  <a:srgbClr val="EFE9D9"/>
                </a:solidFill>
                <a:latin typeface="Archivo Black Display"/>
                <a:ea typeface="Archivo Black Display"/>
                <a:cs typeface="Archivo Black Display"/>
              </a:rPr>
              <a:t>04</a:t>
            </a:r>
          </a:p>
        </p:txBody>
      </p:sp>
      <p:sp>
        <p:nvSpPr>
          <p:cNvPr id="26" name="creative-flow-title-3">
            <a:extLst xmlns:a="http://schemas.openxmlformats.org/drawingml/2006/main">
              <a:ext uri="{FF2B5EF4-FFF2-40B4-BE49-F238E27FC236}">
                <a16:creationId xmlns:a16="http://schemas.microsoft.com/office/drawing/2014/main" id="{8D18E3F0-163A-43D2-A5E7-0A42A8A8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3380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EFE9D9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2250" b="0" i="0">
                <a:solidFill>
                  <a:srgbClr val="EFE9D9"/>
                </a:solidFill>
                <a:latin typeface="Archivo Black Display"/>
                <a:ea typeface="Archivo Black Display"/>
                <a:cs typeface="Archivo Black Display"/>
              </a:rPr>
              <a:t>SHIP</a:t>
            </a:r>
          </a:p>
        </p:txBody>
      </p:sp>
      <p:sp>
        <p:nvSpPr>
          <p:cNvPr id="27" name="creative-flow-rule-3">
            <a:extLst xmlns:a="http://schemas.openxmlformats.org/drawingml/2006/main">
              <a:ext uri="{FF2B5EF4-FFF2-40B4-BE49-F238E27FC236}">
                <a16:creationId xmlns:a16="http://schemas.microsoft.com/office/drawing/2014/main" id="{32AE490C-5B22-4079-8FA7-1D07717D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19600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reative-flow-body-3">
            <a:extLst xmlns:a="http://schemas.openxmlformats.org/drawingml/2006/main">
              <a:ext uri="{FF2B5EF4-FFF2-40B4-BE49-F238E27FC236}">
                <a16:creationId xmlns:a16="http://schemas.microsoft.com/office/drawing/2014/main" id="{D5058985-CA5E-489F-81F8-03624740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8630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FE9D9"/>
                </a:solidFill>
                <a:latin typeface="Space Grotesk Text"/>
                <a:ea typeface="Space Grotesk Text"/>
                <a:cs typeface="Space Grotesk Text"/>
              </a:defRPr>
            </a:pPr>
            <a:r>
              <a:rPr sz="1350" b="0" i="0">
                <a:solidFill>
                  <a:srgbClr val="EFE9D9"/>
                </a:solidFill>
                <a:latin typeface="Space Grotesk Text"/>
                <a:ea typeface="Space Grotesk Text"/>
                <a:cs typeface="Space Grotesk Text"/>
              </a:rPr>
              <a:t>Finish before doubt</a:t>
            </a:r>
          </a:p>
        </p:txBody>
      </p:sp>
    </p:spTree>
    <p:extLst>
      <p:ext uri="{BB962C8B-B14F-4D97-AF65-F5344CB8AC3E}">
        <p14:creationId xmlns:p14="http://schemas.microsoft.com/office/powerpoint/2010/main" val="9601636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FE9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reative-label-4">
            <a:extLst xmlns:a="http://schemas.openxmlformats.org/drawingml/2006/main">
              <a:ext uri="{FF2B5EF4-FFF2-40B4-BE49-F238E27FC236}">
                <a16:creationId xmlns:a16="http://schemas.microsoft.com/office/drawing/2014/main" id="{BDC6B005-9EAE-46CC-A9B2-80863C9F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MAKE SOMETHING STRANGE / IDEA CURVE</a:t>
            </a:r>
          </a:p>
        </p:txBody>
      </p:sp>
      <p:sp>
        <p:nvSpPr>
          <p:cNvPr id="2" name="creative-page-4">
            <a:extLst xmlns:a="http://schemas.openxmlformats.org/drawingml/2006/main">
              <a:ext uri="{FF2B5EF4-FFF2-40B4-BE49-F238E27FC236}">
                <a16:creationId xmlns:a16="http://schemas.microsoft.com/office/drawing/2014/main" id="{1BCD90FB-D5D4-4DF7-BF00-5540ABCE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29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04 / 08</a:t>
            </a:r>
          </a:p>
        </p:txBody>
      </p:sp>
      <p:sp>
        <p:nvSpPr>
          <p:cNvPr id="3" name="creative-foot-4">
            <a:extLst xmlns:a="http://schemas.openxmlformats.org/drawingml/2006/main">
              <a:ext uri="{FF2B5EF4-FFF2-40B4-BE49-F238E27FC236}">
                <a16:creationId xmlns:a16="http://schemas.microsoft.com/office/drawing/2014/main" id="{628CE1F6-C1ED-4483-AD20-165ED140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CREATIVE MODE · KEEP THE WEIRD PART</a:t>
            </a:r>
          </a:p>
        </p:txBody>
      </p:sp>
      <p:sp>
        <p:nvSpPr>
          <p:cNvPr id="4" name="creative-chart-title">
            <a:extLst xmlns:a="http://schemas.openxmlformats.org/drawingml/2006/main">
              <a:ext uri="{FF2B5EF4-FFF2-40B4-BE49-F238E27FC236}">
                <a16:creationId xmlns:a16="http://schemas.microsoft.com/office/drawing/2014/main" id="{53D341F0-EE31-4A75-B38C-45A3548F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619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60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360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THE IDEA GETS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360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360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BETTER AFTER WEIRD.</a:t>
            </a:r>
          </a:p>
        </p:txBody>
      </p:sp>
      <p:sp>
        <p:nvSpPr>
          <p:cNvPr id="5" name="creative-chart-card-shadow">
            <a:extLst xmlns:a="http://schemas.openxmlformats.org/drawingml/2006/main">
              <a:ext uri="{FF2B5EF4-FFF2-40B4-BE49-F238E27FC236}">
                <a16:creationId xmlns:a16="http://schemas.microsoft.com/office/drawing/2014/main" id="{BF31D3DC-D850-417E-A2B7-AB93F609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78486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reative-chart-card-surface">
            <a:extLst xmlns:a="http://schemas.openxmlformats.org/drawingml/2006/main">
              <a:ext uri="{FF2B5EF4-FFF2-40B4-BE49-F238E27FC236}">
                <a16:creationId xmlns:a16="http://schemas.microsoft.com/office/drawing/2014/main" id="{61577399-01B9-462A-A93B-2265D7F7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57450"/>
            <a:ext cx="78486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9"/>
          </a:solidFill>
          <a:ln xmlns:a="http://schemas.openxmlformats.org/drawingml/2006/main" w="38100">
            <a:solidFill>
              <a:srgbClr val="0F0F0F"/>
            </a:solidFill>
            <a:prstDash val="solid"/>
          </a:ln>
        </p:spPr>
      </p:sp>
      <p:graphicFrame>
        <p:nvGraphicFramePr>
          <p:cNvPr id="19" name="creative-native-capability-chart"/>
          <p:cNvGraphicFramePr/>
          <p:nvPr/>
        </p:nvGraphicFramePr>
        <p:xfrm>
          <a:off xmlns:a="http://schemas.openxmlformats.org/drawingml/2006/main" x="781050" y="2724150"/>
          <a:ext xmlns:a="http://schemas.openxmlformats.org/drawingml/2006/main" cx="7277100" cy="2971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1518a731d44ae5"/>
          </a:graphicData>
        </a:graphic>
      </p:graphicFrame>
      <p:sp>
        <p:nvSpPr>
          <p:cNvPr id="8" name="creative-chart-callout-shadow">
            <a:extLst xmlns:a="http://schemas.openxmlformats.org/drawingml/2006/main">
              <a:ext uri="{FF2B5EF4-FFF2-40B4-BE49-F238E27FC236}">
                <a16:creationId xmlns:a16="http://schemas.microsoft.com/office/drawing/2014/main" id="{0A67E0C5-CBD5-41B0-8BE7-FC8002A2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33650"/>
            <a:ext cx="29337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reative-chart-callout-surface">
            <a:extLst xmlns:a="http://schemas.openxmlformats.org/drawingml/2006/main">
              <a:ext uri="{FF2B5EF4-FFF2-40B4-BE49-F238E27FC236}">
                <a16:creationId xmlns:a16="http://schemas.microsoft.com/office/drawing/2014/main" id="{D0980BE2-CE27-4360-8207-E5C3D1D6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29337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518"/>
          </a:solidFill>
          <a:ln xmlns:a="http://schemas.openxmlformats.org/drawingml/2006/main" w="38100">
            <a:solidFill>
              <a:srgbClr val="0F0F0F"/>
            </a:solidFill>
            <a:prstDash val="solid"/>
          </a:ln>
        </p:spPr>
      </p:sp>
      <p:sp>
        <p:nvSpPr>
          <p:cNvPr id="10" name="creative-chart-callout-kicker">
            <a:extLst xmlns:a="http://schemas.openxmlformats.org/drawingml/2006/main">
              <a:ext uri="{FF2B5EF4-FFF2-40B4-BE49-F238E27FC236}">
                <a16:creationId xmlns:a16="http://schemas.microsoft.com/office/drawing/2014/main" id="{EAE0BF05-9C5B-41D4-95FC-B6D9DE07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813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CREATIVE SIGNAL</a:t>
            </a:r>
          </a:p>
        </p:txBody>
      </p:sp>
      <p:sp>
        <p:nvSpPr>
          <p:cNvPr id="11" name="creative-chart-callout-title">
            <a:extLst xmlns:a="http://schemas.openxmlformats.org/drawingml/2006/main">
              <a:ext uri="{FF2B5EF4-FFF2-40B4-BE49-F238E27FC236}">
                <a16:creationId xmlns:a16="http://schemas.microsoft.com/office/drawing/2014/main" id="{4D79EC58-6114-4916-9829-5A9EE67A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52800"/>
            <a:ext cx="2286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375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3375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MIX.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3375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3375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BREAK.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3375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3375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KEEP.</a:t>
            </a:r>
          </a:p>
        </p:txBody>
      </p:sp>
      <p:sp>
        <p:nvSpPr>
          <p:cNvPr id="12" name="creative-chart-callout-body">
            <a:extLst xmlns:a="http://schemas.openxmlformats.org/drawingml/2006/main">
              <a:ext uri="{FF2B5EF4-FFF2-40B4-BE49-F238E27FC236}">
                <a16:creationId xmlns:a16="http://schemas.microsoft.com/office/drawing/2014/main" id="{D2A4432A-6B56-40C5-A227-A2BDABF6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197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0F0F"/>
                </a:solidFill>
                <a:latin typeface="Space Grotesk Text"/>
                <a:ea typeface="Space Grotesk Text"/>
                <a:cs typeface="Space Grotesk Text"/>
              </a:defRPr>
            </a:pPr>
            <a:r>
              <a:rPr sz="1350" b="0" i="0">
                <a:solidFill>
                  <a:srgbClr val="0F0F0F"/>
                </a:solidFill>
                <a:latin typeface="Space Grotesk Text"/>
                <a:ea typeface="Space Grotesk Text"/>
                <a:cs typeface="Space Grotesk Text"/>
              </a:rPr>
              <a:t>A concept score—not a rulebook.</a:t>
            </a:r>
          </a:p>
        </p:txBody>
      </p:sp>
    </p:spTree>
    <p:extLst>
      <p:ext uri="{BB962C8B-B14F-4D97-AF65-F5344CB8AC3E}">
        <p14:creationId xmlns:p14="http://schemas.microsoft.com/office/powerpoint/2010/main" val="1433796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4DCC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reative-label-5">
            <a:extLst xmlns:a="http://schemas.openxmlformats.org/drawingml/2006/main">
              <a:ext uri="{FF2B5EF4-FFF2-40B4-BE49-F238E27FC236}">
                <a16:creationId xmlns:a16="http://schemas.microsoft.com/office/drawing/2014/main" id="{E08016C9-6A06-41F5-887F-1DFB2416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MAKE SOMETHING STRANGE / CONSTRAINT MATRIX</a:t>
            </a:r>
          </a:p>
        </p:txBody>
      </p:sp>
      <p:sp>
        <p:nvSpPr>
          <p:cNvPr id="2" name="creative-page-5">
            <a:extLst xmlns:a="http://schemas.openxmlformats.org/drawingml/2006/main">
              <a:ext uri="{FF2B5EF4-FFF2-40B4-BE49-F238E27FC236}">
                <a16:creationId xmlns:a16="http://schemas.microsoft.com/office/drawing/2014/main" id="{2573E5BC-2712-494C-ADE4-69B0CD6C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29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05 / 08</a:t>
            </a:r>
          </a:p>
        </p:txBody>
      </p:sp>
      <p:sp>
        <p:nvSpPr>
          <p:cNvPr id="3" name="creative-foot-5">
            <a:extLst xmlns:a="http://schemas.openxmlformats.org/drawingml/2006/main">
              <a:ext uri="{FF2B5EF4-FFF2-40B4-BE49-F238E27FC236}">
                <a16:creationId xmlns:a16="http://schemas.microsoft.com/office/drawing/2014/main" id="{E1C34FCE-6B73-4703-99F1-3B919EAD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CREATIVE MODE · KEEP THE WEIRD PART</a:t>
            </a:r>
          </a:p>
        </p:txBody>
      </p:sp>
      <p:sp>
        <p:nvSpPr>
          <p:cNvPr id="4" name="creative-table-title">
            <a:extLst xmlns:a="http://schemas.openxmlformats.org/drawingml/2006/main">
              <a:ext uri="{FF2B5EF4-FFF2-40B4-BE49-F238E27FC236}">
                <a16:creationId xmlns:a16="http://schemas.microsoft.com/office/drawing/2014/main" id="{CBDD4CC0-6B3A-4B41-8DDD-B60974D0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40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CHOOSE YOUR CONSTRAINT.</a:t>
            </a:r>
          </a:p>
        </p:txBody>
      </p:sp>
      <p:sp>
        <p:nvSpPr>
          <p:cNvPr id="5" name="creative-table-card-shadow">
            <a:extLst xmlns:a="http://schemas.openxmlformats.org/drawingml/2006/main">
              <a:ext uri="{FF2B5EF4-FFF2-40B4-BE49-F238E27FC236}">
                <a16:creationId xmlns:a16="http://schemas.microsoft.com/office/drawing/2014/main" id="{1C606308-6E12-4927-B2A5-ACBA8879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111823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reative-table-card-surface">
            <a:extLst xmlns:a="http://schemas.openxmlformats.org/drawingml/2006/main">
              <a:ext uri="{FF2B5EF4-FFF2-40B4-BE49-F238E27FC236}">
                <a16:creationId xmlns:a16="http://schemas.microsoft.com/office/drawing/2014/main" id="{A035000D-A0E7-4E3C-9205-7C2D678F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111823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9"/>
          </a:solidFill>
          <a:ln xmlns:a="http://schemas.openxmlformats.org/drawingml/2006/main" w="38100">
            <a:solidFill>
              <a:srgbClr val="0F0F0F"/>
            </a:solidFill>
            <a:prstDash val="solid"/>
          </a:ln>
        </p:spPr>
      </p:sp>
      <p:graphicFrame>
        <p:nvGraphicFramePr>
          <p:cNvPr id="14" name="creative-native-feature-matrix"/>
          <p:cNvGraphicFramePr/>
          <p:nvPr/>
        </p:nvGraphicFramePr>
        <p:xfrm>
          <a:off xmlns:a="http://schemas.openxmlformats.org/drawingml/2006/main" x="742950" y="2266950"/>
          <a:ext xmlns:a="http://schemas.openxmlformats.org/drawingml/2006/main" cx="106870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32849"/>
                <a:gridCol w="2218067"/>
                <a:gridCol w="2218067"/>
                <a:gridCol w="2218067"/>
              </a:tblGrid>
              <a:tr h="666750"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EFE9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Constraint</a:t>
                      </a:r>
                    </a:p>
                  </a:txBody>
                  <a:tcPr marL="91440" marR="91440" marT="45720" marB="45720">
                    <a:solidFill>
                      <a:srgbClr val="0F0F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EFE9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Comfort</a:t>
                      </a:r>
                    </a:p>
                  </a:txBody>
                  <a:tcPr marL="91440" marR="91440" marT="45720" marB="45720">
                    <a:solidFill>
                      <a:srgbClr val="0F0F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EFE9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Surprise</a:t>
                      </a:r>
                    </a:p>
                  </a:txBody>
                  <a:tcPr marL="91440" marR="91440" marT="45720" marB="45720">
                    <a:solidFill>
                      <a:srgbClr val="0F0F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EFE9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Energy</a:t>
                      </a:r>
                    </a:p>
                  </a:txBody>
                  <a:tcPr marL="91440" marR="91440" marT="45720" marB="45720">
                    <a:solidFill>
                      <a:srgbClr val="0F0F0F"/>
                    </a:solidFill>
                  </a:tcPr>
                </a:tc>
              </a:tr>
              <a:tr h="666750">
                <a:tc>
                  <a:txBody>
                    <a:bodyPr anchor="ctr"/>
                    <a:lstStyle/>
                    <a:p>
                      <a:pPr algn="l"/>
                      <a:r>
                        <a:rPr sz="1275">
                          <a:solidFill>
                            <a:srgbClr val="0F0F0F"/>
                          </a:solidFill>
                          <a:latin typeface="Space Grotesk Text"/>
                          <a:ea typeface="Space Grotesk Text"/>
                          <a:cs typeface="Space Grotesk Text"/>
                        </a:rPr>
                        <a:t>One color</a:t>
                      </a:r>
                    </a:p>
                  </a:txBody>
                  <a:tcPr marL="91440" marR="91440" marT="45720" marB="45720">
                    <a:solidFill>
                      <a:srgbClr val="EFE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EFE9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1F8A4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E85A1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EFE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EFE9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1F8A4C"/>
                    </a:solidFill>
                  </a:tcPr>
                </a:tc>
              </a:tr>
              <a:tr h="666750">
                <a:tc>
                  <a:txBody>
                    <a:bodyPr anchor="ctr"/>
                    <a:lstStyle/>
                    <a:p>
                      <a:pPr algn="l"/>
                      <a:r>
                        <a:rPr sz="1275">
                          <a:solidFill>
                            <a:srgbClr val="0F0F0F"/>
                          </a:solidFill>
                          <a:latin typeface="Space Grotesk Text"/>
                          <a:ea typeface="Space Grotesk Text"/>
                          <a:cs typeface="Space Grotesk Text"/>
                        </a:rPr>
                        <a:t>No undo</a:t>
                      </a:r>
                    </a:p>
                  </a:txBody>
                  <a:tcPr marL="91440" marR="91440" marT="45720" marB="45720">
                    <a:solidFill>
                      <a:srgbClr val="E4DCC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E85A1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E4DCC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EFE9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1F8A4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EFE9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1F8A4C"/>
                    </a:solidFill>
                  </a:tcPr>
                </a:tc>
              </a:tr>
              <a:tr h="666750">
                <a:tc>
                  <a:txBody>
                    <a:bodyPr anchor="ctr"/>
                    <a:lstStyle/>
                    <a:p>
                      <a:pPr algn="l"/>
                      <a:r>
                        <a:rPr sz="1275">
                          <a:solidFill>
                            <a:srgbClr val="0F0F0F"/>
                          </a:solidFill>
                          <a:latin typeface="Space Grotesk Text"/>
                          <a:ea typeface="Space Grotesk Text"/>
                          <a:cs typeface="Space Grotesk Text"/>
                        </a:rPr>
                        <a:t>Wrong tool</a:t>
                      </a:r>
                    </a:p>
                  </a:txBody>
                  <a:tcPr marL="91440" marR="91440" marT="45720" marB="45720">
                    <a:solidFill>
                      <a:srgbClr val="EFE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E85A1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EFE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EFE9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1F8A4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EFE9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1F8A4C"/>
                    </a:solidFill>
                  </a:tcPr>
                </a:tc>
              </a:tr>
              <a:tr h="666750">
                <a:tc>
                  <a:txBody>
                    <a:bodyPr anchor="ctr"/>
                    <a:lstStyle/>
                    <a:p>
                      <a:pPr algn="l"/>
                      <a:r>
                        <a:rPr sz="1275">
                          <a:solidFill>
                            <a:srgbClr val="0F0F0F"/>
                          </a:solidFill>
                          <a:latin typeface="Space Grotesk Text"/>
                          <a:ea typeface="Space Grotesk Text"/>
                          <a:cs typeface="Space Grotesk Text"/>
                        </a:rPr>
                        <a:t>Perfect brief</a:t>
                      </a:r>
                    </a:p>
                  </a:txBody>
                  <a:tcPr marL="91440" marR="91440" marT="45720" marB="45720">
                    <a:solidFill>
                      <a:srgbClr val="E4DCC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EFE9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1F8A4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E85A1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E4DCC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>
                          <a:solidFill>
                            <a:srgbClr val="E85A1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E4DCC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08590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FE9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reative-label-6">
            <a:extLst xmlns:a="http://schemas.openxmlformats.org/drawingml/2006/main">
              <a:ext uri="{FF2B5EF4-FFF2-40B4-BE49-F238E27FC236}">
                <a16:creationId xmlns:a16="http://schemas.microsoft.com/office/drawing/2014/main" id="{B9F6B6EC-757E-497C-A720-8EF79C34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MAKE SOMETHING STRANGE / CONSTRAINT TEST</a:t>
            </a:r>
          </a:p>
        </p:txBody>
      </p:sp>
      <p:sp>
        <p:nvSpPr>
          <p:cNvPr id="2" name="creative-page-6">
            <a:extLst xmlns:a="http://schemas.openxmlformats.org/drawingml/2006/main">
              <a:ext uri="{FF2B5EF4-FFF2-40B4-BE49-F238E27FC236}">
                <a16:creationId xmlns:a16="http://schemas.microsoft.com/office/drawing/2014/main" id="{4ED11798-BF01-4033-9DAA-553FE63B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29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06 / 08</a:t>
            </a:r>
          </a:p>
        </p:txBody>
      </p:sp>
      <p:sp>
        <p:nvSpPr>
          <p:cNvPr id="3" name="creative-foot-6">
            <a:extLst xmlns:a="http://schemas.openxmlformats.org/drawingml/2006/main">
              <a:ext uri="{FF2B5EF4-FFF2-40B4-BE49-F238E27FC236}">
                <a16:creationId xmlns:a16="http://schemas.microsoft.com/office/drawing/2014/main" id="{9EFA7A9D-5FF3-4863-8A69-6CA1DCC3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CREATIVE MODE · KEEP THE WEIRD PART</a:t>
            </a:r>
          </a:p>
        </p:txBody>
      </p:sp>
      <p:sp>
        <p:nvSpPr>
          <p:cNvPr id="4" name="creative-test-title">
            <a:extLst xmlns:a="http://schemas.openxmlformats.org/drawingml/2006/main">
              <a:ext uri="{FF2B5EF4-FFF2-40B4-BE49-F238E27FC236}">
                <a16:creationId xmlns:a16="http://schemas.microsoft.com/office/drawing/2014/main" id="{1279E489-1F0B-44F8-A489-6495B7C5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7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37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CONSTRAINTS CREATE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37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37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MORE OPTIONS.</a:t>
            </a:r>
          </a:p>
        </p:txBody>
      </p:sp>
      <p:sp>
        <p:nvSpPr>
          <p:cNvPr id="5" name="creative-test-chart-card-shadow">
            <a:extLst xmlns:a="http://schemas.openxmlformats.org/drawingml/2006/main">
              <a:ext uri="{FF2B5EF4-FFF2-40B4-BE49-F238E27FC236}">
                <a16:creationId xmlns:a16="http://schemas.microsoft.com/office/drawing/2014/main" id="{BF297645-0A25-4224-98DE-CE3E4408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79629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reative-test-chart-card-surface">
            <a:extLst xmlns:a="http://schemas.openxmlformats.org/drawingml/2006/main">
              <a:ext uri="{FF2B5EF4-FFF2-40B4-BE49-F238E27FC236}">
                <a16:creationId xmlns:a16="http://schemas.microsoft.com/office/drawing/2014/main" id="{78A0CD89-1B72-4EA5-93E3-1C573758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24100"/>
            <a:ext cx="79629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9"/>
          </a:solidFill>
          <a:ln xmlns:a="http://schemas.openxmlformats.org/drawingml/2006/main" w="38100">
            <a:solidFill>
              <a:srgbClr val="0F0F0F"/>
            </a:solidFill>
            <a:prstDash val="solid"/>
          </a:ln>
        </p:spPr>
      </p:sp>
      <p:graphicFrame>
        <p:nvGraphicFramePr>
          <p:cNvPr id="20" name="creative-constraint-test-chart"/>
          <p:cNvGraphicFramePr/>
          <p:nvPr/>
        </p:nvGraphicFramePr>
        <p:xfrm>
          <a:off xmlns:a="http://schemas.openxmlformats.org/drawingml/2006/main" x="781050" y="2647950"/>
          <a:ext xmlns:a="http://schemas.openxmlformats.org/drawingml/2006/main" cx="7372350" cy="2990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d75acb9c8e43a0"/>
          </a:graphicData>
        </a:graphic>
      </p:graphicFrame>
      <p:sp>
        <p:nvSpPr>
          <p:cNvPr id="8" name="creative-test-callout-shadow">
            <a:extLst xmlns:a="http://schemas.openxmlformats.org/drawingml/2006/main">
              <a:ext uri="{FF2B5EF4-FFF2-40B4-BE49-F238E27FC236}">
                <a16:creationId xmlns:a16="http://schemas.microsoft.com/office/drawing/2014/main" id="{394DE64D-5599-4067-A32B-50A7C92E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28194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reative-test-callout-surface">
            <a:extLst xmlns:a="http://schemas.openxmlformats.org/drawingml/2006/main">
              <a:ext uri="{FF2B5EF4-FFF2-40B4-BE49-F238E27FC236}">
                <a16:creationId xmlns:a16="http://schemas.microsoft.com/office/drawing/2014/main" id="{0EF72271-CAD2-423F-8417-AB7FF5D3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28194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1F"/>
          </a:solidFill>
          <a:ln xmlns:a="http://schemas.openxmlformats.org/drawingml/2006/main" w="38100">
            <a:solidFill>
              <a:srgbClr val="0F0F0F"/>
            </a:solidFill>
            <a:prstDash val="solid"/>
          </a:ln>
        </p:spPr>
      </p:sp>
      <p:sp>
        <p:nvSpPr>
          <p:cNvPr id="10" name="creative-test-kicker">
            <a:extLst xmlns:a="http://schemas.openxmlformats.org/drawingml/2006/main">
              <a:ext uri="{FF2B5EF4-FFF2-40B4-BE49-F238E27FC236}">
                <a16:creationId xmlns:a16="http://schemas.microsoft.com/office/drawing/2014/main" id="{33A87C84-4528-407F-8FB4-143331E0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47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EFE9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 i="0">
                <a:solidFill>
                  <a:srgbClr val="EFE9D9"/>
                </a:solidFill>
                <a:latin typeface="JetBrains Mono"/>
                <a:ea typeface="JetBrains Mono"/>
                <a:cs typeface="JetBrains Mono"/>
              </a:rPr>
              <a:t>BEST PROMPT</a:t>
            </a:r>
          </a:p>
        </p:txBody>
      </p:sp>
      <p:sp>
        <p:nvSpPr>
          <p:cNvPr id="11" name="creative-test-value">
            <a:extLst xmlns:a="http://schemas.openxmlformats.org/drawingml/2006/main">
              <a:ext uri="{FF2B5EF4-FFF2-40B4-BE49-F238E27FC236}">
                <a16:creationId xmlns:a16="http://schemas.microsoft.com/office/drawing/2014/main" id="{32C4D74E-138C-44F5-923E-B9538352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86100"/>
            <a:ext cx="2114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0" i="0">
                <a:solidFill>
                  <a:srgbClr val="EFE9D9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5400" b="0" i="0">
                <a:solidFill>
                  <a:srgbClr val="EFE9D9"/>
                </a:solidFill>
                <a:latin typeface="Archivo Black Display"/>
                <a:ea typeface="Archivo Black Display"/>
                <a:cs typeface="Archivo Black Display"/>
              </a:rPr>
              <a:t>22</a:t>
            </a:r>
          </a:p>
        </p:txBody>
      </p:sp>
      <p:sp>
        <p:nvSpPr>
          <p:cNvPr id="12" name="creative-test-copy">
            <a:extLst xmlns:a="http://schemas.openxmlformats.org/drawingml/2006/main">
              <a:ext uri="{FF2B5EF4-FFF2-40B4-BE49-F238E27FC236}">
                <a16:creationId xmlns:a16="http://schemas.microsoft.com/office/drawing/2014/main" id="{A581E7FB-98B2-4100-A951-B17B9116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14800"/>
            <a:ext cx="2133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 i="0">
                <a:solidFill>
                  <a:srgbClr val="EFE9D9"/>
                </a:solidFill>
                <a:latin typeface="Space Grotesk Text"/>
                <a:ea typeface="Space Grotesk Text"/>
                <a:cs typeface="Space Grotesk Text"/>
              </a:defRPr>
            </a:pPr>
            <a:r>
              <a:rPr sz="1800" b="0" i="0">
                <a:solidFill>
                  <a:srgbClr val="EFE9D9"/>
                </a:solidFill>
                <a:latin typeface="Space Grotesk Text"/>
                <a:ea typeface="Space Grotesk Text"/>
                <a:cs typeface="Space Grotesk Text"/>
              </a:rPr>
              <a:t>concepts from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 i="0">
                <a:solidFill>
                  <a:srgbClr val="EFE9D9"/>
                </a:solidFill>
                <a:latin typeface="Space Grotesk Text"/>
                <a:ea typeface="Space Grotesk Text"/>
                <a:cs typeface="Space Grotesk Text"/>
              </a:defRPr>
            </a:pPr>
            <a:r>
              <a:rPr sz="1800" b="0" i="0">
                <a:solidFill>
                  <a:srgbClr val="EFE9D9"/>
                </a:solidFill>
                <a:latin typeface="Space Grotesk Text"/>
                <a:ea typeface="Space Grotesk Text"/>
                <a:cs typeface="Space Grotesk Text"/>
              </a:rPr>
              <a:t>using the wrong tool</a:t>
            </a:r>
          </a:p>
        </p:txBody>
      </p:sp>
      <p:sp>
        <p:nvSpPr>
          <p:cNvPr id="13" name="creative-test-footnote">
            <a:extLst xmlns:a="http://schemas.openxmlformats.org/drawingml/2006/main">
              <a:ext uri="{FF2B5EF4-FFF2-40B4-BE49-F238E27FC236}">
                <a16:creationId xmlns:a16="http://schemas.microsoft.com/office/drawing/2014/main" id="{B7079DB7-2A4B-4C08-A4F1-768BA530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314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 i="0">
                <a:solidFill>
                  <a:srgbClr val="EFE9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EFE9D9"/>
                </a:solidFill>
                <a:latin typeface="JetBrains Mono"/>
                <a:ea typeface="JetBrains Mono"/>
                <a:cs typeface="JetBrains Mono"/>
              </a:rPr>
              <a:t>Illustrative studio test · four 90-minute sessions</a:t>
            </a:r>
          </a:p>
        </p:txBody>
      </p:sp>
    </p:spTree>
    <p:extLst>
      <p:ext uri="{BB962C8B-B14F-4D97-AF65-F5344CB8AC3E}">
        <p14:creationId xmlns:p14="http://schemas.microsoft.com/office/powerpoint/2010/main" val="214133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4DCC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reative-label-7">
            <a:extLst xmlns:a="http://schemas.openxmlformats.org/drawingml/2006/main">
              <a:ext uri="{FF2B5EF4-FFF2-40B4-BE49-F238E27FC236}">
                <a16:creationId xmlns:a16="http://schemas.microsoft.com/office/drawing/2014/main" id="{7C35E196-D5BF-438E-B3D2-DF1C83E3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MAKE SOMETHING STRANGE / SPRINT SCORECARD</a:t>
            </a:r>
          </a:p>
        </p:txBody>
      </p:sp>
      <p:sp>
        <p:nvSpPr>
          <p:cNvPr id="2" name="creative-page-7">
            <a:extLst xmlns:a="http://schemas.openxmlformats.org/drawingml/2006/main">
              <a:ext uri="{FF2B5EF4-FFF2-40B4-BE49-F238E27FC236}">
                <a16:creationId xmlns:a16="http://schemas.microsoft.com/office/drawing/2014/main" id="{4D1B9CCC-ABE8-4656-AC6D-7E415D6A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29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07 / 08</a:t>
            </a:r>
          </a:p>
        </p:txBody>
      </p:sp>
      <p:sp>
        <p:nvSpPr>
          <p:cNvPr id="3" name="creative-foot-7">
            <a:extLst xmlns:a="http://schemas.openxmlformats.org/drawingml/2006/main">
              <a:ext uri="{FF2B5EF4-FFF2-40B4-BE49-F238E27FC236}">
                <a16:creationId xmlns:a16="http://schemas.microsoft.com/office/drawing/2014/main" id="{64F40739-5343-4274-A440-09A0AE33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CREATIVE MODE · KEEP THE WEIRD PART</a:t>
            </a:r>
          </a:p>
        </p:txBody>
      </p:sp>
      <p:sp>
        <p:nvSpPr>
          <p:cNvPr id="4" name="creative-sprint-title">
            <a:extLst xmlns:a="http://schemas.openxmlformats.org/drawingml/2006/main">
              <a:ext uri="{FF2B5EF4-FFF2-40B4-BE49-F238E27FC236}">
                <a16:creationId xmlns:a16="http://schemas.microsoft.com/office/drawing/2014/main" id="{4AC95C05-14FA-4326-9FBF-9B142F76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40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THE 90-MINUTE SPRINT.</a:t>
            </a:r>
          </a:p>
        </p:txBody>
      </p:sp>
      <p:sp>
        <p:nvSpPr>
          <p:cNvPr id="5" name="creative-sprint-card-shadow">
            <a:extLst xmlns:a="http://schemas.openxmlformats.org/drawingml/2006/main">
              <a:ext uri="{FF2B5EF4-FFF2-40B4-BE49-F238E27FC236}">
                <a16:creationId xmlns:a16="http://schemas.microsoft.com/office/drawing/2014/main" id="{6955749D-9ECE-461A-A9DE-8758DC95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111823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reative-sprint-card-surface">
            <a:extLst xmlns:a="http://schemas.openxmlformats.org/drawingml/2006/main">
              <a:ext uri="{FF2B5EF4-FFF2-40B4-BE49-F238E27FC236}">
                <a16:creationId xmlns:a16="http://schemas.microsoft.com/office/drawing/2014/main" id="{3CAFED2E-090F-4E87-B965-8131C17D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111823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9"/>
          </a:solidFill>
          <a:ln xmlns:a="http://schemas.openxmlformats.org/drawingml/2006/main" w="38100">
            <a:solidFill>
              <a:srgbClr val="0F0F0F"/>
            </a:solidFill>
            <a:prstDash val="solid"/>
          </a:ln>
        </p:spPr>
      </p:sp>
      <p:graphicFrame>
        <p:nvGraphicFramePr>
          <p:cNvPr id="14" name="creative-sprint-table"/>
          <p:cNvGraphicFramePr/>
          <p:nvPr/>
        </p:nvGraphicFramePr>
        <p:xfrm>
          <a:off xmlns:a="http://schemas.openxmlformats.org/drawingml/2006/main" x="742950" y="2266950"/>
          <a:ext xmlns:a="http://schemas.openxmlformats.org/drawingml/2006/main" cx="106870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32849"/>
                <a:gridCol w="2218067"/>
                <a:gridCol w="2218067"/>
                <a:gridCol w="2218067"/>
              </a:tblGrid>
              <a:tr h="666750">
                <a:tc>
                  <a:txBody>
                    <a:bodyPr anchor="ctr"/>
                    <a:lstStyle/>
                    <a:p>
                      <a:pPr algn="l"/>
                      <a:r>
                        <a:rPr sz="1275">
                          <a:solidFill>
                            <a:srgbClr val="EFE9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Phase</a:t>
                      </a:r>
                    </a:p>
                  </a:txBody>
                  <a:tcPr marL="91440" marR="91440" marT="45720" marB="45720">
                    <a:solidFill>
                      <a:srgbClr val="0F0F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EFE9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Minutes</a:t>
                      </a:r>
                    </a:p>
                  </a:txBody>
                  <a:tcPr marL="91440" marR="91440" marT="45720" marB="45720">
                    <a:solidFill>
                      <a:srgbClr val="0F0F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EFE9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Output</a:t>
                      </a:r>
                    </a:p>
                  </a:txBody>
                  <a:tcPr marL="91440" marR="91440" marT="45720" marB="45720">
                    <a:solidFill>
                      <a:srgbClr val="0F0F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EFE9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0F0F0F"/>
                    </a:solidFill>
                  </a:tcPr>
                </a:tc>
              </a:tr>
              <a:tr h="666750">
                <a:tc>
                  <a:txBody>
                    <a:bodyPr anchor="ctr"/>
                    <a:lstStyle/>
                    <a:p>
                      <a:pPr algn="l"/>
                      <a:r>
                        <a:rPr sz="1350">
                          <a:solidFill>
                            <a:srgbClr val="0F0F0F"/>
                          </a:solidFill>
                          <a:latin typeface="Space Grotesk Text"/>
                          <a:ea typeface="Space Grotesk Text"/>
                          <a:cs typeface="Space Grotesk Text"/>
                        </a:rPr>
                        <a:t>Collect</a:t>
                      </a:r>
                    </a:p>
                  </a:txBody>
                  <a:tcPr marL="91440" marR="91440" marT="45720" marB="45720">
                    <a:solidFill>
                      <a:srgbClr val="EFE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0F0F0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EFE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0F0F0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12 references</a:t>
                      </a:r>
                    </a:p>
                  </a:txBody>
                  <a:tcPr marL="91440" marR="91440" marT="45720" marB="45720">
                    <a:solidFill>
                      <a:srgbClr val="EFE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0F0F0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Keep 4</a:t>
                      </a:r>
                    </a:p>
                  </a:txBody>
                  <a:tcPr marL="91440" marR="91440" marT="45720" marB="45720">
                    <a:solidFill>
                      <a:srgbClr val="EFE9D9"/>
                    </a:solidFill>
                  </a:tcPr>
                </a:tc>
              </a:tr>
              <a:tr h="666750">
                <a:tc>
                  <a:txBody>
                    <a:bodyPr anchor="ctr"/>
                    <a:lstStyle/>
                    <a:p>
                      <a:pPr algn="l"/>
                      <a:r>
                        <a:rPr sz="1350">
                          <a:solidFill>
                            <a:srgbClr val="0F0F0F"/>
                          </a:solidFill>
                          <a:latin typeface="Space Grotesk Text"/>
                          <a:ea typeface="Space Grotesk Text"/>
                          <a:cs typeface="Space Grotesk Text"/>
                        </a:rPr>
                        <a:t>Collide</a:t>
                      </a:r>
                    </a:p>
                  </a:txBody>
                  <a:tcPr marL="91440" marR="91440" marT="45720" marB="45720">
                    <a:solidFill>
                      <a:srgbClr val="E4DCC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0F0F0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E4DCC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0F0F0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8 combinations</a:t>
                      </a:r>
                    </a:p>
                  </a:txBody>
                  <a:tcPr marL="91440" marR="91440" marT="45720" marB="45720">
                    <a:solidFill>
                      <a:srgbClr val="E4DCC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0F0F0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Keep 3</a:t>
                      </a:r>
                    </a:p>
                  </a:txBody>
                  <a:tcPr marL="91440" marR="91440" marT="45720" marB="45720">
                    <a:solidFill>
                      <a:srgbClr val="E4DCC4"/>
                    </a:solidFill>
                  </a:tcPr>
                </a:tc>
              </a:tr>
              <a:tr h="666750">
                <a:tc>
                  <a:txBody>
                    <a:bodyPr anchor="ctr"/>
                    <a:lstStyle/>
                    <a:p>
                      <a:pPr algn="l"/>
                      <a:r>
                        <a:rPr sz="1350">
                          <a:solidFill>
                            <a:srgbClr val="0F0F0F"/>
                          </a:solidFill>
                          <a:latin typeface="Space Grotesk Text"/>
                          <a:ea typeface="Space Grotesk Text"/>
                          <a:cs typeface="Space Grotesk Text"/>
                        </a:rPr>
                        <a:t>Distort</a:t>
                      </a:r>
                    </a:p>
                  </a:txBody>
                  <a:tcPr marL="91440" marR="91440" marT="45720" marB="45720">
                    <a:solidFill>
                      <a:srgbClr val="EFE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0F0F0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EFE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0F0F0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5 directions</a:t>
                      </a:r>
                    </a:p>
                  </a:txBody>
                  <a:tcPr marL="91440" marR="91440" marT="45720" marB="45720">
                    <a:solidFill>
                      <a:srgbClr val="EFE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0F0F0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Keep 2</a:t>
                      </a:r>
                    </a:p>
                  </a:txBody>
                  <a:tcPr marL="91440" marR="91440" marT="45720" marB="45720">
                    <a:solidFill>
                      <a:srgbClr val="EFE9D9"/>
                    </a:solidFill>
                  </a:tcPr>
                </a:tc>
              </a:tr>
              <a:tr h="666750">
                <a:tc>
                  <a:txBody>
                    <a:bodyPr anchor="ctr"/>
                    <a:lstStyle/>
                    <a:p>
                      <a:pPr algn="l"/>
                      <a:r>
                        <a:rPr sz="1350">
                          <a:solidFill>
                            <a:srgbClr val="0F0F0F"/>
                          </a:solidFill>
                          <a:latin typeface="Space Grotesk Text"/>
                          <a:ea typeface="Space Grotesk Text"/>
                          <a:cs typeface="Space Grotesk Text"/>
                        </a:rPr>
                        <a:t>Ship</a:t>
                      </a:r>
                    </a:p>
                  </a:txBody>
                  <a:tcPr marL="91440" marR="91440" marT="45720" marB="45720">
                    <a:solidFill>
                      <a:srgbClr val="E4DCC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0F0F0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E4DCC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0F0F0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 prototype</a:t>
                      </a:r>
                    </a:p>
                  </a:txBody>
                  <a:tcPr marL="91440" marR="91440" marT="45720" marB="45720">
                    <a:solidFill>
                      <a:srgbClr val="E4DCC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0F0F0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Commit</a:t>
                      </a:r>
                    </a:p>
                  </a:txBody>
                  <a:tcPr marL="91440" marR="91440" marT="45720" marB="45720">
                    <a:solidFill>
                      <a:srgbClr val="E4DCC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0692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06CA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reative-close-kicker">
            <a:extLst xmlns:a="http://schemas.openxmlformats.org/drawingml/2006/main">
              <a:ext uri="{FF2B5EF4-FFF2-40B4-BE49-F238E27FC236}">
                <a16:creationId xmlns:a16="http://schemas.microsoft.com/office/drawing/2014/main" id="{59490D53-5361-4D4D-8022-5CA172C1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THE LAST RULE</a:t>
            </a:r>
          </a:p>
        </p:txBody>
      </p:sp>
      <p:sp>
        <p:nvSpPr>
          <p:cNvPr id="2" name="creative-close-title">
            <a:extLst xmlns:a="http://schemas.openxmlformats.org/drawingml/2006/main">
              <a:ext uri="{FF2B5EF4-FFF2-40B4-BE49-F238E27FC236}">
                <a16:creationId xmlns:a16="http://schemas.microsoft.com/office/drawing/2014/main" id="{E02EE11D-2A02-41D0-BE63-3F49FE24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866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61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61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MAKE IT ODD.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61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615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>MAKE IT REAL.</a:t>
            </a:r>
          </a:p>
        </p:txBody>
      </p:sp>
      <p:sp>
        <p:nvSpPr>
          <p:cNvPr id="3" name="creative-close-tag-shadow">
            <a:extLst xmlns:a="http://schemas.openxmlformats.org/drawingml/2006/main">
              <a:ext uri="{FF2B5EF4-FFF2-40B4-BE49-F238E27FC236}">
                <a16:creationId xmlns:a16="http://schemas.microsoft.com/office/drawing/2014/main" id="{D147301C-8C86-496D-91F1-68AD5FB4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6057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reative-close-tag-surface">
            <a:extLst xmlns:a="http://schemas.openxmlformats.org/drawingml/2006/main">
              <a:ext uri="{FF2B5EF4-FFF2-40B4-BE49-F238E27FC236}">
                <a16:creationId xmlns:a16="http://schemas.microsoft.com/office/drawing/2014/main" id="{4D70221F-5A4F-4A85-B105-F0A5B2A5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67200"/>
            <a:ext cx="6057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518"/>
          </a:solidFill>
          <a:ln xmlns:a="http://schemas.openxmlformats.org/drawingml/2006/main" w="38100">
            <a:solidFill>
              <a:srgbClr val="0F0F0F"/>
            </a:solidFill>
            <a:prstDash val="solid"/>
          </a:ln>
        </p:spPr>
      </p:sp>
      <p:sp>
        <p:nvSpPr>
          <p:cNvPr id="5" name="creative-close-tag-text">
            <a:extLst xmlns:a="http://schemas.openxmlformats.org/drawingml/2006/main">
              <a:ext uri="{FF2B5EF4-FFF2-40B4-BE49-F238E27FC236}">
                <a16:creationId xmlns:a16="http://schemas.microsoft.com/office/drawing/2014/main" id="{9CC3C74C-3B0D-4858-A4CA-CADBD557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556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START UGLY · KEEP GOING · SHIP ALIVE</a:t>
            </a:r>
          </a:p>
        </p:txBody>
      </p:sp>
      <p:sp>
        <p:nvSpPr>
          <p:cNvPr id="6" name="creative-close-circle">
            <a:extLst xmlns:a="http://schemas.openxmlformats.org/drawingml/2006/main">
              <a:ext uri="{FF2B5EF4-FFF2-40B4-BE49-F238E27FC236}">
                <a16:creationId xmlns:a16="http://schemas.microsoft.com/office/drawing/2014/main" id="{B0F4BCE8-341E-4736-ACAF-10098F70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7640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A1F"/>
          </a:solidFill>
          <a:ln xmlns:a="http://schemas.openxmlformats.org/drawingml/2006/main" w="38100">
            <a:solidFill>
              <a:srgbClr val="0F0F0F"/>
            </a:solidFill>
            <a:prstDash val="solid"/>
          </a:ln>
        </p:spPr>
      </p:sp>
      <p:sp>
        <p:nvSpPr>
          <p:cNvPr id="7" name="creative-close-circle-text">
            <a:extLst xmlns:a="http://schemas.openxmlformats.org/drawingml/2006/main">
              <a:ext uri="{FF2B5EF4-FFF2-40B4-BE49-F238E27FC236}">
                <a16:creationId xmlns:a16="http://schemas.microsoft.com/office/drawing/2014/main" id="{5DAA4457-5877-47E0-A4DE-6865E94C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76400"/>
            <a:ext cx="17526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950" b="0" i="0">
                <a:solidFill>
                  <a:srgbClr val="EFE9D9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4950" b="0" i="0">
                <a:solidFill>
                  <a:srgbClr val="EFE9D9"/>
                </a:solidFill>
                <a:latin typeface="Archivo Black Display"/>
                <a:ea typeface="Archivo Black Display"/>
                <a:cs typeface="Archivo Black Display"/>
              </a:rPr>
              <a:t>08</a:t>
            </a:r>
          </a:p>
        </p:txBody>
      </p:sp>
      <p:sp>
        <p:nvSpPr>
          <p:cNvPr id="8" name="creative-close-attribution">
            <a:extLst xmlns:a="http://schemas.openxmlformats.org/drawingml/2006/main">
              <a:ext uri="{FF2B5EF4-FFF2-40B4-BE49-F238E27FC236}">
                <a16:creationId xmlns:a16="http://schemas.microsoft.com/office/drawing/2014/main" id="{961EC7B8-E560-4B20-89A2-A59F926E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714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>CREATIVE MODE · ZARA ZHANG · MIT LICENSE</a:t>
            </a:r>
          </a:p>
        </p:txBody>
      </p:sp>
    </p:spTree>
    <p:extLst>
      <p:ext uri="{BB962C8B-B14F-4D97-AF65-F5344CB8AC3E}">
        <p14:creationId xmlns:p14="http://schemas.microsoft.com/office/powerpoint/2010/main" val="2038585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2026-07-25T15:50:50.1350000Z</dcterms:created>
  <dcterms:modified xsi:type="dcterms:W3CDTF">2026-07-25T15:50:50.1350000Z</dcterms:modified>
</coreProperties>
</file>