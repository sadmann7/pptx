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4555ddd9c6234f34" /><Relationship Type="http://schemas.openxmlformats.org/officeDocument/2006/relationships/extended-properties" Target="/docProps/app.xml" Id="R3f77ca68b6364336" /><Relationship Type="http://schemas.openxmlformats.org/officeDocument/2006/relationships/officeDocument" Target="/ppt/presentation.xml" Id="R0802fb2345ff4a59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91e9a32b95a340cb"/>
  </p:sldMasterIdLst>
  <p:notesMasterIdLst>
    <p:notesMasterId xmlns:r="http://schemas.openxmlformats.org/officeDocument/2006/relationships" r:id="Rea194488fc934a1f"/>
  </p:notesMasterIdLst>
  <p:sldIdLst>
    <p:sldId xmlns:r="http://schemas.openxmlformats.org/officeDocument/2006/relationships" id="256" r:id="R49d84c65328d4d08"/>
    <p:sldId xmlns:r="http://schemas.openxmlformats.org/officeDocument/2006/relationships" id="257" r:id="R51d9d777d6c54375"/>
    <p:sldId xmlns:r="http://schemas.openxmlformats.org/officeDocument/2006/relationships" id="258" r:id="R66c548a6925a40d5"/>
    <p:sldId xmlns:r="http://schemas.openxmlformats.org/officeDocument/2006/relationships" id="259" r:id="R29a04277f0d646f5"/>
    <p:sldId xmlns:r="http://schemas.openxmlformats.org/officeDocument/2006/relationships" id="260" r:id="R3adf4ed8b4a04443"/>
    <p:sldId xmlns:r="http://schemas.openxmlformats.org/officeDocument/2006/relationships" id="261" r:id="Rcb6cae7229094480"/>
    <p:sldId xmlns:r="http://schemas.openxmlformats.org/officeDocument/2006/relationships" id="262" r:id="R43a610c2d4094327"/>
    <p:sldId xmlns:r="http://schemas.openxmlformats.org/officeDocument/2006/relationships" id="263" r:id="R6b7bbe2a300140a1"/>
  </p:sldIdLst>
  <p:sldSz cx="12192000" cy="6858000"/>
  <p:notesSz cx="6858000" cy="9144000"/>
  <p:embeddedFontLst>
    <p:embeddedFont>
      <p:font typeface="Barlow Broadside"/>
      <p:regular r:id="rId201314"/>
    </p:embeddedFont>
    <p:embeddedFont>
      <p:font typeface="Barlow Broadside Text"/>
      <p:regular r:id="rId201315"/>
    </p:embeddedFont>
    <p:embeddedFont>
      <p:font typeface="IBM Plex Mono Labels"/>
      <p:regular r:id="rId201316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45fb28f803714cf5"/><Relationship Type="http://schemas.openxmlformats.org/officeDocument/2006/relationships/slideMaster" Target="/ppt/slideMasters/slideMaster1.xml" Id="R91e9a32b95a340cb"/><Relationship Type="http://schemas.openxmlformats.org/officeDocument/2006/relationships/notesMaster" Target="/ppt/notesMasters/notesMaster1.xml" Id="Rea194488fc934a1f"/><Relationship Type="http://schemas.openxmlformats.org/officeDocument/2006/relationships/presProps" Target="/ppt/presProps.xml" Id="Raef06846ba784fdf"/><Relationship Type="http://schemas.openxmlformats.org/officeDocument/2006/relationships/tableStyles" Target="/ppt/tableStyles.xml" Id="Re4cfe3bcfde74a52"/><Relationship Type="http://schemas.openxmlformats.org/officeDocument/2006/relationships/slide" Target="/ppt/slides/slide1.xml" Id="R49d84c65328d4d08"/><Relationship Type="http://schemas.openxmlformats.org/officeDocument/2006/relationships/slide" Target="/ppt/slides/slide2.xml" Id="R51d9d777d6c54375"/><Relationship Type="http://schemas.openxmlformats.org/officeDocument/2006/relationships/slide" Target="/ppt/slides/slide3.xml" Id="R66c548a6925a40d5"/><Relationship Type="http://schemas.openxmlformats.org/officeDocument/2006/relationships/slide" Target="/ppt/slides/slide4.xml" Id="R29a04277f0d646f5"/><Relationship Type="http://schemas.openxmlformats.org/officeDocument/2006/relationships/slide" Target="/ppt/slides/slide5.xml" Id="R3adf4ed8b4a04443"/><Relationship Type="http://schemas.openxmlformats.org/officeDocument/2006/relationships/slide" Target="/ppt/slides/slide6.xml" Id="Rcb6cae7229094480"/><Relationship Type="http://schemas.openxmlformats.org/officeDocument/2006/relationships/slide" Target="/ppt/slides/slide7.xml" Id="R43a610c2d4094327"/><Relationship Type="http://schemas.openxmlformats.org/officeDocument/2006/relationships/slide" Target="/ppt/slides/slide8.xml" Id="R6b7bbe2a300140a1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9feebdb91fdf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356d4e4a55e34fad" /><Relationship Type="http://schemas.openxmlformats.org/officeDocument/2006/relationships/notesMaster" Target="/ppt/notesMasters/notesMaster1.xml" Id="Ra7ee2452738747c7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5388e3d6e2b643d7" /><Relationship Type="http://schemas.openxmlformats.org/officeDocument/2006/relationships/notesMaster" Target="/ppt/notesMasters/notesMaster1.xml" Id="Reab11bb497754dd3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c41ba065dec74674" /><Relationship Type="http://schemas.openxmlformats.org/officeDocument/2006/relationships/notesMaster" Target="/ppt/notesMasters/notesMaster1.xml" Id="R85099b146c584441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dd0ce70e8d244c27" /><Relationship Type="http://schemas.openxmlformats.org/officeDocument/2006/relationships/notesMaster" Target="/ppt/notesMasters/notesMaster1.xml" Id="R5f5cc881c5d04167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6bd74621c0f94d2d" /><Relationship Type="http://schemas.openxmlformats.org/officeDocument/2006/relationships/notesMaster" Target="/ppt/notesMasters/notesMaster1.xml" Id="R5aff2662f14c4ea7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68bc356feead4a99" /><Relationship Type="http://schemas.openxmlformats.org/officeDocument/2006/relationships/notesMaster" Target="/ppt/notesMasters/notesMaster1.xml" Id="R9919bb53b5a04ea3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39905a62d5134fda" /><Relationship Type="http://schemas.openxmlformats.org/officeDocument/2006/relationships/notesMaster" Target="/ppt/notesMasters/notesMaster1.xml" Id="Rfc6348a7f4294119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bea03963a76c495d" /><Relationship Type="http://schemas.openxmlformats.org/officeDocument/2006/relationships/notesMaster" Target="/ppt/notesMasters/notesMaster1.xml" Id="Re6d4112ca329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interaction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medium-selection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field-trial data across 24 prototype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prototype field log. Completion means the task finished without facilitator help.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https://github.com/zarazhangrui/beautiful-html-templates/tree/main/templates/broadside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6ed621b087e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f72440cb0655494d" /><Relationship Type="http://schemas.openxmlformats.org/officeDocument/2006/relationships/slideLayout" Target="/ppt/slideLayouts/slideLayout1.xml" Id="R59e6f79b3cfa49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6f79b3cfa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522e123f2ab4711" /><Relationship Type="http://schemas.openxmlformats.org/officeDocument/2006/relationships/notesSlide" Target="/ppt/notesSlides/notesSlide1.xml" Id="Rdefcd8f39c554a4b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a1afe604a2a4fd3" /><Relationship Type="http://schemas.openxmlformats.org/officeDocument/2006/relationships/notesSlide" Target="/ppt/notesSlides/notesSlide2.xml" Id="Rc80a22d0d80c4f38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240ceec42c24764" /><Relationship Type="http://schemas.openxmlformats.org/officeDocument/2006/relationships/notesSlide" Target="/ppt/notesSlides/notesSlide3.xml" Id="Raee95865fdac410c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fddc269678b429a" /><Relationship Type="http://schemas.openxmlformats.org/officeDocument/2006/relationships/chart" Target="/ppt/slides/charts/chart1.xml" Id="R4d871d89674847f3" /><Relationship Type="http://schemas.openxmlformats.org/officeDocument/2006/relationships/notesSlide" Target="/ppt/notesSlides/notesSlide4.xml" Id="R94a9edb620724783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422ca51c8a5486f" /><Relationship Type="http://schemas.openxmlformats.org/officeDocument/2006/relationships/notesSlide" Target="/ppt/notesSlides/notesSlide5.xml" Id="R83507133347d4ae9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371b438a901452d" /><Relationship Type="http://schemas.openxmlformats.org/officeDocument/2006/relationships/chart" Target="/ppt/slides/charts/chart2.xml" Id="R0fb593b87b7742a9" /><Relationship Type="http://schemas.openxmlformats.org/officeDocument/2006/relationships/notesSlide" Target="/ppt/notesSlides/notesSlide6.xml" Id="R7cd3908c4ad1482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e0594cbd8bd412c" /><Relationship Type="http://schemas.openxmlformats.org/officeDocument/2006/relationships/notesSlide" Target="/ppt/notesSlides/notesSlide7.xml" Id="R60fa6af79d344a12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18c6c3d14394e65" /><Relationship Type="http://schemas.openxmlformats.org/officeDocument/2006/relationships/notesSlide" Target="/ppt/notesSlides/notesSlide8.xml" Id="Rc712228ef95043e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Passive</c:v>
          </c:tx>
          <c:spPr>
            <a:solidFill xmlns:a="http://schemas.openxmlformats.org/drawingml/2006/main">
              <a:srgbClr val="888880"/>
            </a:solidFill>
            <a:ln xmlns:a="http://schemas.openxmlformats.org/drawingml/2006/main" w="28575">
              <a:solidFill>
                <a:srgbClr val="888880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Screen</c:v>
              </c:pt>
              <c:pt idx="1">
                <c:v>Voice</c:v>
              </c:pt>
              <c:pt idx="2">
                <c:v>Gesture</c:v>
              </c:pt>
              <c:pt idx="3">
                <c:v>Object</c:v>
              </c:pt>
              <c:pt idx="4">
                <c:v>Space</c:v>
              </c:pt>
            </c:strLit>
          </c:cat>
          <c:val>
            <c:numLit>
              <c:formatCode>General</c:formatCode>
              <c:ptCount val="5"/>
              <c:pt idx="0">
                <c:v>92</c:v>
              </c:pt>
              <c:pt idx="1">
                <c:v>70</c:v>
              </c:pt>
              <c:pt idx="2">
                <c:v>42</c:v>
              </c:pt>
              <c:pt idx="3">
                <c:v>18</c:v>
              </c:pt>
              <c:pt idx="4">
                <c:v>10</c:v>
              </c:pt>
            </c:numLit>
          </c:val>
        </c:ser>
        <c:ser>
          <c:idx val="1"/>
          <c:order val="1"/>
          <c:tx>
            <c:v>Embodied</c:v>
          </c:tx>
          <c:spPr>
            <a:solidFill xmlns:a="http://schemas.openxmlformats.org/drawingml/2006/main">
              <a:srgbClr val="E85D26"/>
            </a:solidFill>
            <a:ln xmlns:a="http://schemas.openxmlformats.org/drawingml/2006/main" w="28575">
              <a:solidFill>
                <a:srgbClr val="E85D26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Screen</c:v>
              </c:pt>
              <c:pt idx="1">
                <c:v>Voice</c:v>
              </c:pt>
              <c:pt idx="2">
                <c:v>Gesture</c:v>
              </c:pt>
              <c:pt idx="3">
                <c:v>Object</c:v>
              </c:pt>
              <c:pt idx="4">
                <c:v>Space</c:v>
              </c:pt>
            </c:strLit>
          </c:cat>
          <c:val>
            <c:numLit>
              <c:formatCode>General</c:formatCode>
              <c:ptCount val="5"/>
              <c:pt idx="0">
                <c:v>25</c:v>
              </c:pt>
              <c:pt idx="1">
                <c:v>48</c:v>
              </c:pt>
              <c:pt idx="2">
                <c:v>72</c:v>
              </c:pt>
              <c:pt idx="3">
                <c:v>90</c:v>
              </c:pt>
              <c:pt idx="4">
                <c:v>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Barlow Broadside Text"/>
                <a:solidFill>
                  <a:srgbClr val="F0ECE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282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Barlow Broadside Text"/>
                <a:solidFill>
                  <a:srgbClr val="F0ECE5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1A1A18"/>
        </a:solidFill>
        <a:ln xmlns:a="http://schemas.openxmlformats.org/drawingml/2006/main" w="9525">
          <a:solidFill>
            <a:srgbClr val="28282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Barlow Broadside Text"/>
              <a:solidFill>
                <a:srgbClr val="F0ECE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1A1A18"/>
    </a:solidFill>
    <a:ln xmlns:a="http://schemas.openxmlformats.org/drawingml/2006/main" w="0">
      <a:solidFill>
        <a:srgbClr val="1A1A18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Completion</c:v>
          </c:tx>
          <c:spPr>
            <a:solidFill xmlns:a="http://schemas.openxmlformats.org/drawingml/2006/main">
              <a:srgbClr val="888880"/>
            </a:solidFill>
            <a:ln xmlns:a="http://schemas.openxmlformats.org/drawingml/2006/main" w="19050">
              <a:solidFill>
                <a:srgbClr val="888880"/>
              </a:solidFill>
              <a:prstDash val="solid"/>
            </a:ln>
          </c:spPr>
          <c:cat>
            <c:strLit>
              <c:ptCount val="4"/>
              <c:pt idx="0">
                <c:v>Screen</c:v>
              </c:pt>
              <c:pt idx="1">
                <c:v>Voice</c:v>
              </c:pt>
              <c:pt idx="2">
                <c:v>Gesture</c:v>
              </c:pt>
              <c:pt idx="3">
                <c:v>Object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86</c:v>
              </c:pt>
              <c:pt idx="2">
                <c:v>78</c:v>
              </c:pt>
              <c:pt idx="3">
                <c:v>74</c:v>
              </c:pt>
            </c:numLit>
          </c:val>
        </c:ser>
        <c:ser>
          <c:idx val="1"/>
          <c:order val="1"/>
          <c:tx>
            <c:v>Shared moments</c:v>
          </c:tx>
          <c:spPr>
            <a:solidFill xmlns:a="http://schemas.openxmlformats.org/drawingml/2006/main">
              <a:srgbClr val="E85D26"/>
            </a:solidFill>
            <a:ln xmlns:a="http://schemas.openxmlformats.org/drawingml/2006/main" w="19050">
              <a:solidFill>
                <a:srgbClr val="E85D26"/>
              </a:solidFill>
              <a:prstDash val="solid"/>
            </a:ln>
          </c:spPr>
          <c:cat>
            <c:strLit>
              <c:ptCount val="4"/>
              <c:pt idx="0">
                <c:v>Screen</c:v>
              </c:pt>
              <c:pt idx="1">
                <c:v>Voice</c:v>
              </c:pt>
              <c:pt idx="2">
                <c:v>Gesture</c:v>
              </c:pt>
              <c:pt idx="3">
                <c:v>Object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32</c:v>
              </c:pt>
              <c:pt idx="2">
                <c:v>56</c:v>
              </c:pt>
              <c:pt idx="3">
                <c:v>82</c:v>
              </c:pt>
            </c:numLit>
          </c:val>
        </c:ser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8282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Barlow Broadside Text"/>
                <a:solidFill>
                  <a:srgbClr val="F0ECE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282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Barlow Broadside Text"/>
                <a:solidFill>
                  <a:srgbClr val="F0ECE5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1A1A18"/>
        </a:solidFill>
        <a:ln xmlns:a="http://schemas.openxmlformats.org/drawingml/2006/main" w="9525">
          <a:solidFill>
            <a:srgbClr val="28282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Barlow Broadside Text"/>
              <a:solidFill>
                <a:srgbClr val="F0ECE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1A1A18"/>
    </a:solidFill>
    <a:ln xmlns:a="http://schemas.openxmlformats.org/drawingml/2006/main" w="0">
      <a:solidFill>
        <a:srgbClr val="1A1A1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cover-kicker">
            <a:extLst xmlns:a="http://schemas.openxmlformats.org/drawingml/2006/main">
              <a:ext uri="{FF2B5EF4-FFF2-40B4-BE49-F238E27FC236}">
                <a16:creationId xmlns:a16="http://schemas.microsoft.com/office/drawing/2014/main" id="{1C45DB8C-9296-47B3-BAF0-37A0F8E5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A SHORT THESIS / PHYSICAL COMPUTING</a:t>
            </a:r>
          </a:p>
        </p:txBody>
      </p:sp>
      <p:sp>
        <p:nvSpPr>
          <p:cNvPr id="2" name="broad-cover-title">
            <a:extLst xmlns:a="http://schemas.openxmlformats.org/drawingml/2006/main">
              <a:ext uri="{FF2B5EF4-FFF2-40B4-BE49-F238E27FC236}">
                <a16:creationId xmlns:a16="http://schemas.microsoft.com/office/drawing/2014/main" id="{9B4A694D-4634-43F5-B2C3-8F0A638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98107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81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81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the internet,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81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81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with texture.</a:t>
            </a:r>
          </a:p>
        </p:txBody>
      </p:sp>
      <p:sp>
        <p:nvSpPr>
          <p:cNvPr id="3" name="broad-cover-rule">
            <a:extLst xmlns:a="http://schemas.openxmlformats.org/drawingml/2006/main">
              <a:ext uri="{FF2B5EF4-FFF2-40B4-BE49-F238E27FC236}">
                <a16:creationId xmlns:a16="http://schemas.microsoft.com/office/drawing/2014/main" id="{6710B277-662A-45C0-8EAC-E7F0645A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cover-sub">
            <a:extLst xmlns:a="http://schemas.openxmlformats.org/drawingml/2006/main">
              <a:ext uri="{FF2B5EF4-FFF2-40B4-BE49-F238E27FC236}">
                <a16:creationId xmlns:a16="http://schemas.microsoft.com/office/drawing/2014/main" id="{6623B0C8-E42C-4D1C-9043-4B79EFF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0ECE5"/>
                </a:solidFill>
                <a:latin typeface="Barlow Broadside Text"/>
                <a:ea typeface="Barlow Broadside Text"/>
                <a:cs typeface="Barlow Broadside Text"/>
              </a:defRPr>
            </a:pPr>
            <a:r>
              <a:rPr sz="2250" b="0" i="0">
                <a:solidFill>
                  <a:srgbClr val="F0ECE5"/>
                </a:solidFill>
                <a:latin typeface="Barlow Broadside Text"/>
                <a:ea typeface="Barlow Broadside Text"/>
                <a:cs typeface="Barlow Broadside Text"/>
              </a:rPr>
              <a:t>less glass. more world.</a:t>
            </a:r>
          </a:p>
        </p:txBody>
      </p:sp>
      <p:sp>
        <p:nvSpPr>
          <p:cNvPr id="5" name="broad-cover-meta">
            <a:extLst xmlns:a="http://schemas.openxmlformats.org/drawingml/2006/main">
              <a:ext uri="{FF2B5EF4-FFF2-40B4-BE49-F238E27FC236}">
                <a16:creationId xmlns:a16="http://schemas.microsoft.com/office/drawing/2014/main" id="{64D54489-3918-4B48-A18E-E249E1A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88880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888880"/>
                </a:solidFill>
                <a:latin typeface="IBM Plex Mono Labels"/>
                <a:ea typeface="IBM Plex Mono Labels"/>
                <a:cs typeface="IBM Plex Mono Labels"/>
              </a:rPr>
              <a:t>PHYSICAL COMPUTING / OBJECTS / SPACE</a:t>
            </a:r>
          </a:p>
        </p:txBody>
      </p:sp>
    </p:spTree>
    <p:extLst>
      <p:ext uri="{BB962C8B-B14F-4D97-AF65-F5344CB8AC3E}">
        <p14:creationId xmlns:p14="http://schemas.microsoft.com/office/powerpoint/2010/main" val="297682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2">
            <a:extLst xmlns:a="http://schemas.openxmlformats.org/drawingml/2006/main">
              <a:ext uri="{FF2B5EF4-FFF2-40B4-BE49-F238E27FC236}">
                <a16:creationId xmlns:a16="http://schemas.microsoft.com/office/drawing/2014/main" id="{73B30605-227F-46BC-8CD7-608C5B60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11111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111111"/>
                </a:solidFill>
                <a:latin typeface="IBM Plex Mono Labels"/>
                <a:ea typeface="IBM Plex Mono Labels"/>
                <a:cs typeface="IBM Plex Mono Labels"/>
              </a:rPr>
              <a:t>DECLARATION</a:t>
            </a:r>
          </a:p>
        </p:txBody>
      </p:sp>
      <p:sp>
        <p:nvSpPr>
          <p:cNvPr id="2" name="broad-page-2">
            <a:extLst xmlns:a="http://schemas.openxmlformats.org/drawingml/2006/main">
              <a:ext uri="{FF2B5EF4-FFF2-40B4-BE49-F238E27FC236}">
                <a16:creationId xmlns:a16="http://schemas.microsoft.com/office/drawing/2014/main" id="{E30DE12D-48DC-4985-92A0-9C4448BA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111111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111111"/>
                </a:solidFill>
                <a:latin typeface="IBM Plex Mono Labels"/>
                <a:ea typeface="IBM Plex Mono Labels"/>
                <a:cs typeface="IBM Plex Mono Labels"/>
              </a:rPr>
              <a:t>02 / 08</a:t>
            </a:r>
          </a:p>
        </p:txBody>
      </p:sp>
      <p:sp>
        <p:nvSpPr>
          <p:cNvPr id="3" name="broad-top-rule-2">
            <a:extLst xmlns:a="http://schemas.openxmlformats.org/drawingml/2006/main">
              <a:ext uri="{FF2B5EF4-FFF2-40B4-BE49-F238E27FC236}">
                <a16:creationId xmlns:a16="http://schemas.microsoft.com/office/drawing/2014/main" id="{6428F424-209A-4306-8827-F23D65C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2">
            <a:extLst xmlns:a="http://schemas.openxmlformats.org/drawingml/2006/main">
              <a:ext uri="{FF2B5EF4-FFF2-40B4-BE49-F238E27FC236}">
                <a16:creationId xmlns:a16="http://schemas.microsoft.com/office/drawing/2014/main" id="{D5016DBD-0B36-45AA-9AE3-0FAD7994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declare-num">
            <a:extLst xmlns:a="http://schemas.openxmlformats.org/drawingml/2006/main">
              <a:ext uri="{FF2B5EF4-FFF2-40B4-BE49-F238E27FC236}">
                <a16:creationId xmlns:a16="http://schemas.microsoft.com/office/drawing/2014/main" id="{0965D400-B0CA-4360-909D-927BCA30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34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rPr>
              <a:t>02</a:t>
            </a:r>
          </a:p>
        </p:txBody>
      </p:sp>
      <p:sp>
        <p:nvSpPr>
          <p:cNvPr id="6" name="broad-declare-title">
            <a:extLst xmlns:a="http://schemas.openxmlformats.org/drawingml/2006/main">
              <a:ext uri="{FF2B5EF4-FFF2-40B4-BE49-F238E27FC236}">
                <a16:creationId xmlns:a16="http://schemas.microsoft.com/office/drawing/2014/main" id="{06A4046B-B000-4D9E-B178-0E9CEDC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066800"/>
            <a:ext cx="8572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rPr>
              <a:t>the next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rPr>
              <a:t>interface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6900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rPr>
              <a:t>has weight.</a:t>
            </a:r>
          </a:p>
        </p:txBody>
      </p:sp>
      <p:sp>
        <p:nvSpPr>
          <p:cNvPr id="7" name="broad-declare-body">
            <a:extLst xmlns:a="http://schemas.openxmlformats.org/drawingml/2006/main">
              <a:ext uri="{FF2B5EF4-FFF2-40B4-BE49-F238E27FC236}">
                <a16:creationId xmlns:a16="http://schemas.microsoft.com/office/drawing/2014/main" id="{9A653C1E-CFB7-4037-BAF9-26DC2E9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339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 i="0">
                <a:solidFill>
                  <a:srgbClr val="111111"/>
                </a:solidFill>
                <a:latin typeface="Barlow Broadside Text"/>
                <a:ea typeface="Barlow Broadside Text"/>
                <a:cs typeface="Barlow Broadside Text"/>
              </a:defRPr>
            </a:pPr>
            <a:r>
              <a:rPr sz="1800" b="0" i="0">
                <a:solidFill>
                  <a:srgbClr val="111111"/>
                </a:solidFill>
                <a:latin typeface="Barlow Broadside Text"/>
                <a:ea typeface="Barlow Broadside Text"/>
                <a:cs typeface="Barlow Broadside Text"/>
              </a:rPr>
              <a:t>The most memorable digital moments may be the ones we can touch, move, hear, and share.</a:t>
            </a:r>
          </a:p>
        </p:txBody>
      </p:sp>
    </p:spTree>
    <p:extLst>
      <p:ext uri="{BB962C8B-B14F-4D97-AF65-F5344CB8AC3E}">
        <p14:creationId xmlns:p14="http://schemas.microsoft.com/office/powerpoint/2010/main" val="1796442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3">
            <a:extLst xmlns:a="http://schemas.openxmlformats.org/drawingml/2006/main">
              <a:ext uri="{FF2B5EF4-FFF2-40B4-BE49-F238E27FC236}">
                <a16:creationId xmlns:a16="http://schemas.microsoft.com/office/drawing/2014/main" id="{4FA8FC6C-1627-4105-8C45-4CEA7FE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THE SPLIT</a:t>
            </a:r>
          </a:p>
        </p:txBody>
      </p:sp>
      <p:sp>
        <p:nvSpPr>
          <p:cNvPr id="2" name="broad-page-3">
            <a:extLst xmlns:a="http://schemas.openxmlformats.org/drawingml/2006/main">
              <a:ext uri="{FF2B5EF4-FFF2-40B4-BE49-F238E27FC236}">
                <a16:creationId xmlns:a16="http://schemas.microsoft.com/office/drawing/2014/main" id="{409C7720-23F0-4869-9502-5CFA799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rPr>
              <a:t>03 / 08</a:t>
            </a:r>
          </a:p>
        </p:txBody>
      </p:sp>
      <p:sp>
        <p:nvSpPr>
          <p:cNvPr id="3" name="broad-top-rule-3">
            <a:extLst xmlns:a="http://schemas.openxmlformats.org/drawingml/2006/main">
              <a:ext uri="{FF2B5EF4-FFF2-40B4-BE49-F238E27FC236}">
                <a16:creationId xmlns:a16="http://schemas.microsoft.com/office/drawing/2014/main" id="{02305D06-CB2C-4A4A-9739-1FB663B7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3">
            <a:extLst xmlns:a="http://schemas.openxmlformats.org/drawingml/2006/main">
              <a:ext uri="{FF2B5EF4-FFF2-40B4-BE49-F238E27FC236}">
                <a16:creationId xmlns:a16="http://schemas.microsoft.com/office/drawing/2014/main" id="{2DD3FD49-BB43-42DE-BEEF-CA8EE97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split-title">
            <a:extLst xmlns:a="http://schemas.openxmlformats.org/drawingml/2006/main">
              <a:ext uri="{FF2B5EF4-FFF2-40B4-BE49-F238E27FC236}">
                <a16:creationId xmlns:a16="http://schemas.microsoft.com/office/drawing/2014/main" id="{127F59FC-B6A8-4F12-B4E6-D3EE128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875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screen / world</a:t>
            </a:r>
          </a:p>
        </p:txBody>
      </p:sp>
      <p:sp>
        <p:nvSpPr>
          <p:cNvPr id="6" name="broad-split-line">
            <a:extLst xmlns:a="http://schemas.openxmlformats.org/drawingml/2006/main">
              <a:ext uri="{FF2B5EF4-FFF2-40B4-BE49-F238E27FC236}">
                <a16:creationId xmlns:a16="http://schemas.microsoft.com/office/drawing/2014/main" id="{124C9867-3189-4E4B-B03B-1E7FCEE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road-viewer-kicker">
            <a:extLst xmlns:a="http://schemas.openxmlformats.org/drawingml/2006/main">
              <a:ext uri="{FF2B5EF4-FFF2-40B4-BE49-F238E27FC236}">
                <a16:creationId xmlns:a16="http://schemas.microsoft.com/office/drawing/2014/main" id="{E8D15BE1-2FC6-4766-A90C-CACDA7B3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01 / SCREEN</a:t>
            </a:r>
          </a:p>
        </p:txBody>
      </p:sp>
      <p:sp>
        <p:nvSpPr>
          <p:cNvPr id="8" name="broad-viewer-title">
            <a:extLst xmlns:a="http://schemas.openxmlformats.org/drawingml/2006/main">
              <a:ext uri="{FF2B5EF4-FFF2-40B4-BE49-F238E27FC236}">
                <a16:creationId xmlns:a16="http://schemas.microsoft.com/office/drawing/2014/main" id="{925963E7-6AA0-499B-A010-E195C3BF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scroll.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tap.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swipe.</a:t>
            </a:r>
          </a:p>
        </p:txBody>
      </p:sp>
      <p:sp>
        <p:nvSpPr>
          <p:cNvPr id="9" name="broad-editor-kicker">
            <a:extLst xmlns:a="http://schemas.openxmlformats.org/drawingml/2006/main">
              <a:ext uri="{FF2B5EF4-FFF2-40B4-BE49-F238E27FC236}">
                <a16:creationId xmlns:a16="http://schemas.microsoft.com/office/drawing/2014/main" id="{D90A848B-E756-4D08-BCC5-EDEF7D8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02 / WORLD</a:t>
            </a:r>
          </a:p>
        </p:txBody>
      </p:sp>
      <p:sp>
        <p:nvSpPr>
          <p:cNvPr id="10" name="broad-editor-title">
            <a:extLst xmlns:a="http://schemas.openxmlformats.org/drawingml/2006/main">
              <a:ext uri="{FF2B5EF4-FFF2-40B4-BE49-F238E27FC236}">
                <a16:creationId xmlns:a16="http://schemas.microsoft.com/office/drawing/2014/main" id="{9F65CB7A-1CC5-492B-BD1E-8113C86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rPr>
              <a:t>touch.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rPr>
              <a:t>move.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200" b="0" i="0">
                <a:solidFill>
                  <a:srgbClr val="E85D26"/>
                </a:solidFill>
                <a:latin typeface="Barlow Broadside"/>
                <a:ea typeface="Barlow Broadside"/>
                <a:cs typeface="Barlow Broadside"/>
              </a:rPr>
              <a:t>gather.</a:t>
            </a:r>
          </a:p>
        </p:txBody>
      </p:sp>
    </p:spTree>
    <p:extLst>
      <p:ext uri="{BB962C8B-B14F-4D97-AF65-F5344CB8AC3E}">
        <p14:creationId xmlns:p14="http://schemas.microsoft.com/office/powerpoint/2010/main" val="1511401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4">
            <a:extLst xmlns:a="http://schemas.openxmlformats.org/drawingml/2006/main">
              <a:ext uri="{FF2B5EF4-FFF2-40B4-BE49-F238E27FC236}">
                <a16:creationId xmlns:a16="http://schemas.microsoft.com/office/drawing/2014/main" id="{1AB91F4D-7EE6-4A6D-8D27-B7616CA0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PRESENCE CURVE</a:t>
            </a:r>
          </a:p>
        </p:txBody>
      </p:sp>
      <p:sp>
        <p:nvSpPr>
          <p:cNvPr id="2" name="broad-page-4">
            <a:extLst xmlns:a="http://schemas.openxmlformats.org/drawingml/2006/main">
              <a:ext uri="{FF2B5EF4-FFF2-40B4-BE49-F238E27FC236}">
                <a16:creationId xmlns:a16="http://schemas.microsoft.com/office/drawing/2014/main" id="{A4CB2553-4605-4ECA-8E1E-6249DC9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rPr>
              <a:t>04 / 08</a:t>
            </a:r>
          </a:p>
        </p:txBody>
      </p:sp>
      <p:sp>
        <p:nvSpPr>
          <p:cNvPr id="3" name="broad-top-rule-4">
            <a:extLst xmlns:a="http://schemas.openxmlformats.org/drawingml/2006/main">
              <a:ext uri="{FF2B5EF4-FFF2-40B4-BE49-F238E27FC236}">
                <a16:creationId xmlns:a16="http://schemas.microsoft.com/office/drawing/2014/main" id="{BB38EE05-32D2-49F6-BAD3-43DF7E7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4">
            <a:extLst xmlns:a="http://schemas.openxmlformats.org/drawingml/2006/main">
              <a:ext uri="{FF2B5EF4-FFF2-40B4-BE49-F238E27FC236}">
                <a16:creationId xmlns:a16="http://schemas.microsoft.com/office/drawing/2014/main" id="{54C29432-74F1-41E6-A999-7372DABF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chart-title">
            <a:extLst xmlns:a="http://schemas.openxmlformats.org/drawingml/2006/main">
              <a:ext uri="{FF2B5EF4-FFF2-40B4-BE49-F238E27FC236}">
                <a16:creationId xmlns:a16="http://schemas.microsoft.com/office/drawing/2014/main" id="{AEFF4C29-618D-47E7-A17F-DA9F15C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46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6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presence,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6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6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measured.</a:t>
            </a:r>
          </a:p>
        </p:txBody>
      </p:sp>
      <p:graphicFrame>
        <p:nvGraphicFramePr>
          <p:cNvPr id="14" name="broad-native-capability-chart"/>
          <p:cNvGraphicFramePr/>
          <p:nvPr/>
        </p:nvGraphicFramePr>
        <p:xfrm>
          <a:off xmlns:a="http://schemas.openxmlformats.org/drawingml/2006/main" x="4476750" y="1066800"/>
          <a:ext xmlns:a="http://schemas.openxmlformats.org/drawingml/2006/main" cx="7048500" cy="4324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871d89674847f3"/>
          </a:graphicData>
        </a:graphic>
      </p:graphicFrame>
      <p:sp>
        <p:nvSpPr>
          <p:cNvPr id="7" name="broad-chart-copy">
            <a:extLst xmlns:a="http://schemas.openxmlformats.org/drawingml/2006/main">
              <a:ext uri="{FF2B5EF4-FFF2-40B4-BE49-F238E27FC236}">
                <a16:creationId xmlns:a16="http://schemas.microsoft.com/office/drawing/2014/main" id="{6E7E8EE2-3037-4B21-B7CB-75F3B845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888880"/>
                </a:solidFill>
                <a:latin typeface="Barlow Broadside Text"/>
                <a:ea typeface="Barlow Broadside Text"/>
                <a:cs typeface="Barlow Broadside Text"/>
              </a:defRPr>
            </a:pPr>
            <a:r>
              <a:rPr sz="1725" b="0" i="0">
                <a:solidFill>
                  <a:srgbClr val="888880"/>
                </a:solidFill>
                <a:latin typeface="Barlow Broadside Text"/>
                <a:ea typeface="Barlow Broadside Text"/>
                <a:cs typeface="Barlow Broadside Text"/>
              </a:rPr>
              <a:t>As interaction gains context, the world stops feeling like a menu.</a:t>
            </a:r>
          </a:p>
        </p:txBody>
      </p:sp>
      <p:sp>
        <p:nvSpPr>
          <p:cNvPr id="8" name="broad-chart-label">
            <a:extLst xmlns:a="http://schemas.openxmlformats.org/drawingml/2006/main">
              <a:ext uri="{FF2B5EF4-FFF2-40B4-BE49-F238E27FC236}">
                <a16:creationId xmlns:a16="http://schemas.microsoft.com/office/drawing/2014/main" id="{2D9EFA26-717A-4ABC-86D7-06041B4E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CONCEPTUAL INTERACTION SCORE</a:t>
            </a:r>
          </a:p>
        </p:txBody>
      </p:sp>
    </p:spTree>
    <p:extLst>
      <p:ext uri="{BB962C8B-B14F-4D97-AF65-F5344CB8AC3E}">
        <p14:creationId xmlns:p14="http://schemas.microsoft.com/office/powerpoint/2010/main" val="574091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5">
            <a:extLst xmlns:a="http://schemas.openxmlformats.org/drawingml/2006/main">
              <a:ext uri="{FF2B5EF4-FFF2-40B4-BE49-F238E27FC236}">
                <a16:creationId xmlns:a16="http://schemas.microsoft.com/office/drawing/2014/main" id="{9F400F11-CE7C-4150-A7B4-E8E0DB93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MEDIUM MATRIX</a:t>
            </a:r>
          </a:p>
        </p:txBody>
      </p:sp>
      <p:sp>
        <p:nvSpPr>
          <p:cNvPr id="2" name="broad-page-5">
            <a:extLst xmlns:a="http://schemas.openxmlformats.org/drawingml/2006/main">
              <a:ext uri="{FF2B5EF4-FFF2-40B4-BE49-F238E27FC236}">
                <a16:creationId xmlns:a16="http://schemas.microsoft.com/office/drawing/2014/main" id="{25BCF1DA-BB15-42C1-8148-42060EE1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rPr>
              <a:t>05 / 08</a:t>
            </a:r>
          </a:p>
        </p:txBody>
      </p:sp>
      <p:sp>
        <p:nvSpPr>
          <p:cNvPr id="3" name="broad-top-rule-5">
            <a:extLst xmlns:a="http://schemas.openxmlformats.org/drawingml/2006/main">
              <a:ext uri="{FF2B5EF4-FFF2-40B4-BE49-F238E27FC236}">
                <a16:creationId xmlns:a16="http://schemas.microsoft.com/office/drawing/2014/main" id="{C812E97D-1E40-484B-B475-92FFAB32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5">
            <a:extLst xmlns:a="http://schemas.openxmlformats.org/drawingml/2006/main">
              <a:ext uri="{FF2B5EF4-FFF2-40B4-BE49-F238E27FC236}">
                <a16:creationId xmlns:a16="http://schemas.microsoft.com/office/drawing/2014/main" id="{CBCCB74C-BB06-404E-8E22-0435C8BB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table-title">
            <a:extLst xmlns:a="http://schemas.openxmlformats.org/drawingml/2006/main">
              <a:ext uri="{FF2B5EF4-FFF2-40B4-BE49-F238E27FC236}">
                <a16:creationId xmlns:a16="http://schemas.microsoft.com/office/drawing/2014/main" id="{5DCAB82E-1C36-4F1D-A9E4-C35CD51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790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9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choose the medium.</a:t>
            </a:r>
          </a:p>
        </p:txBody>
      </p:sp>
      <p:graphicFrame>
        <p:nvGraphicFramePr>
          <p:cNvPr id="12" name="broad-native-feature-matrix"/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7547"/>
                <a:gridCol w="2253651"/>
                <a:gridCol w="2253651"/>
                <a:gridCol w="2253651"/>
              </a:tblGrid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Solo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Shared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Physical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Phone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505048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Voice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505048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Wearable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</a:tr>
              <a:tr h="666750">
                <a:tc>
                  <a:txBody>
                    <a:bodyPr anchor="ctr"/>
                    <a:lstStyle/>
                    <a:p>
                      <a:pPr algn="l"/>
                      <a:r>
                        <a:rPr sz="1350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Room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505048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66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6">
            <a:extLst xmlns:a="http://schemas.openxmlformats.org/drawingml/2006/main">
              <a:ext uri="{FF2B5EF4-FFF2-40B4-BE49-F238E27FC236}">
                <a16:creationId xmlns:a16="http://schemas.microsoft.com/office/drawing/2014/main" id="{33AB00B6-4030-4425-B4A2-BFCAEFF0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PARTICIPATION STUDY</a:t>
            </a:r>
          </a:p>
        </p:txBody>
      </p:sp>
      <p:sp>
        <p:nvSpPr>
          <p:cNvPr id="2" name="broad-page-6">
            <a:extLst xmlns:a="http://schemas.openxmlformats.org/drawingml/2006/main">
              <a:ext uri="{FF2B5EF4-FFF2-40B4-BE49-F238E27FC236}">
                <a16:creationId xmlns:a16="http://schemas.microsoft.com/office/drawing/2014/main" id="{2F75F574-ECCD-413C-9DBF-35EE4C97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rPr>
              <a:t>06 / 08</a:t>
            </a:r>
          </a:p>
        </p:txBody>
      </p:sp>
      <p:sp>
        <p:nvSpPr>
          <p:cNvPr id="3" name="broad-top-rule-6">
            <a:extLst xmlns:a="http://schemas.openxmlformats.org/drawingml/2006/main">
              <a:ext uri="{FF2B5EF4-FFF2-40B4-BE49-F238E27FC236}">
                <a16:creationId xmlns:a16="http://schemas.microsoft.com/office/drawing/2014/main" id="{9318E09C-9C1D-4864-A5EF-446B239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6">
            <a:extLst xmlns:a="http://schemas.openxmlformats.org/drawingml/2006/main">
              <a:ext uri="{FF2B5EF4-FFF2-40B4-BE49-F238E27FC236}">
                <a16:creationId xmlns:a16="http://schemas.microsoft.com/office/drawing/2014/main" id="{1207D038-D475-4703-990E-5516F419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participation-title">
            <a:extLst xmlns:a="http://schemas.openxmlformats.org/drawingml/2006/main">
              <a:ext uri="{FF2B5EF4-FFF2-40B4-BE49-F238E27FC236}">
                <a16:creationId xmlns:a16="http://schemas.microsoft.com/office/drawing/2014/main" id="{3D9E8B42-2CB5-41E0-A1BD-74359D0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714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embodied</a:t>
            </a:r>
          </a:p>
          <a:p xmlns:a="http://schemas.openxmlformats.org/drawingml/2006/main">
            <a:pPr algn="l">
              <a:lnSpc>
                <a:spcPct val="80000"/>
              </a:lnSpc>
              <a:buNone/>
              <a:def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prototypes invite</a:t>
            </a:r>
          </a:p>
          <a:p xmlns:a="http://schemas.openxmlformats.org/drawingml/2006/main">
            <a:pPr algn="l">
              <a:lnSpc>
                <a:spcPct val="80000"/>
              </a:lnSpc>
              <a:buNone/>
              <a:def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05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more participation.</a:t>
            </a:r>
          </a:p>
        </p:txBody>
      </p:sp>
      <p:graphicFrame>
        <p:nvGraphicFramePr>
          <p:cNvPr id="14" name="broad-participation-chart"/>
          <p:cNvGraphicFramePr/>
          <p:nvPr/>
        </p:nvGraphicFramePr>
        <p:xfrm>
          <a:off xmlns:a="http://schemas.openxmlformats.org/drawingml/2006/main" x="4762500" y="1276350"/>
          <a:ext xmlns:a="http://schemas.openxmlformats.org/drawingml/2006/main" cx="6762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b593b87b7742a9"/>
          </a:graphicData>
        </a:graphic>
      </p:graphicFrame>
      <p:sp>
        <p:nvSpPr>
          <p:cNvPr id="7" name="broad-participation-copy">
            <a:extLst xmlns:a="http://schemas.openxmlformats.org/drawingml/2006/main">
              <a:ext uri="{FF2B5EF4-FFF2-40B4-BE49-F238E27FC236}">
                <a16:creationId xmlns:a16="http://schemas.microsoft.com/office/drawing/2014/main" id="{FB49EC2E-3C42-44EA-AD67-926330D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 i="0">
                <a:solidFill>
                  <a:srgbClr val="888880"/>
                </a:solidFill>
                <a:latin typeface="Barlow Broadside Text"/>
                <a:ea typeface="Barlow Broadside Text"/>
                <a:cs typeface="Barlow Broadside Text"/>
              </a:defRPr>
            </a:pPr>
            <a:r>
              <a:rPr sz="1800" b="0" i="0">
                <a:solidFill>
                  <a:srgbClr val="888880"/>
                </a:solidFill>
                <a:latin typeface="Barlow Broadside Text"/>
                <a:ea typeface="Barlow Broadside Text"/>
                <a:cs typeface="Barlow Broadside Text"/>
              </a:rPr>
              <a:t>Completion softens as setup grows—but shared participation rises sharply.</a:t>
            </a:r>
          </a:p>
        </p:txBody>
      </p:sp>
      <p:sp>
        <p:nvSpPr>
          <p:cNvPr id="8" name="broad-participation-footnote">
            <a:extLst xmlns:a="http://schemas.openxmlformats.org/drawingml/2006/main">
              <a:ext uri="{FF2B5EF4-FFF2-40B4-BE49-F238E27FC236}">
                <a16:creationId xmlns:a16="http://schemas.microsoft.com/office/drawing/2014/main" id="{33CF0A8A-FE1C-4B37-84D6-30E6070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ILLUSTRATIVE FIELD TRIAL / 24 SESSIONS</a:t>
            </a:r>
          </a:p>
        </p:txBody>
      </p:sp>
    </p:spTree>
    <p:extLst>
      <p:ext uri="{BB962C8B-B14F-4D97-AF65-F5344CB8AC3E}">
        <p14:creationId xmlns:p14="http://schemas.microsoft.com/office/powerpoint/2010/main" val="543629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label-7">
            <a:extLst xmlns:a="http://schemas.openxmlformats.org/drawingml/2006/main">
              <a:ext uri="{FF2B5EF4-FFF2-40B4-BE49-F238E27FC236}">
                <a16:creationId xmlns:a16="http://schemas.microsoft.com/office/drawing/2014/main" id="{BD222E85-EF19-4D26-A718-75F31BB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PROTOTYPE FIELD LOG</a:t>
            </a:r>
          </a:p>
        </p:txBody>
      </p:sp>
      <p:sp>
        <p:nvSpPr>
          <p:cNvPr id="2" name="broad-page-7">
            <a:extLst xmlns:a="http://schemas.openxmlformats.org/drawingml/2006/main">
              <a:ext uri="{FF2B5EF4-FFF2-40B4-BE49-F238E27FC236}">
                <a16:creationId xmlns:a16="http://schemas.microsoft.com/office/drawing/2014/main" id="{4C813947-A9B4-4795-A512-782BA06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825" b="0" i="0">
                <a:solidFill>
                  <a:srgbClr val="F0ECE5"/>
                </a:solidFill>
                <a:latin typeface="IBM Plex Mono Labels"/>
                <a:ea typeface="IBM Plex Mono Labels"/>
                <a:cs typeface="IBM Plex Mono Labels"/>
              </a:rPr>
              <a:t>07 / 08</a:t>
            </a:r>
          </a:p>
        </p:txBody>
      </p:sp>
      <p:sp>
        <p:nvSpPr>
          <p:cNvPr id="3" name="broad-top-rule-7">
            <a:extLst xmlns:a="http://schemas.openxmlformats.org/drawingml/2006/main">
              <a:ext uri="{FF2B5EF4-FFF2-40B4-BE49-F238E27FC236}">
                <a16:creationId xmlns:a16="http://schemas.microsoft.com/office/drawing/2014/main" id="{11F37CAB-8A02-462A-A346-ACE53E90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foot-rule-7">
            <a:extLst xmlns:a="http://schemas.openxmlformats.org/drawingml/2006/main">
              <a:ext uri="{FF2B5EF4-FFF2-40B4-BE49-F238E27FC236}">
                <a16:creationId xmlns:a16="http://schemas.microsoft.com/office/drawing/2014/main" id="{3B25E372-A3CD-4397-BD64-ED05FB76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oad-field-title">
            <a:extLst xmlns:a="http://schemas.openxmlformats.org/drawingml/2006/main">
              <a:ext uri="{FF2B5EF4-FFF2-40B4-BE49-F238E27FC236}">
                <a16:creationId xmlns:a16="http://schemas.microsoft.com/office/drawing/2014/main" id="{91961719-40F7-469C-B394-02A65B44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48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8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field test,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48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4800" b="0" i="0">
                <a:solidFill>
                  <a:srgbClr val="F0ECE5"/>
                </a:solidFill>
                <a:latin typeface="Barlow Broadside"/>
                <a:ea typeface="Barlow Broadside"/>
                <a:cs typeface="Barlow Broadside"/>
              </a:rPr>
              <a:t>not fantasy.</a:t>
            </a:r>
          </a:p>
        </p:txBody>
      </p:sp>
      <p:graphicFrame>
        <p:nvGraphicFramePr>
          <p:cNvPr id="13" name="broad-prototype-field-table"/>
          <p:cNvGraphicFramePr/>
          <p:nvPr/>
        </p:nvGraphicFramePr>
        <p:xfrm>
          <a:off xmlns:a="http://schemas.openxmlformats.org/drawingml/2006/main" x="666750" y="2419350"/>
          <a:ext xmlns:a="http://schemas.openxmlformats.org/drawingml/2006/main" cx="108585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7547"/>
                <a:gridCol w="2253651"/>
                <a:gridCol w="2253651"/>
                <a:gridCol w="2253651"/>
              </a:tblGrid>
              <a:tr h="61722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Prototype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Setup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Completion</a:t>
                      </a:r>
                    </a:p>
                  </a:txBody>
                  <a:tcPr marL="91440" marR="91440" marT="45720" marB="45720">
                    <a:solidFill>
                      <a:srgbClr val="E85D26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Phone guide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2 min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92%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Voice kiosk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6 min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86%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Gesture wall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12 min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78%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17220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F0ECE5"/>
                          </a:solidFill>
                          <a:latin typeface="Barlow Broadside Text"/>
                          <a:ea typeface="Barlow Broadside Text"/>
                          <a:cs typeface="Barlow Broadside Text"/>
                        </a:rPr>
                        <a:t>Object table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18 min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>
                          <a:solidFill>
                            <a:srgbClr val="F0ECE5"/>
                          </a:solidFill>
                          <a:latin typeface="IBM Plex Mono Labels"/>
                          <a:ea typeface="IBM Plex Mono Labels"/>
                          <a:cs typeface="IBM Plex Mono Labels"/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1A1A18"/>
                    </a:solidFill>
                  </a:tcPr>
                </a:tc>
              </a:tr>
            </a:tbl>
          </a:graphicData>
        </a:graphic>
      </p:graphicFrame>
      <p:sp>
        <p:nvSpPr>
          <p:cNvPr id="7" name="broad-field-footnote">
            <a:extLst xmlns:a="http://schemas.openxmlformats.org/drawingml/2006/main">
              <a:ext uri="{FF2B5EF4-FFF2-40B4-BE49-F238E27FC236}">
                <a16:creationId xmlns:a16="http://schemas.microsoft.com/office/drawing/2014/main" id="{D0CF2D7D-2619-49CF-BD8F-EF966EBD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900" b="0" i="0">
                <a:solidFill>
                  <a:srgbClr val="E85D26"/>
                </a:solidFill>
                <a:latin typeface="IBM Plex Mono Labels"/>
                <a:ea typeface="IBM Plex Mono Labels"/>
                <a:cs typeface="IBM Plex Mono Labels"/>
              </a:rPr>
              <a:t>24 sessions / completion = task finished without facilitator help</a:t>
            </a:r>
          </a:p>
        </p:txBody>
      </p:sp>
    </p:spTree>
    <p:extLst>
      <p:ext uri="{BB962C8B-B14F-4D97-AF65-F5344CB8AC3E}">
        <p14:creationId xmlns:p14="http://schemas.microsoft.com/office/powerpoint/2010/main" val="755524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oad-close-num">
            <a:extLst xmlns:a="http://schemas.openxmlformats.org/drawingml/2006/main">
              <a:ext uri="{FF2B5EF4-FFF2-40B4-BE49-F238E27FC236}">
                <a16:creationId xmlns:a16="http://schemas.microsoft.com/office/drawing/2014/main" id="{51384EA0-0B10-4F04-84C9-D6EF43E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13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rPr>
              <a:t>08</a:t>
            </a:r>
          </a:p>
        </p:txBody>
      </p:sp>
      <p:sp>
        <p:nvSpPr>
          <p:cNvPr id="2" name="broad-close-title">
            <a:extLst xmlns:a="http://schemas.openxmlformats.org/drawingml/2006/main">
              <a:ext uri="{FF2B5EF4-FFF2-40B4-BE49-F238E27FC236}">
                <a16:creationId xmlns:a16="http://schemas.microsoft.com/office/drawing/2014/main" id="{3ACA1A7F-67F3-45FE-8890-2F3B07B1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096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7725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7725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rPr>
              <a:t>less screen.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7725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defRPr>
            </a:pPr>
            <a:r>
              <a:rPr sz="7725" b="0" i="0">
                <a:solidFill>
                  <a:srgbClr val="111111"/>
                </a:solidFill>
                <a:latin typeface="Barlow Broadside"/>
                <a:ea typeface="Barlow Broadside"/>
                <a:cs typeface="Barlow Broadside"/>
              </a:rPr>
              <a:t>more world.</a:t>
            </a:r>
          </a:p>
        </p:txBody>
      </p:sp>
      <p:sp>
        <p:nvSpPr>
          <p:cNvPr id="3" name="broad-close-rule">
            <a:extLst xmlns:a="http://schemas.openxmlformats.org/drawingml/2006/main">
              <a:ext uri="{FF2B5EF4-FFF2-40B4-BE49-F238E27FC236}">
                <a16:creationId xmlns:a16="http://schemas.microsoft.com/office/drawing/2014/main" id="{3F28F27D-479C-44CF-857F-1907F7D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oad-close-body">
            <a:extLst xmlns:a="http://schemas.openxmlformats.org/drawingml/2006/main">
              <a:ext uri="{FF2B5EF4-FFF2-40B4-BE49-F238E27FC236}">
                <a16:creationId xmlns:a16="http://schemas.microsoft.com/office/drawing/2014/main" id="{21614189-C32A-41C2-BD24-F175D99A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Barlow Broadside Text"/>
                <a:ea typeface="Barlow Broadside Text"/>
                <a:cs typeface="Barlow Broadside Text"/>
              </a:defRPr>
            </a:pPr>
            <a:r>
              <a:rPr sz="2100" b="0" i="0">
                <a:solidFill>
                  <a:srgbClr val="111111"/>
                </a:solidFill>
                <a:latin typeface="Barlow Broadside Text"/>
                <a:ea typeface="Barlow Broadside Text"/>
                <a:cs typeface="Barlow Broadside Text"/>
              </a:rPr>
              <a:t>The best interface may disappear into the moment.</a:t>
            </a:r>
          </a:p>
        </p:txBody>
      </p:sp>
      <p:sp>
        <p:nvSpPr>
          <p:cNvPr id="5" name="broad-close-attribution">
            <a:extLst xmlns:a="http://schemas.openxmlformats.org/drawingml/2006/main">
              <a:ext uri="{FF2B5EF4-FFF2-40B4-BE49-F238E27FC236}">
                <a16:creationId xmlns:a16="http://schemas.microsoft.com/office/drawing/2014/main" id="{BEFC6C5F-10B6-4B57-9BEF-B4278F53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defRPr>
            </a:pPr>
            <a:r>
              <a:rPr sz="750" b="0" i="0">
                <a:solidFill>
                  <a:srgbClr val="743018"/>
                </a:solidFill>
                <a:latin typeface="IBM Plex Mono Labels"/>
                <a:ea typeface="IBM Plex Mono Labels"/>
                <a:cs typeface="IBM Plex Mono Labels"/>
              </a:rPr>
              <a:t>BROADSIDE · ZARA ZHANG · MIT LICENSE</a:t>
            </a:r>
          </a:p>
        </p:txBody>
      </p:sp>
    </p:spTree>
    <p:extLst>
      <p:ext uri="{BB962C8B-B14F-4D97-AF65-F5344CB8AC3E}">
        <p14:creationId xmlns:p14="http://schemas.microsoft.com/office/powerpoint/2010/main" val="1018630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2026-07-25T15:50:54.2860000Z</dcterms:created>
  <dcterms:modified xsi:type="dcterms:W3CDTF">2026-07-25T15:50:54.2860000Z</dcterms:modified>
</coreProperties>
</file>