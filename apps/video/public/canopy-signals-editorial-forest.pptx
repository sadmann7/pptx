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6ec9828014e54d72" /><Relationship Type="http://schemas.openxmlformats.org/officeDocument/2006/relationships/extended-properties" Target="/docProps/app.xml" Id="R20341dd8418e400b" /><Relationship Type="http://schemas.openxmlformats.org/officeDocument/2006/relationships/officeDocument" Target="/ppt/presentation.xml" Id="R8b19b25149034a80" /></Relationships>
</file>

<file path=ppt/presentation.xml><?xml version="1.0" encoding="utf-8"?>
<p:presentation xmlns:p="http://schemas.openxmlformats.org/presentationml/2006/main" embedTrueTypeFonts="true" saveSubsetFonts="true">
  <p:sldMasterIdLst>
    <p:sldMasterId xmlns:r="http://schemas.openxmlformats.org/officeDocument/2006/relationships" id="2147483648" r:id="R077e25794e334c98"/>
  </p:sldMasterIdLst>
  <p:notesMasterIdLst>
    <p:notesMasterId xmlns:r="http://schemas.openxmlformats.org/officeDocument/2006/relationships" r:id="R725ad4a9cd874405"/>
  </p:notesMasterIdLst>
  <p:sldIdLst>
    <p:sldId xmlns:r="http://schemas.openxmlformats.org/officeDocument/2006/relationships" id="256" r:id="R9b4c6bbccf59456f"/>
    <p:sldId xmlns:r="http://schemas.openxmlformats.org/officeDocument/2006/relationships" id="257" r:id="Rcdb1295df2e34bbd"/>
    <p:sldId xmlns:r="http://schemas.openxmlformats.org/officeDocument/2006/relationships" id="258" r:id="R6630c45a36a0454f"/>
    <p:sldId xmlns:r="http://schemas.openxmlformats.org/officeDocument/2006/relationships" id="259" r:id="R38c9dd37a23a4444"/>
    <p:sldId xmlns:r="http://schemas.openxmlformats.org/officeDocument/2006/relationships" id="260" r:id="R72fe9e2a1f7f4a1e"/>
    <p:sldId xmlns:r="http://schemas.openxmlformats.org/officeDocument/2006/relationships" id="261" r:id="R31384c823c0547ab"/>
    <p:sldId xmlns:r="http://schemas.openxmlformats.org/officeDocument/2006/relationships" id="262" r:id="Rc91f77a2f5fd456d"/>
    <p:sldId xmlns:r="http://schemas.openxmlformats.org/officeDocument/2006/relationships" id="263" r:id="Rffc88bf72893419a"/>
  </p:sldIdLst>
  <p:sldSz cx="12192000" cy="6858000"/>
  <p:notesSz cx="6858000" cy="9144000"/>
  <p:embeddedFontLst>
    <p:embeddedFont>
      <p:font typeface="Source Serif 4 Display"/>
      <p:regular xmlns:r="http://schemas.openxmlformats.org/officeDocument/2006/relationships" r:id="R9cbd9dcbdf7b4818"/>
    </p:embeddedFont>
    <p:embeddedFont>
      <p:font typeface="Source Serif 4 Text"/>
      <p:regular xmlns:r="http://schemas.openxmlformats.org/officeDocument/2006/relationships" r:id="R9d72cba3282a482e"/>
    </p:embeddedFont>
    <p:embeddedFont>
      <p:font typeface="JetBrains Mono Labels"/>
      <p:regular xmlns:r="http://schemas.openxmlformats.org/officeDocument/2006/relationships" r:id="R5494ad67e617426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bcef5bc57ddb4950"/><Relationship Type="http://schemas.openxmlformats.org/officeDocument/2006/relationships/slideMaster" Target="/ppt/slideMasters/slideMaster1.xml" Id="R077e25794e334c98"/><Relationship Type="http://schemas.openxmlformats.org/officeDocument/2006/relationships/notesMaster" Target="/ppt/notesMasters/notesMaster1.xml" Id="R725ad4a9cd874405"/><Relationship Type="http://schemas.openxmlformats.org/officeDocument/2006/relationships/presProps" Target="/ppt/presProps.xml" Id="Rc7be8323579e40b2"/><Relationship Type="http://schemas.openxmlformats.org/officeDocument/2006/relationships/tableStyles" Target="/ppt/tableStyles.xml" Id="Raee8236ad8e94b83"/><Relationship Type="http://schemas.openxmlformats.org/officeDocument/2006/relationships/font" Target="/ppt/fonts/font.dat" Id="R9cbd9dcbdf7b4818"/><Relationship Type="http://schemas.openxmlformats.org/officeDocument/2006/relationships/font" Target="/ppt/fonts/font2.dat" Id="R9d72cba3282a482e"/><Relationship Type="http://schemas.openxmlformats.org/officeDocument/2006/relationships/font" Target="/ppt/fonts/font3.dat" Id="R5494ad67e6174266"/><Relationship Type="http://schemas.openxmlformats.org/officeDocument/2006/relationships/slide" Target="/ppt/slides/slide1.xml" Id="R9b4c6bbccf59456f"/><Relationship Type="http://schemas.openxmlformats.org/officeDocument/2006/relationships/slide" Target="/ppt/slides/slide2.xml" Id="Rcdb1295df2e34bbd"/><Relationship Type="http://schemas.openxmlformats.org/officeDocument/2006/relationships/slide" Target="/ppt/slides/slide3.xml" Id="R6630c45a36a0454f"/><Relationship Type="http://schemas.openxmlformats.org/officeDocument/2006/relationships/slide" Target="/ppt/slides/slide4.xml" Id="R38c9dd37a23a4444"/><Relationship Type="http://schemas.openxmlformats.org/officeDocument/2006/relationships/slide" Target="/ppt/slides/slide5.xml" Id="R72fe9e2a1f7f4a1e"/><Relationship Type="http://schemas.openxmlformats.org/officeDocument/2006/relationships/slide" Target="/ppt/slides/slide6.xml" Id="R31384c823c0547ab"/><Relationship Type="http://schemas.openxmlformats.org/officeDocument/2006/relationships/slide" Target="/ppt/slides/slide7.xml" Id="Rc91f77a2f5fd456d"/><Relationship Type="http://schemas.openxmlformats.org/officeDocument/2006/relationships/slide" Target="/ppt/slides/slide8.xml" Id="Rffc88bf72893419a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f9addee731ff4b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e871d68c9bfd4699" /><Relationship Type="http://schemas.openxmlformats.org/officeDocument/2006/relationships/notesMaster" Target="/ppt/notesMasters/notesMaster1.xml" Id="R575188947a2b4977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7ba2895dfd764dac" /><Relationship Type="http://schemas.openxmlformats.org/officeDocument/2006/relationships/notesMaster" Target="/ppt/notesMasters/notesMaster1.xml" Id="R58dce27666db4fcc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b7a7a3abf273447d" /><Relationship Type="http://schemas.openxmlformats.org/officeDocument/2006/relationships/notesMaster" Target="/ppt/notesMasters/notesMaster1.xml" Id="R1d1ffdba13b94e2a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0ccb564febb24191" /><Relationship Type="http://schemas.openxmlformats.org/officeDocument/2006/relationships/notesMaster" Target="/ppt/notesMasters/notesMaster1.xml" Id="R88d2ebda43274127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4632f781b43c4bbc" /><Relationship Type="http://schemas.openxmlformats.org/officeDocument/2006/relationships/notesMaster" Target="/ppt/notesMasters/notesMaster1.xml" Id="R70a4d71ade0f46ad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b5c7be56c346445e" /><Relationship Type="http://schemas.openxmlformats.org/officeDocument/2006/relationships/notesMaster" Target="/ppt/notesMasters/notesMaster1.xml" Id="R17e29825ae314ef4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c15b8c0e82c04a1a" /><Relationship Type="http://schemas.openxmlformats.org/officeDocument/2006/relationships/notesMaster" Target="/ppt/notesMasters/notesMaster1.xml" Id="Re7453c23f51845ba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03306c36183d4932" /><Relationship Type="http://schemas.openxmlformats.org/officeDocument/2006/relationships/notesMaster" Target="/ppt/notesMasters/notesMaster1.xml" Id="R963db393a2c3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The hourly surface-temperature profiles are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The shade-coverage bands and dwell-time observations are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The site ledger is a native editable PowerPoint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https://github.com/zarazhangrui/beautiful-html-templates/tree/main/templates/editorial-forest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Editorial Forest template system. All sites, observations, temperatures, shade coverage, dwell times, and intervention outcomes are illustrative concept data created for this editable demo deck.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9e94233dc8b2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84dcd73165024672" /><Relationship Type="http://schemas.openxmlformats.org/officeDocument/2006/relationships/slideLayout" Target="/ppt/slideLayouts/slideLayout1.xml" Id="Rba4d5250898a4a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d5250898a4a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25240426e444da9" /><Relationship Type="http://schemas.openxmlformats.org/officeDocument/2006/relationships/notesSlide" Target="/ppt/notesSlides/notesSlide1.xml" Id="Refe074e3630e4d59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3e3ff1c1a6c42f3" /><Relationship Type="http://schemas.openxmlformats.org/officeDocument/2006/relationships/notesSlide" Target="/ppt/notesSlides/notesSlide2.xml" Id="R3e6fe4eb7db9474e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4c7313db6684839" /><Relationship Type="http://schemas.openxmlformats.org/officeDocument/2006/relationships/notesSlide" Target="/ppt/notesSlides/notesSlide3.xml" Id="R552ba6d6829e47e9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2af6721033241f0" /><Relationship Type="http://schemas.openxmlformats.org/officeDocument/2006/relationships/chart" Target="/ppt/slides/charts/chart1.xml" Id="Rff3dea6dce79445f" /><Relationship Type="http://schemas.openxmlformats.org/officeDocument/2006/relationships/notesSlide" Target="/ppt/notesSlides/notesSlide4.xml" Id="Rc1fabd9d81ad4256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7c2656680a04514" /><Relationship Type="http://schemas.openxmlformats.org/officeDocument/2006/relationships/notesSlide" Target="/ppt/notesSlides/notesSlide5.xml" Id="R5c3cc6ebf9644b02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7cd8cb20c1d49d8" /><Relationship Type="http://schemas.openxmlformats.org/officeDocument/2006/relationships/chart" Target="/ppt/slides/charts/chart2.xml" Id="Re66957ade2634fe6" /><Relationship Type="http://schemas.openxmlformats.org/officeDocument/2006/relationships/notesSlide" Target="/ppt/notesSlides/notesSlide6.xml" Id="R9b3d1d842e304471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69d949273a947bc" /><Relationship Type="http://schemas.openxmlformats.org/officeDocument/2006/relationships/notesSlide" Target="/ppt/notesSlides/notesSlide7.xml" Id="Rb816aa7185b94b76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9244a5bcd0944b5" /><Relationship Type="http://schemas.openxmlformats.org/officeDocument/2006/relationships/notesSlide" Target="/ppt/notesSlides/notesSlide8.xml" Id="R1a373ae238274d2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curb</c:v>
          </c:tx>
          <c:spPr>
            <a:solidFill xmlns:a="http://schemas.openxmlformats.org/drawingml/2006/main">
              <a:srgbClr val="EFE7D4"/>
            </a:solidFill>
            <a:ln xmlns:a="http://schemas.openxmlformats.org/drawingml/2006/main" w="38100">
              <a:solidFill>
                <a:srgbClr val="EFE7D4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10:00</c:v>
              </c:pt>
              <c:pt idx="1">
                <c:v>12:00</c:v>
              </c:pt>
              <c:pt idx="2">
                <c:v>14:00</c:v>
              </c:pt>
              <c:pt idx="3">
                <c:v>16:00</c:v>
              </c:pt>
              <c:pt idx="4">
                <c:v>18:00</c:v>
              </c:pt>
            </c:strLit>
          </c:cat>
          <c:val>
            <c:numLit>
              <c:formatCode>General</c:formatCode>
              <c:ptCount val="5"/>
              <c:pt idx="0">
                <c:v>35.8</c:v>
              </c:pt>
              <c:pt idx="1">
                <c:v>44.6</c:v>
              </c:pt>
              <c:pt idx="2">
                <c:v>51.8</c:v>
              </c:pt>
              <c:pt idx="3">
                <c:v>48.2</c:v>
              </c:pt>
              <c:pt idx="4">
                <c:v>39.4</c:v>
              </c:pt>
            </c:numLit>
          </c:val>
        </c:ser>
        <c:ser>
          <c:idx val="1"/>
          <c:order val="1"/>
          <c:tx>
            <c:v>Canopy</c:v>
          </c:tx>
          <c:spPr>
            <a:solidFill xmlns:a="http://schemas.openxmlformats.org/drawingml/2006/main">
              <a:srgbClr val="E89CB1"/>
            </a:solidFill>
            <a:ln xmlns:a="http://schemas.openxmlformats.org/drawingml/2006/main" w="38100">
              <a:solidFill>
                <a:srgbClr val="E89CB1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10:00</c:v>
              </c:pt>
              <c:pt idx="1">
                <c:v>12:00</c:v>
              </c:pt>
              <c:pt idx="2">
                <c:v>14:00</c:v>
              </c:pt>
              <c:pt idx="3">
                <c:v>16:00</c:v>
              </c:pt>
              <c:pt idx="4">
                <c:v>18:00</c:v>
              </c:pt>
            </c:strLit>
          </c:cat>
          <c:val>
            <c:numLit>
              <c:formatCode>General</c:formatCode>
              <c:ptCount val="5"/>
              <c:pt idx="0">
                <c:v>33.1</c:v>
              </c:pt>
              <c:pt idx="1">
                <c:v>38.8</c:v>
              </c:pt>
              <c:pt idx="2">
                <c:v>44.5</c:v>
              </c:pt>
              <c:pt idx="3">
                <c:v>41.7</c:v>
              </c:pt>
              <c:pt idx="4">
                <c:v>35.9</c:v>
              </c:pt>
            </c:numLit>
          </c:val>
        </c:ser>
        <c:ser>
          <c:idx val="2"/>
          <c:order val="2"/>
          <c:tx>
            <c:v>Canopy + soil</c:v>
          </c:tx>
          <c:spPr>
            <a:solidFill xmlns:a="http://schemas.openxmlformats.org/drawingml/2006/main">
              <a:srgbClr val="86A47F"/>
            </a:solidFill>
            <a:ln xmlns:a="http://schemas.openxmlformats.org/drawingml/2006/main" w="38100">
              <a:solidFill>
                <a:srgbClr val="86A47F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10:00</c:v>
              </c:pt>
              <c:pt idx="1">
                <c:v>12:00</c:v>
              </c:pt>
              <c:pt idx="2">
                <c:v>14:00</c:v>
              </c:pt>
              <c:pt idx="3">
                <c:v>16:00</c:v>
              </c:pt>
              <c:pt idx="4">
                <c:v>18:00</c:v>
              </c:pt>
            </c:strLit>
          </c:cat>
          <c:val>
            <c:numLit>
              <c:formatCode>General</c:formatCode>
              <c:ptCount val="5"/>
              <c:pt idx="0">
                <c:v>31.7</c:v>
              </c:pt>
              <c:pt idx="1">
                <c:v>35.3</c:v>
              </c:pt>
              <c:pt idx="2">
                <c:v>39.2</c:v>
              </c:pt>
              <c:pt idx="3">
                <c:v>37.5</c:v>
              </c:pt>
              <c:pt idx="4">
                <c:v>33.4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E7D4"/>
                </a:solidFill>
                <a:latin typeface="JetBrains Mono Labels"/>
                <a:ea typeface="JetBrains Mono Labels"/>
                <a:cs typeface="JetBrains Mono Label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6"/>
          <c:min val="28"/>
        </c:scaling>
        <c:delete val="0"/>
        <c:axPos val="l"/>
        <c:majorGridlines>
          <c:spPr>
            <a:ln xmlns:a="http://schemas.openxmlformats.org/drawingml/2006/main" w="9525">
              <a:solidFill>
                <a:srgbClr val="70806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E7D4"/>
                </a:solidFill>
                <a:latin typeface="JetBrains Mono Labels"/>
                <a:ea typeface="JetBrains Mono Labels"/>
                <a:cs typeface="JetBrains Mono Labels"/>
              </a:defRPr>
            </a:pPr>
          </a:p>
        </c:txPr>
        <c:crossAx val="48650112"/>
        <c:crossBetween val="between"/>
        <c:majorUnit val="7"/>
      </c:valAx>
      <c:spPr>
        <a:solidFill xmlns:a="http://schemas.openxmlformats.org/drawingml/2006/main">
          <a:srgbClr val="2E4A2A"/>
        </a:solidFill>
        <a:ln xmlns:a="http://schemas.openxmlformats.org/drawingml/2006/main" w="0">
          <a:solidFill>
            <a:srgbClr val="2E4A2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EFE7D4"/>
              </a:solidFill>
              <a:latin typeface="JetBrains Mono Labels"/>
              <a:ea typeface="JetBrains Mono Labels"/>
              <a:cs typeface="JetBrains Mono Labels"/>
            </a:defRPr>
          </a:pPr>
        </a:p>
      </c:txPr>
    </c:legend>
    <c:plotVisOnly val="1"/>
  </c:chart>
  <c:spPr>
    <a:solidFill xmlns:a="http://schemas.openxmlformats.org/drawingml/2006/main">
      <a:srgbClr val="2E4A2A"/>
    </a:solidFill>
    <a:ln xmlns:a="http://schemas.openxmlformats.org/drawingml/2006/main" w="0">
      <a:solidFill>
        <a:srgbClr val="2E4A2A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Midday</c:v>
          </c:tx>
          <c:spPr>
            <a:solidFill xmlns:a="http://schemas.openxmlformats.org/drawingml/2006/main">
              <a:srgbClr val="2E4A2A"/>
            </a:solidFill>
            <a:ln xmlns:a="http://schemas.openxmlformats.org/drawingml/2006/main" w="9525">
              <a:solidFill>
                <a:srgbClr val="2E4A2A"/>
              </a:solidFill>
              <a:prstDash val="solid"/>
            </a:ln>
          </c:spPr>
          <c:cat>
            <c:strLit>
              <c:ptCount val="4"/>
              <c:pt idx="0">
                <c:v>10–20%</c:v>
              </c:pt>
              <c:pt idx="1">
                <c:v>20–40%</c:v>
              </c:pt>
              <c:pt idx="2">
                <c:v>40–60%</c:v>
              </c:pt>
              <c:pt idx="3">
                <c:v>60–80%</c:v>
              </c:pt>
            </c:strLit>
          </c:cat>
          <c:val>
            <c:numLit>
              <c:formatCode>General</c:formatCode>
              <c:ptCount val="4"/>
              <c:pt idx="0">
                <c:v>2.8</c:v>
              </c:pt>
              <c:pt idx="1">
                <c:v>4.7</c:v>
              </c:pt>
              <c:pt idx="2">
                <c:v>8.1</c:v>
              </c:pt>
              <c:pt idx="3">
                <c:v>11.9</c:v>
              </c:pt>
            </c:numLit>
          </c:val>
        </c:ser>
        <c:ser>
          <c:idx val="1"/>
          <c:order val="1"/>
          <c:tx>
            <c:v>Evening</c:v>
          </c:tx>
          <c:spPr>
            <a:solidFill xmlns:a="http://schemas.openxmlformats.org/drawingml/2006/main">
              <a:srgbClr val="D27E96"/>
            </a:solidFill>
            <a:ln xmlns:a="http://schemas.openxmlformats.org/drawingml/2006/main" w="9525">
              <a:solidFill>
                <a:srgbClr val="D27E96"/>
              </a:solidFill>
              <a:prstDash val="solid"/>
            </a:ln>
          </c:spPr>
          <c:cat>
            <c:strLit>
              <c:ptCount val="4"/>
              <c:pt idx="0">
                <c:v>10–20%</c:v>
              </c:pt>
              <c:pt idx="1">
                <c:v>20–40%</c:v>
              </c:pt>
              <c:pt idx="2">
                <c:v>40–60%</c:v>
              </c:pt>
              <c:pt idx="3">
                <c:v>60–80%</c:v>
              </c:pt>
            </c:strLit>
          </c:cat>
          <c:val>
            <c:numLit>
              <c:formatCode>General</c:formatCode>
              <c:ptCount val="4"/>
              <c:pt idx="0">
                <c:v>5.6</c:v>
              </c:pt>
              <c:pt idx="1">
                <c:v>7.5</c:v>
              </c:pt>
              <c:pt idx="2">
                <c:v>10.6</c:v>
              </c:pt>
              <c:pt idx="3">
                <c:v>14.3</c:v>
              </c:pt>
            </c:numLit>
          </c:val>
        </c:ser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D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EFE7D4"/>
        </a:solidFill>
        <a:ln xmlns:a="http://schemas.openxmlformats.org/drawingml/2006/main" w="0">
          <a:solidFill>
            <a:srgbClr val="EFE7D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43A21"/>
              </a:solidFill>
              <a:latin typeface="JetBrains Mono Labels"/>
              <a:ea typeface="JetBrains Mono Labels"/>
              <a:cs typeface="JetBrains Mono Labels"/>
            </a:defRPr>
          </a:pPr>
        </a:p>
      </c:txPr>
    </c:legend>
    <c:plotVisOnly val="1"/>
  </c:chart>
  <c:spPr>
    <a:solidFill xmlns:a="http://schemas.openxmlformats.org/drawingml/2006/main">
      <a:srgbClr val="EFE7D4"/>
    </a:solidFill>
    <a:ln xmlns:a="http://schemas.openxmlformats.org/drawingml/2006/main" w="0">
      <a:solidFill>
        <a:srgbClr val="EFE7D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cover-kicker">
            <a:extLst xmlns:a="http://schemas.openxmlformats.org/drawingml/2006/main">
              <a:ext uri="{FF2B5EF4-FFF2-40B4-BE49-F238E27FC236}">
                <a16:creationId xmlns:a16="http://schemas.microsoft.com/office/drawing/2014/main" id="{DF32BDF6-6180-4297-9DA4-EEAB1BD6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12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FIELD STUDY / SUMMER 2026</a:t>
            </a:r>
          </a:p>
        </p:txBody>
      </p:sp>
      <p:sp>
        <p:nvSpPr>
          <p:cNvPr id="2" name="forest-cover-monogram">
            <a:extLst xmlns:a="http://schemas.openxmlformats.org/drawingml/2006/main">
              <a:ext uri="{FF2B5EF4-FFF2-40B4-BE49-F238E27FC236}">
                <a16:creationId xmlns:a16="http://schemas.microsoft.com/office/drawing/2014/main" id="{6E117A85-458B-4A24-9881-85065692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sp>
        <p:nvSpPr>
          <p:cNvPr id="3" name="forest-cover-mark">
            <a:extLst xmlns:a="http://schemas.openxmlformats.org/drawingml/2006/main">
              <a:ext uri="{FF2B5EF4-FFF2-40B4-BE49-F238E27FC236}">
                <a16:creationId xmlns:a16="http://schemas.microsoft.com/office/drawing/2014/main" id="{632F1AA7-B299-4FFB-B14D-CA3D3D77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87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CS</a:t>
            </a:r>
          </a:p>
        </p:txBody>
      </p:sp>
      <p:sp>
        <p:nvSpPr>
          <p:cNvPr id="4" name="forest-cover-title">
            <a:extLst xmlns:a="http://schemas.openxmlformats.org/drawingml/2006/main">
              <a:ext uri="{FF2B5EF4-FFF2-40B4-BE49-F238E27FC236}">
                <a16:creationId xmlns:a16="http://schemas.microsoft.com/office/drawing/2014/main" id="{79AA7AB8-487D-464A-AE7A-4939992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810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825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825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rPr>
              <a:t>Canopy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825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825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rPr>
              <a:t>Signals</a:t>
            </a:r>
          </a:p>
        </p:txBody>
      </p:sp>
      <p:sp>
        <p:nvSpPr>
          <p:cNvPr id="5" name="forest-cover-subtitle">
            <a:extLst xmlns:a="http://schemas.openxmlformats.org/drawingml/2006/main">
              <a:ext uri="{FF2B5EF4-FFF2-40B4-BE49-F238E27FC236}">
                <a16:creationId xmlns:a16="http://schemas.microsoft.com/office/drawing/2014/main" id="{E39C7BDA-96A6-4AE2-B260-F31CE4D3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22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rPr>
              <a:t>Field notes for cooler, calmer city blocks.</a:t>
            </a:r>
          </a:p>
        </p:txBody>
      </p:sp>
      <p:sp>
        <p:nvSpPr>
          <p:cNvPr id="6" name="forest-cover-rule">
            <a:extLst xmlns:a="http://schemas.openxmlformats.org/drawingml/2006/main">
              <a:ext uri="{FF2B5EF4-FFF2-40B4-BE49-F238E27FC236}">
                <a16:creationId xmlns:a16="http://schemas.microsoft.com/office/drawing/2014/main" id="{8380D146-9BE1-48DD-9379-3FD60D24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rest-cover-foot">
            <a:extLst xmlns:a="http://schemas.openxmlformats.org/drawingml/2006/main">
              <a:ext uri="{FF2B5EF4-FFF2-40B4-BE49-F238E27FC236}">
                <a16:creationId xmlns:a16="http://schemas.microsoft.com/office/drawing/2014/main" id="{7C3BBDA2-1B29-4D61-B444-FD7CF0A8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7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12 BLOCKS · 8 WEEKS · ILLUSTRATIVE CONCEPT DATA</a:t>
            </a:r>
          </a:p>
        </p:txBody>
      </p:sp>
    </p:spTree>
    <p:extLst>
      <p:ext uri="{BB962C8B-B14F-4D97-AF65-F5344CB8AC3E}">
        <p14:creationId xmlns:p14="http://schemas.microsoft.com/office/powerpoint/2010/main" val="69020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2">
            <a:extLst xmlns:a="http://schemas.openxmlformats.org/drawingml/2006/main">
              <a:ext uri="{FF2B5EF4-FFF2-40B4-BE49-F238E27FC236}">
                <a16:creationId xmlns:a16="http://schemas.microsoft.com/office/drawing/2014/main" id="{3BBF40EB-5C61-4754-BC3E-2FA5E37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THE PREMISE</a:t>
            </a:r>
          </a:p>
        </p:txBody>
      </p:sp>
      <p:sp>
        <p:nvSpPr>
          <p:cNvPr id="2" name="forest-page-2">
            <a:extLst xmlns:a="http://schemas.openxmlformats.org/drawingml/2006/main">
              <a:ext uri="{FF2B5EF4-FFF2-40B4-BE49-F238E27FC236}">
                <a16:creationId xmlns:a16="http://schemas.microsoft.com/office/drawing/2014/main" id="{C748155B-EC75-41EE-A89D-61F50D32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02 / 08</a:t>
            </a:r>
          </a:p>
        </p:txBody>
      </p:sp>
      <p:sp>
        <p:nvSpPr>
          <p:cNvPr id="3" name="forest-foot-rule-2">
            <a:extLst xmlns:a="http://schemas.openxmlformats.org/drawingml/2006/main">
              <a:ext uri="{FF2B5EF4-FFF2-40B4-BE49-F238E27FC236}">
                <a16:creationId xmlns:a16="http://schemas.microsoft.com/office/drawing/2014/main" id="{1573ED9B-3402-4A24-8177-16656ED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2">
            <a:extLst xmlns:a="http://schemas.openxmlformats.org/drawingml/2006/main">
              <a:ext uri="{FF2B5EF4-FFF2-40B4-BE49-F238E27FC236}">
                <a16:creationId xmlns:a16="http://schemas.microsoft.com/office/drawing/2014/main" id="{3AB75D6C-61CB-4156-8CA0-9D50329F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premise-title">
            <a:extLst xmlns:a="http://schemas.openxmlformats.org/drawingml/2006/main">
              <a:ext uri="{FF2B5EF4-FFF2-40B4-BE49-F238E27FC236}">
                <a16:creationId xmlns:a16="http://schemas.microsoft.com/office/drawing/2014/main" id="{799F7996-DB47-4404-95A6-38982C32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8286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5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Shade is infrastructure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5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you can feel.</a:t>
            </a:r>
          </a:p>
        </p:txBody>
      </p:sp>
      <p:sp>
        <p:nvSpPr>
          <p:cNvPr id="6" name="forest-premise-copy">
            <a:extLst xmlns:a="http://schemas.openxmlformats.org/drawingml/2006/main">
              <a:ext uri="{FF2B5EF4-FFF2-40B4-BE49-F238E27FC236}">
                <a16:creationId xmlns:a16="http://schemas.microsoft.com/office/drawing/2014/main" id="{AAA4683E-C37A-4B6A-9DD9-B19D8E1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 i="0">
                <a:solidFill>
                  <a:srgbClr val="1A1A17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875" b="0" i="0">
                <a:solidFill>
                  <a:srgbClr val="1A1A17"/>
                </a:solidFill>
                <a:latin typeface="Source Serif 4 Text"/>
                <a:ea typeface="Source Serif 4 Text"/>
                <a:cs typeface="Source Serif 4 Text"/>
              </a:rPr>
              <a:t>The study follows how canopy, soil, water, and places to pause change the rhythm of an ordinary block.</a:t>
            </a:r>
          </a:p>
        </p:txBody>
      </p:sp>
      <p:sp>
        <p:nvSpPr>
          <p:cNvPr id="7" name="forest-premise-rule-0">
            <a:extLst xmlns:a="http://schemas.openxmlformats.org/drawingml/2006/main">
              <a:ext uri="{FF2B5EF4-FFF2-40B4-BE49-F238E27FC236}">
                <a16:creationId xmlns:a16="http://schemas.microsoft.com/office/drawing/2014/main" id="{3B779A40-1664-472F-998C-810869D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rest-premise-label-0">
            <a:extLst xmlns:a="http://schemas.openxmlformats.org/drawingml/2006/main">
              <a:ext uri="{FF2B5EF4-FFF2-40B4-BE49-F238E27FC236}">
                <a16:creationId xmlns:a16="http://schemas.microsoft.com/office/drawing/2014/main" id="{906A0C5A-1120-496E-B841-70393224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7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SITES</a:t>
            </a:r>
          </a:p>
        </p:txBody>
      </p:sp>
      <p:sp>
        <p:nvSpPr>
          <p:cNvPr id="9" name="forest-premise-value-0">
            <a:extLst xmlns:a="http://schemas.openxmlformats.org/drawingml/2006/main">
              <a:ext uri="{FF2B5EF4-FFF2-40B4-BE49-F238E27FC236}">
                <a16:creationId xmlns:a16="http://schemas.microsoft.com/office/drawing/2014/main" id="{8587C663-836D-495E-9B84-D1B74E2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12 blocks</a:t>
            </a:r>
          </a:p>
        </p:txBody>
      </p:sp>
      <p:sp>
        <p:nvSpPr>
          <p:cNvPr id="10" name="forest-premise-rule-1">
            <a:extLst xmlns:a="http://schemas.openxmlformats.org/drawingml/2006/main">
              <a:ext uri="{FF2B5EF4-FFF2-40B4-BE49-F238E27FC236}">
                <a16:creationId xmlns:a16="http://schemas.microsoft.com/office/drawing/2014/main" id="{DDC771CD-822B-4A67-99A4-08C1B42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006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rest-premise-label-1">
            <a:extLst xmlns:a="http://schemas.openxmlformats.org/drawingml/2006/main">
              <a:ext uri="{FF2B5EF4-FFF2-40B4-BE49-F238E27FC236}">
                <a16:creationId xmlns:a16="http://schemas.microsoft.com/office/drawing/2014/main" id="{77985892-ABBE-4518-B25C-BBB90E46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7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WINDOW</a:t>
            </a:r>
          </a:p>
        </p:txBody>
      </p:sp>
      <p:sp>
        <p:nvSpPr>
          <p:cNvPr id="12" name="forest-premise-value-1">
            <a:extLst xmlns:a="http://schemas.openxmlformats.org/drawingml/2006/main">
              <a:ext uri="{FF2B5EF4-FFF2-40B4-BE49-F238E27FC236}">
                <a16:creationId xmlns:a16="http://schemas.microsoft.com/office/drawing/2014/main" id="{0A3B4AE7-59E1-4309-BBDA-2712AF0C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76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8 weeks</a:t>
            </a:r>
          </a:p>
        </p:txBody>
      </p:sp>
      <p:sp>
        <p:nvSpPr>
          <p:cNvPr id="13" name="forest-premise-rule-2">
            <a:extLst xmlns:a="http://schemas.openxmlformats.org/drawingml/2006/main">
              <a:ext uri="{FF2B5EF4-FFF2-40B4-BE49-F238E27FC236}">
                <a16:creationId xmlns:a16="http://schemas.microsoft.com/office/drawing/2014/main" id="{42822618-B3DD-4CA6-BE1E-E9F2168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rest-premise-label-2">
            <a:extLst xmlns:a="http://schemas.openxmlformats.org/drawingml/2006/main">
              <a:ext uri="{FF2B5EF4-FFF2-40B4-BE49-F238E27FC236}">
                <a16:creationId xmlns:a16="http://schemas.microsoft.com/office/drawing/2014/main" id="{014E15DC-36A4-41D8-9013-1D27F8A2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7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LAYERS</a:t>
            </a:r>
          </a:p>
        </p:txBody>
      </p:sp>
      <p:sp>
        <p:nvSpPr>
          <p:cNvPr id="15" name="forest-premise-value-2">
            <a:extLst xmlns:a="http://schemas.openxmlformats.org/drawingml/2006/main">
              <a:ext uri="{FF2B5EF4-FFF2-40B4-BE49-F238E27FC236}">
                <a16:creationId xmlns:a16="http://schemas.microsoft.com/office/drawing/2014/main" id="{7474A703-19D1-47B5-9128-0B66D74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76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1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4 moves</a:t>
            </a:r>
          </a:p>
        </p:txBody>
      </p:sp>
    </p:spTree>
    <p:extLst>
      <p:ext uri="{BB962C8B-B14F-4D97-AF65-F5344CB8AC3E}">
        <p14:creationId xmlns:p14="http://schemas.microsoft.com/office/powerpoint/2010/main" val="332024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3">
            <a:extLst xmlns:a="http://schemas.openxmlformats.org/drawingml/2006/main">
              <a:ext uri="{FF2B5EF4-FFF2-40B4-BE49-F238E27FC236}">
                <a16:creationId xmlns:a16="http://schemas.microsoft.com/office/drawing/2014/main" id="{8F6041B7-44DE-40E8-A237-54F2C5D8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FOUR FIELD SIGNALS</a:t>
            </a:r>
          </a:p>
        </p:txBody>
      </p:sp>
      <p:sp>
        <p:nvSpPr>
          <p:cNvPr id="2" name="forest-page-3">
            <a:extLst xmlns:a="http://schemas.openxmlformats.org/drawingml/2006/main">
              <a:ext uri="{FF2B5EF4-FFF2-40B4-BE49-F238E27FC236}">
                <a16:creationId xmlns:a16="http://schemas.microsoft.com/office/drawing/2014/main" id="{CE8664C4-722C-43D5-9F86-CD41FA98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03 / 08</a:t>
            </a:r>
          </a:p>
        </p:txBody>
      </p:sp>
      <p:sp>
        <p:nvSpPr>
          <p:cNvPr id="3" name="forest-foot-rule-3">
            <a:extLst xmlns:a="http://schemas.openxmlformats.org/drawingml/2006/main">
              <a:ext uri="{FF2B5EF4-FFF2-40B4-BE49-F238E27FC236}">
                <a16:creationId xmlns:a16="http://schemas.microsoft.com/office/drawing/2014/main" id="{9B765157-51A3-4E39-9517-75E775C4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3">
            <a:extLst xmlns:a="http://schemas.openxmlformats.org/drawingml/2006/main">
              <a:ext uri="{FF2B5EF4-FFF2-40B4-BE49-F238E27FC236}">
                <a16:creationId xmlns:a16="http://schemas.microsoft.com/office/drawing/2014/main" id="{F7CA3A8A-A374-4681-9989-012698E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signals-title">
            <a:extLst xmlns:a="http://schemas.openxmlformats.org/drawingml/2006/main">
              <a:ext uri="{FF2B5EF4-FFF2-40B4-BE49-F238E27FC236}">
                <a16:creationId xmlns:a16="http://schemas.microsoft.com/office/drawing/2014/main" id="{4E07AA8A-610B-4201-8DD5-B8E5F59F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39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A cooler block leaves four visible traces.</a:t>
            </a:r>
          </a:p>
        </p:txBody>
      </p:sp>
      <p:sp>
        <p:nvSpPr>
          <p:cNvPr id="6" name="forest-signal-canopy-surface">
            <a:extLst xmlns:a="http://schemas.openxmlformats.org/drawingml/2006/main">
              <a:ext uri="{FF2B5EF4-FFF2-40B4-BE49-F238E27FC236}">
                <a16:creationId xmlns:a16="http://schemas.microsoft.com/office/drawing/2014/main" id="{E450BBD4-EA2D-4EBE-A441-8BD3D20D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400550" cy="4095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0">
                <a:solidFill>
                  <a:srgbClr val="2E4A2A"/>
                </a:solidFill>
              </a:rPr>
              <a:t>​</a:t>
            </a:r>
          </a:p>
        </p:txBody>
      </p:sp>
      <p:sp>
        <p:nvSpPr>
          <p:cNvPr id="7" name="forest-signal-canopy-ordinal">
            <a:extLst xmlns:a="http://schemas.openxmlformats.org/drawingml/2006/main">
              <a:ext uri="{FF2B5EF4-FFF2-40B4-BE49-F238E27FC236}">
                <a16:creationId xmlns:a16="http://schemas.microsoft.com/office/drawing/2014/main" id="{D56BA55A-19D7-4C49-A229-F5A3391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01</a:t>
            </a:r>
          </a:p>
        </p:txBody>
      </p:sp>
      <p:sp>
        <p:nvSpPr>
          <p:cNvPr id="8" name="forest-signal-canopy-title">
            <a:extLst xmlns:a="http://schemas.openxmlformats.org/drawingml/2006/main">
              <a:ext uri="{FF2B5EF4-FFF2-40B4-BE49-F238E27FC236}">
                <a16:creationId xmlns:a16="http://schemas.microsoft.com/office/drawing/2014/main" id="{3A217E25-95FA-402A-9BBB-112536FD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42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rPr>
              <a:t>Canopy</a:t>
            </a:r>
          </a:p>
        </p:txBody>
      </p:sp>
      <p:sp>
        <p:nvSpPr>
          <p:cNvPr id="9" name="forest-signal-canopy-body">
            <a:extLst xmlns:a="http://schemas.openxmlformats.org/drawingml/2006/main">
              <a:ext uri="{FF2B5EF4-FFF2-40B4-BE49-F238E27FC236}">
                <a16:creationId xmlns:a16="http://schemas.microsoft.com/office/drawing/2014/main" id="{AFF23ADC-7DE6-4C2D-9663-6E94DE0F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943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rPr>
              <a:t>A continuous patch of shade, not isolated spots.</a:t>
            </a:r>
          </a:p>
        </p:txBody>
      </p:sp>
      <p:sp>
        <p:nvSpPr>
          <p:cNvPr id="10" name="forest-signal-ground-surface">
            <a:extLst xmlns:a="http://schemas.openxmlformats.org/drawingml/2006/main">
              <a:ext uri="{FF2B5EF4-FFF2-40B4-BE49-F238E27FC236}">
                <a16:creationId xmlns:a16="http://schemas.microsoft.com/office/drawing/2014/main" id="{FAFE7718-13BE-4BD7-8C35-2B764A24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2895600" cy="19526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0">
                <a:solidFill>
                  <a:srgbClr val="E89CB1"/>
                </a:solidFill>
              </a:rPr>
              <a:t>​</a:t>
            </a:r>
          </a:p>
        </p:txBody>
      </p:sp>
      <p:sp>
        <p:nvSpPr>
          <p:cNvPr id="11" name="forest-signal-ground-ordinal">
            <a:extLst xmlns:a="http://schemas.openxmlformats.org/drawingml/2006/main">
              <a:ext uri="{FF2B5EF4-FFF2-40B4-BE49-F238E27FC236}">
                <a16:creationId xmlns:a16="http://schemas.microsoft.com/office/drawing/2014/main" id="{CF56A82E-8B61-4B55-8C84-765A9E19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02</a:t>
            </a:r>
          </a:p>
        </p:txBody>
      </p:sp>
      <p:sp>
        <p:nvSpPr>
          <p:cNvPr id="12" name="forest-signal-ground-title">
            <a:extLst xmlns:a="http://schemas.openxmlformats.org/drawingml/2006/main">
              <a:ext uri="{FF2B5EF4-FFF2-40B4-BE49-F238E27FC236}">
                <a16:creationId xmlns:a16="http://schemas.microsoft.com/office/drawing/2014/main" id="{38543A9E-1854-4E06-A851-F2E1EE8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243A2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243A21"/>
                </a:solidFill>
                <a:latin typeface="Source Serif 4 Display"/>
                <a:ea typeface="Source Serif 4 Display"/>
                <a:cs typeface="Source Serif 4 Display"/>
              </a:rPr>
              <a:t>Ground</a:t>
            </a:r>
          </a:p>
        </p:txBody>
      </p:sp>
      <p:sp>
        <p:nvSpPr>
          <p:cNvPr id="13" name="forest-signal-ground-body">
            <a:extLst xmlns:a="http://schemas.openxmlformats.org/drawingml/2006/main">
              <a:ext uri="{FF2B5EF4-FFF2-40B4-BE49-F238E27FC236}">
                <a16:creationId xmlns:a16="http://schemas.microsoft.com/office/drawing/2014/main" id="{D34E9684-61A5-4C39-B986-8F2F3F8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86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243A21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243A21"/>
                </a:solidFill>
                <a:latin typeface="Source Serif 4 Text"/>
                <a:ea typeface="Source Serif 4 Text"/>
                <a:cs typeface="Source Serif 4 Text"/>
              </a:rPr>
              <a:t>Soil and permeable edges that release heat slowly.</a:t>
            </a:r>
          </a:p>
        </p:txBody>
      </p:sp>
      <p:sp>
        <p:nvSpPr>
          <p:cNvPr id="14" name="forest-signal-water-surface">
            <a:extLst xmlns:a="http://schemas.openxmlformats.org/drawingml/2006/main">
              <a:ext uri="{FF2B5EF4-FFF2-40B4-BE49-F238E27FC236}">
                <a16:creationId xmlns:a16="http://schemas.microsoft.com/office/drawing/2014/main" id="{7B6F2F06-4297-483B-936B-D60B95B4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28950" cy="19526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3A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0">
                <a:solidFill>
                  <a:srgbClr val="3A5A36"/>
                </a:solidFill>
              </a:rPr>
              <a:t>​</a:t>
            </a:r>
          </a:p>
        </p:txBody>
      </p:sp>
      <p:sp>
        <p:nvSpPr>
          <p:cNvPr id="15" name="forest-signal-water-ordinal">
            <a:extLst xmlns:a="http://schemas.openxmlformats.org/drawingml/2006/main">
              <a:ext uri="{FF2B5EF4-FFF2-40B4-BE49-F238E27FC236}">
                <a16:creationId xmlns:a16="http://schemas.microsoft.com/office/drawing/2014/main" id="{3AC79CB8-8015-478A-A937-DE6A1A5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19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03</a:t>
            </a:r>
          </a:p>
        </p:txBody>
      </p:sp>
      <p:sp>
        <p:nvSpPr>
          <p:cNvPr id="16" name="forest-signal-water-title">
            <a:extLst xmlns:a="http://schemas.openxmlformats.org/drawingml/2006/main">
              <a:ext uri="{FF2B5EF4-FFF2-40B4-BE49-F238E27FC236}">
                <a16:creationId xmlns:a16="http://schemas.microsoft.com/office/drawing/2014/main" id="{190DB68D-4558-452C-B15F-325B31D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rPr>
              <a:t>Water</a:t>
            </a:r>
          </a:p>
        </p:txBody>
      </p:sp>
      <p:sp>
        <p:nvSpPr>
          <p:cNvPr id="17" name="forest-signal-water-body">
            <a:extLst xmlns:a="http://schemas.openxmlformats.org/drawingml/2006/main">
              <a:ext uri="{FF2B5EF4-FFF2-40B4-BE49-F238E27FC236}">
                <a16:creationId xmlns:a16="http://schemas.microsoft.com/office/drawing/2014/main" id="{F2AD4022-975D-47AE-8076-3D1B646F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rPr>
              <a:t>A maintenance rhythm that survives the hottest week.</a:t>
            </a:r>
          </a:p>
        </p:txBody>
      </p:sp>
      <p:sp>
        <p:nvSpPr>
          <p:cNvPr id="18" name="forest-signal-pause-surface">
            <a:extLst xmlns:a="http://schemas.openxmlformats.org/drawingml/2006/main">
              <a:ext uri="{FF2B5EF4-FFF2-40B4-BE49-F238E27FC236}">
                <a16:creationId xmlns:a16="http://schemas.microsoft.com/office/drawing/2014/main" id="{D6C530BE-6BE1-43DA-A693-F165D30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14775"/>
            <a:ext cx="6076950" cy="19907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0">
                <a:solidFill>
                  <a:srgbClr val="E6DCC4"/>
                </a:solidFill>
              </a:rPr>
              <a:t>​</a:t>
            </a:r>
          </a:p>
        </p:txBody>
      </p:sp>
      <p:sp>
        <p:nvSpPr>
          <p:cNvPr id="19" name="forest-signal-pause-ordinal">
            <a:extLst xmlns:a="http://schemas.openxmlformats.org/drawingml/2006/main">
              <a:ext uri="{FF2B5EF4-FFF2-40B4-BE49-F238E27FC236}">
                <a16:creationId xmlns:a16="http://schemas.microsoft.com/office/drawing/2014/main" id="{5F40DDC8-2795-4ED3-8BE0-6DA41F2E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243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04</a:t>
            </a:r>
          </a:p>
        </p:txBody>
      </p:sp>
      <p:sp>
        <p:nvSpPr>
          <p:cNvPr id="20" name="forest-signal-pause-title">
            <a:extLst xmlns:a="http://schemas.openxmlformats.org/drawingml/2006/main">
              <a:ext uri="{FF2B5EF4-FFF2-40B4-BE49-F238E27FC236}">
                <a16:creationId xmlns:a16="http://schemas.microsoft.com/office/drawing/2014/main" id="{1634C905-F1B5-40CD-BB96-93C54129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Pause</a:t>
            </a:r>
          </a:p>
        </p:txBody>
      </p:sp>
      <p:sp>
        <p:nvSpPr>
          <p:cNvPr id="21" name="forest-signal-pause-body">
            <a:extLst xmlns:a="http://schemas.openxmlformats.org/drawingml/2006/main">
              <a:ext uri="{FF2B5EF4-FFF2-40B4-BE49-F238E27FC236}">
                <a16:creationId xmlns:a16="http://schemas.microsoft.com/office/drawing/2014/main" id="{5CD7D472-3F54-4DBA-85BE-4448ABF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81600"/>
            <a:ext cx="539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2E4A2A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2E4A2A"/>
                </a:solidFill>
                <a:latin typeface="Source Serif 4 Text"/>
                <a:ea typeface="Source Serif 4 Text"/>
                <a:cs typeface="Source Serif 4 Text"/>
              </a:rPr>
              <a:t>A comfortable reason to slow down and stay.</a:t>
            </a:r>
          </a:p>
        </p:txBody>
      </p:sp>
    </p:spTree>
    <p:extLst>
      <p:ext uri="{BB962C8B-B14F-4D97-AF65-F5344CB8AC3E}">
        <p14:creationId xmlns:p14="http://schemas.microsoft.com/office/powerpoint/2010/main" val="1227000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4">
            <a:extLst xmlns:a="http://schemas.openxmlformats.org/drawingml/2006/main">
              <a:ext uri="{FF2B5EF4-FFF2-40B4-BE49-F238E27FC236}">
                <a16:creationId xmlns:a16="http://schemas.microsoft.com/office/drawing/2014/main" id="{973C7723-11A8-40AF-80B0-F3710D4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ILLUSTRATIVE WARM-DAY PROFILE</a:t>
            </a:r>
          </a:p>
        </p:txBody>
      </p:sp>
      <p:sp>
        <p:nvSpPr>
          <p:cNvPr id="2" name="forest-page-4">
            <a:extLst xmlns:a="http://schemas.openxmlformats.org/drawingml/2006/main">
              <a:ext uri="{FF2B5EF4-FFF2-40B4-BE49-F238E27FC236}">
                <a16:creationId xmlns:a16="http://schemas.microsoft.com/office/drawing/2014/main" id="{793C72AD-1441-48AC-BD70-92042C5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04 / 08</a:t>
            </a:r>
          </a:p>
        </p:txBody>
      </p:sp>
      <p:sp>
        <p:nvSpPr>
          <p:cNvPr id="3" name="forest-foot-rule-4">
            <a:extLst xmlns:a="http://schemas.openxmlformats.org/drawingml/2006/main">
              <a:ext uri="{FF2B5EF4-FFF2-40B4-BE49-F238E27FC236}">
                <a16:creationId xmlns:a16="http://schemas.microsoft.com/office/drawing/2014/main" id="{08AE6EAF-00AF-460D-9036-D0FDE25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4">
            <a:extLst xmlns:a="http://schemas.openxmlformats.org/drawingml/2006/main">
              <a:ext uri="{FF2B5EF4-FFF2-40B4-BE49-F238E27FC236}">
                <a16:creationId xmlns:a16="http://schemas.microsoft.com/office/drawing/2014/main" id="{540CBF0B-0E2D-401F-85FA-8A32C1DB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temp-title">
            <a:extLst xmlns:a="http://schemas.openxmlformats.org/drawingml/2006/main">
              <a:ext uri="{FF2B5EF4-FFF2-40B4-BE49-F238E27FC236}">
                <a16:creationId xmlns:a16="http://schemas.microsoft.com/office/drawing/2014/main" id="{60B01714-8616-4D3E-9871-18E8D9A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3825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rPr>
              <a:t>Tree + soil keeps the afternoon peak lower.</a:t>
            </a:r>
          </a:p>
        </p:txBody>
      </p:sp>
      <p:sp>
        <p:nvSpPr>
          <p:cNvPr id="6" name="forest-temp-caption">
            <a:extLst xmlns:a="http://schemas.openxmlformats.org/drawingml/2006/main">
              <a:ext uri="{FF2B5EF4-FFF2-40B4-BE49-F238E27FC236}">
                <a16:creationId xmlns:a16="http://schemas.microsoft.com/office/drawing/2014/main" id="{0F4346E0-95A8-46F4-A295-D0870DDF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75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MEAN PAVEMENT SURFACE TEMPERATURE · °C</a:t>
            </a:r>
          </a:p>
        </p:txBody>
      </p:sp>
      <p:graphicFrame>
        <p:nvGraphicFramePr>
          <p:cNvPr id="14" name="forest-hourly-temperature-chart"/>
          <p:cNvGraphicFramePr/>
          <p:nvPr/>
        </p:nvGraphicFramePr>
        <p:xfrm>
          <a:off xmlns:a="http://schemas.openxmlformats.org/drawingml/2006/main" x="781050" y="2038350"/>
          <a:ext xmlns:a="http://schemas.openxmlformats.org/drawingml/2006/main" cx="106299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3dea6dce79445f"/>
          </a:graphicData>
        </a:graphic>
      </p:graphicFrame>
    </p:spTree>
    <p:extLst>
      <p:ext uri="{BB962C8B-B14F-4D97-AF65-F5344CB8AC3E}">
        <p14:creationId xmlns:p14="http://schemas.microsoft.com/office/powerpoint/2010/main" val="497395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5">
            <a:extLst xmlns:a="http://schemas.openxmlformats.org/drawingml/2006/main">
              <a:ext uri="{FF2B5EF4-FFF2-40B4-BE49-F238E27FC236}">
                <a16:creationId xmlns:a16="http://schemas.microsoft.com/office/drawing/2014/main" id="{31859F7E-7F45-4C84-8D5E-34DF5808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THE LAYERED BLOCK</a:t>
            </a:r>
          </a:p>
        </p:txBody>
      </p:sp>
      <p:sp>
        <p:nvSpPr>
          <p:cNvPr id="2" name="forest-page-5">
            <a:extLst xmlns:a="http://schemas.openxmlformats.org/drawingml/2006/main">
              <a:ext uri="{FF2B5EF4-FFF2-40B4-BE49-F238E27FC236}">
                <a16:creationId xmlns:a16="http://schemas.microsoft.com/office/drawing/2014/main" id="{B34F40AF-5517-4411-B0A5-3913F8AC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05 / 08</a:t>
            </a:r>
          </a:p>
        </p:txBody>
      </p:sp>
      <p:sp>
        <p:nvSpPr>
          <p:cNvPr id="3" name="forest-foot-rule-5">
            <a:extLst xmlns:a="http://schemas.openxmlformats.org/drawingml/2006/main">
              <a:ext uri="{FF2B5EF4-FFF2-40B4-BE49-F238E27FC236}">
                <a16:creationId xmlns:a16="http://schemas.microsoft.com/office/drawing/2014/main" id="{A0B95FC0-51F8-4ADE-ABB8-00549EF9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5">
            <a:extLst xmlns:a="http://schemas.openxmlformats.org/drawingml/2006/main">
              <a:ext uri="{FF2B5EF4-FFF2-40B4-BE49-F238E27FC236}">
                <a16:creationId xmlns:a16="http://schemas.microsoft.com/office/drawing/2014/main" id="{E6609450-3D0B-4BBE-8A56-CC101040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framework-title">
            <a:extLst xmlns:a="http://schemas.openxmlformats.org/drawingml/2006/main">
              <a:ext uri="{FF2B5EF4-FFF2-40B4-BE49-F238E27FC236}">
                <a16:creationId xmlns:a16="http://schemas.microsoft.com/office/drawing/2014/main" id="{1E4FE397-9A34-4BD2-B3A3-0FAB96DD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39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Cooling works as a four-layer system.</a:t>
            </a:r>
          </a:p>
        </p:txBody>
      </p:sp>
      <p:sp>
        <p:nvSpPr>
          <p:cNvPr id="6" name="forest-layer-0">
            <a:extLst xmlns:a="http://schemas.openxmlformats.org/drawingml/2006/main">
              <a:ext uri="{FF2B5EF4-FFF2-40B4-BE49-F238E27FC236}">
                <a16:creationId xmlns:a16="http://schemas.microsoft.com/office/drawing/2014/main" id="{0F6538A7-5A35-44B2-A9CE-BA587778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400300" cy="3390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FE7D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7" name="forest-layer-num-0">
            <a:extLst xmlns:a="http://schemas.openxmlformats.org/drawingml/2006/main">
              <a:ext uri="{FF2B5EF4-FFF2-40B4-BE49-F238E27FC236}">
                <a16:creationId xmlns:a16="http://schemas.microsoft.com/office/drawing/2014/main" id="{FAC03911-AE2F-4273-AD63-387E4AD0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01</a:t>
            </a:r>
          </a:p>
        </p:txBody>
      </p:sp>
      <p:sp>
        <p:nvSpPr>
          <p:cNvPr id="8" name="forest-layer-title-0">
            <a:extLst xmlns:a="http://schemas.openxmlformats.org/drawingml/2006/main">
              <a:ext uri="{FF2B5EF4-FFF2-40B4-BE49-F238E27FC236}">
                <a16:creationId xmlns:a16="http://schemas.microsoft.com/office/drawing/2014/main" id="{F6D2C4C2-C3E2-47EA-969F-0D7953D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Cast</a:t>
            </a:r>
          </a:p>
        </p:txBody>
      </p:sp>
      <p:sp>
        <p:nvSpPr>
          <p:cNvPr id="9" name="forest-layer-body-0">
            <a:extLst xmlns:a="http://schemas.openxmlformats.org/drawingml/2006/main">
              <a:ext uri="{FF2B5EF4-FFF2-40B4-BE49-F238E27FC236}">
                <a16:creationId xmlns:a16="http://schemas.microsoft.com/office/drawing/2014/main" id="{E60BA88E-7455-4E08-837E-145B9370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2E4A2A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2E4A2A"/>
                </a:solidFill>
                <a:latin typeface="Source Serif 4 Text"/>
                <a:ea typeface="Source Serif 4 Text"/>
                <a:cs typeface="Source Serif 4 Text"/>
              </a:rPr>
              <a:t>Place shade where the afternoon footpath actually runs.</a:t>
            </a:r>
          </a:p>
        </p:txBody>
      </p:sp>
      <p:sp>
        <p:nvSpPr>
          <p:cNvPr id="10" name="forest-layer-rule-0">
            <a:extLst xmlns:a="http://schemas.openxmlformats.org/drawingml/2006/main">
              <a:ext uri="{FF2B5EF4-FFF2-40B4-BE49-F238E27FC236}">
                <a16:creationId xmlns:a16="http://schemas.microsoft.com/office/drawing/2014/main" id="{FEDD6CAF-859B-4B82-A49C-70BAB709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rest-layer-foot-0">
            <a:extLst xmlns:a="http://schemas.openxmlformats.org/drawingml/2006/main">
              <a:ext uri="{FF2B5EF4-FFF2-40B4-BE49-F238E27FC236}">
                <a16:creationId xmlns:a16="http://schemas.microsoft.com/office/drawing/2014/main" id="{E5578E9D-990F-4111-9721-2494270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0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BUILD</a:t>
            </a:r>
          </a:p>
        </p:txBody>
      </p:sp>
      <p:sp>
        <p:nvSpPr>
          <p:cNvPr id="12" name="forest-layer-1">
            <a:extLst xmlns:a="http://schemas.openxmlformats.org/drawingml/2006/main">
              <a:ext uri="{FF2B5EF4-FFF2-40B4-BE49-F238E27FC236}">
                <a16:creationId xmlns:a16="http://schemas.microsoft.com/office/drawing/2014/main" id="{B1B25810-8A59-449E-A9BF-6B60B4B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2400300" cy="3390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rest-layer-num-1">
            <a:extLst xmlns:a="http://schemas.openxmlformats.org/drawingml/2006/main">
              <a:ext uri="{FF2B5EF4-FFF2-40B4-BE49-F238E27FC236}">
                <a16:creationId xmlns:a16="http://schemas.microsoft.com/office/drawing/2014/main" id="{F182CFE1-F151-4593-94D4-53728A0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02</a:t>
            </a:r>
          </a:p>
        </p:txBody>
      </p:sp>
      <p:sp>
        <p:nvSpPr>
          <p:cNvPr id="14" name="forest-layer-title-1">
            <a:extLst xmlns:a="http://schemas.openxmlformats.org/drawingml/2006/main">
              <a:ext uri="{FF2B5EF4-FFF2-40B4-BE49-F238E27FC236}">
                <a16:creationId xmlns:a16="http://schemas.microsoft.com/office/drawing/2014/main" id="{94C4A12B-070A-4B61-921D-DCCF6B65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rPr>
              <a:t>Soak</a:t>
            </a:r>
          </a:p>
        </p:txBody>
      </p:sp>
      <p:sp>
        <p:nvSpPr>
          <p:cNvPr id="15" name="forest-layer-body-1">
            <a:extLst xmlns:a="http://schemas.openxmlformats.org/drawingml/2006/main">
              <a:ext uri="{FF2B5EF4-FFF2-40B4-BE49-F238E27FC236}">
                <a16:creationId xmlns:a16="http://schemas.microsoft.com/office/drawing/2014/main" id="{53A58B9E-E431-4BB1-A832-CD9FCECB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rPr>
              <a:t>Give roots a permeable edge that can hold water.</a:t>
            </a:r>
          </a:p>
        </p:txBody>
      </p:sp>
      <p:sp>
        <p:nvSpPr>
          <p:cNvPr id="16" name="forest-layer-rule-1">
            <a:extLst xmlns:a="http://schemas.openxmlformats.org/drawingml/2006/main">
              <a:ext uri="{FF2B5EF4-FFF2-40B4-BE49-F238E27FC236}">
                <a16:creationId xmlns:a16="http://schemas.microsoft.com/office/drawing/2014/main" id="{DD29822B-835E-4A55-9783-DF2DAC8A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5775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rest-layer-foot-1">
            <a:extLst xmlns:a="http://schemas.openxmlformats.org/drawingml/2006/main">
              <a:ext uri="{FF2B5EF4-FFF2-40B4-BE49-F238E27FC236}">
                <a16:creationId xmlns:a16="http://schemas.microsoft.com/office/drawing/2014/main" id="{EE466B07-B012-4F5C-8164-050C8A4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0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BUILD</a:t>
            </a:r>
          </a:p>
        </p:txBody>
      </p:sp>
      <p:sp>
        <p:nvSpPr>
          <p:cNvPr id="18" name="forest-layer-2">
            <a:extLst xmlns:a="http://schemas.openxmlformats.org/drawingml/2006/main">
              <a:ext uri="{FF2B5EF4-FFF2-40B4-BE49-F238E27FC236}">
                <a16:creationId xmlns:a16="http://schemas.microsoft.com/office/drawing/2014/main" id="{EBCAE689-BB5A-4F12-AEE1-B24AE8D3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400300" cy="3390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rest-layer-num-2">
            <a:extLst xmlns:a="http://schemas.openxmlformats.org/drawingml/2006/main">
              <a:ext uri="{FF2B5EF4-FFF2-40B4-BE49-F238E27FC236}">
                <a16:creationId xmlns:a16="http://schemas.microsoft.com/office/drawing/2014/main" id="{CD6608DF-60C8-40DA-ADE8-23FCFC9B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03</a:t>
            </a:r>
          </a:p>
        </p:txBody>
      </p:sp>
      <p:sp>
        <p:nvSpPr>
          <p:cNvPr id="20" name="forest-layer-title-2">
            <a:extLst xmlns:a="http://schemas.openxmlformats.org/drawingml/2006/main">
              <a:ext uri="{FF2B5EF4-FFF2-40B4-BE49-F238E27FC236}">
                <a16:creationId xmlns:a16="http://schemas.microsoft.com/office/drawing/2014/main" id="{2D80B6A5-1D18-43AD-BB3C-F6A7229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 i="0">
                <a:solidFill>
                  <a:srgbClr val="243A2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243A21"/>
                </a:solidFill>
                <a:latin typeface="Source Serif 4 Display"/>
                <a:ea typeface="Source Serif 4 Display"/>
                <a:cs typeface="Source Serif 4 Display"/>
              </a:rPr>
              <a:t>Tend</a:t>
            </a:r>
          </a:p>
        </p:txBody>
      </p:sp>
      <p:sp>
        <p:nvSpPr>
          <p:cNvPr id="21" name="forest-layer-body-2">
            <a:extLst xmlns:a="http://schemas.openxmlformats.org/drawingml/2006/main">
              <a:ext uri="{FF2B5EF4-FFF2-40B4-BE49-F238E27FC236}">
                <a16:creationId xmlns:a16="http://schemas.microsoft.com/office/drawing/2014/main" id="{B44CD7FE-A6DD-439D-AEB2-B4FDA13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243A21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243A21"/>
                </a:solidFill>
                <a:latin typeface="Source Serif 4 Text"/>
                <a:ea typeface="Source Serif 4 Text"/>
                <a:cs typeface="Source Serif 4 Text"/>
              </a:rPr>
              <a:t>Make watering and drain checks visible and repeatable.</a:t>
            </a:r>
          </a:p>
        </p:txBody>
      </p:sp>
      <p:sp>
        <p:nvSpPr>
          <p:cNvPr id="22" name="forest-layer-rule-2">
            <a:extLst xmlns:a="http://schemas.openxmlformats.org/drawingml/2006/main">
              <a:ext uri="{FF2B5EF4-FFF2-40B4-BE49-F238E27FC236}">
                <a16:creationId xmlns:a16="http://schemas.microsoft.com/office/drawing/2014/main" id="{B786FCEE-77A9-447F-AFCC-1B39154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rest-layer-foot-2">
            <a:extLst xmlns:a="http://schemas.openxmlformats.org/drawingml/2006/main">
              <a:ext uri="{FF2B5EF4-FFF2-40B4-BE49-F238E27FC236}">
                <a16:creationId xmlns:a16="http://schemas.microsoft.com/office/drawing/2014/main" id="{34D984E5-EFA6-4563-91FD-FFFB182C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482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0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BUILD</a:t>
            </a:r>
          </a:p>
        </p:txBody>
      </p:sp>
      <p:sp>
        <p:nvSpPr>
          <p:cNvPr id="24" name="forest-layer-3">
            <a:extLst xmlns:a="http://schemas.openxmlformats.org/drawingml/2006/main">
              <a:ext uri="{FF2B5EF4-FFF2-40B4-BE49-F238E27FC236}">
                <a16:creationId xmlns:a16="http://schemas.microsoft.com/office/drawing/2014/main" id="{F9ECB488-CA4C-4334-88ED-E7DFA2F8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400300" cy="3390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25" name="forest-layer-num-3">
            <a:extLst xmlns:a="http://schemas.openxmlformats.org/drawingml/2006/main">
              <a:ext uri="{FF2B5EF4-FFF2-40B4-BE49-F238E27FC236}">
                <a16:creationId xmlns:a16="http://schemas.microsoft.com/office/drawing/2014/main" id="{5B4BFB11-3066-4430-8A16-6D24139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04</a:t>
            </a:r>
          </a:p>
        </p:txBody>
      </p:sp>
      <p:sp>
        <p:nvSpPr>
          <p:cNvPr id="26" name="forest-layer-title-3">
            <a:extLst xmlns:a="http://schemas.openxmlformats.org/drawingml/2006/main">
              <a:ext uri="{FF2B5EF4-FFF2-40B4-BE49-F238E27FC236}">
                <a16:creationId xmlns:a16="http://schemas.microsoft.com/office/drawing/2014/main" id="{BE3FD375-1322-40EA-9130-A3D4941C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2775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Invite</a:t>
            </a:r>
          </a:p>
        </p:txBody>
      </p:sp>
      <p:sp>
        <p:nvSpPr>
          <p:cNvPr id="27" name="forest-layer-body-3">
            <a:extLst xmlns:a="http://schemas.openxmlformats.org/drawingml/2006/main">
              <a:ext uri="{FF2B5EF4-FFF2-40B4-BE49-F238E27FC236}">
                <a16:creationId xmlns:a16="http://schemas.microsoft.com/office/drawing/2014/main" id="{FE629788-A2CB-499D-9186-3DC490D4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A1A17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350" b="0" i="0">
                <a:solidFill>
                  <a:srgbClr val="1A1A17"/>
                </a:solidFill>
                <a:latin typeface="Source Serif 4 Text"/>
                <a:ea typeface="Source Serif 4 Text"/>
                <a:cs typeface="Source Serif 4 Text"/>
              </a:rPr>
              <a:t>Add a reason to stop: a seat, ledge, stall, or view.</a:t>
            </a:r>
          </a:p>
        </p:txBody>
      </p:sp>
      <p:sp>
        <p:nvSpPr>
          <p:cNvPr id="28" name="forest-layer-rule-3">
            <a:extLst xmlns:a="http://schemas.openxmlformats.org/drawingml/2006/main">
              <a:ext uri="{FF2B5EF4-FFF2-40B4-BE49-F238E27FC236}">
                <a16:creationId xmlns:a16="http://schemas.microsoft.com/office/drawing/2014/main" id="{2E383BF8-9FD5-483B-A6A3-1F0C75B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rest-layer-foot-3">
            <a:extLst xmlns:a="http://schemas.openxmlformats.org/drawingml/2006/main">
              <a:ext uri="{FF2B5EF4-FFF2-40B4-BE49-F238E27FC236}">
                <a16:creationId xmlns:a16="http://schemas.microsoft.com/office/drawing/2014/main" id="{990AD177-4D31-4E8B-902A-4E889C3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482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0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STAY</a:t>
            </a:r>
          </a:p>
        </p:txBody>
      </p:sp>
    </p:spTree>
    <p:extLst>
      <p:ext uri="{BB962C8B-B14F-4D97-AF65-F5344CB8AC3E}">
        <p14:creationId xmlns:p14="http://schemas.microsoft.com/office/powerpoint/2010/main" val="1027532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9C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6">
            <a:extLst xmlns:a="http://schemas.openxmlformats.org/drawingml/2006/main">
              <a:ext uri="{FF2B5EF4-FFF2-40B4-BE49-F238E27FC236}">
                <a16:creationId xmlns:a16="http://schemas.microsoft.com/office/drawing/2014/main" id="{F12CF23F-12C0-419A-AA61-D515B3F5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ILLUSTRATIVE OBSERVATION SERIES</a:t>
            </a:r>
          </a:p>
        </p:txBody>
      </p:sp>
      <p:sp>
        <p:nvSpPr>
          <p:cNvPr id="2" name="forest-page-6">
            <a:extLst xmlns:a="http://schemas.openxmlformats.org/drawingml/2006/main">
              <a:ext uri="{FF2B5EF4-FFF2-40B4-BE49-F238E27FC236}">
                <a16:creationId xmlns:a16="http://schemas.microsoft.com/office/drawing/2014/main" id="{44CD9BB3-F0D9-46E7-A370-3C5C577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06 / 08</a:t>
            </a:r>
          </a:p>
        </p:txBody>
      </p:sp>
      <p:sp>
        <p:nvSpPr>
          <p:cNvPr id="3" name="forest-foot-rule-6">
            <a:extLst xmlns:a="http://schemas.openxmlformats.org/drawingml/2006/main">
              <a:ext uri="{FF2B5EF4-FFF2-40B4-BE49-F238E27FC236}">
                <a16:creationId xmlns:a16="http://schemas.microsoft.com/office/drawing/2014/main" id="{0DC0C8E5-10A0-4BD6-87CE-00A638D8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6">
            <a:extLst xmlns:a="http://schemas.openxmlformats.org/drawingml/2006/main">
              <a:ext uri="{FF2B5EF4-FFF2-40B4-BE49-F238E27FC236}">
                <a16:creationId xmlns:a16="http://schemas.microsoft.com/office/drawing/2014/main" id="{E83696CB-5975-48CB-9AB6-35347C2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dwell-title">
            <a:extLst xmlns:a="http://schemas.openxmlformats.org/drawingml/2006/main">
              <a:ext uri="{FF2B5EF4-FFF2-40B4-BE49-F238E27FC236}">
                <a16:creationId xmlns:a16="http://schemas.microsoft.com/office/drawing/2014/main" id="{8F51F03B-6B28-4045-8113-BC0CFD2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243A2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3750" b="1" i="0">
                <a:solidFill>
                  <a:srgbClr val="243A21"/>
                </a:solidFill>
                <a:latin typeface="Source Serif 4 Display"/>
                <a:ea typeface="Source Serif 4 Display"/>
                <a:cs typeface="Source Serif 4 Display"/>
              </a:rPr>
              <a:t>More continuous shade changes how long people stay.</a:t>
            </a:r>
          </a:p>
        </p:txBody>
      </p:sp>
      <p:sp>
        <p:nvSpPr>
          <p:cNvPr id="6" name="forest-dwell-chart-surface">
            <a:extLst xmlns:a="http://schemas.openxmlformats.org/drawingml/2006/main">
              <a:ext uri="{FF2B5EF4-FFF2-40B4-BE49-F238E27FC236}">
                <a16:creationId xmlns:a16="http://schemas.microsoft.com/office/drawing/2014/main" id="{63C9FB05-C91E-49D7-8372-C32F60F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84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FE7D4"/>
          </a:solidFill>
          <a:ln xmlns:a="http://schemas.openxmlformats.org/drawingml/2006/main" w="19050">
            <a:solidFill>
              <a:srgbClr val="243A21"/>
            </a:solidFill>
            <a:prstDash val="solid"/>
          </a:ln>
        </p:spPr>
      </p:sp>
      <p:graphicFrame>
        <p:nvGraphicFramePr>
          <p:cNvPr id="21" name="forest-dwell-time-chart"/>
          <p:cNvGraphicFramePr/>
          <p:nvPr/>
        </p:nvGraphicFramePr>
        <p:xfrm>
          <a:off xmlns:a="http://schemas.openxmlformats.org/drawingml/2006/main" x="1028700" y="2209800"/>
          <a:ext xmlns:a="http://schemas.openxmlformats.org/drawingml/2006/main" cx="73533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6957ade2634fe6"/>
          </a:graphicData>
        </a:graphic>
      </p:graphicFrame>
      <p:sp>
        <p:nvSpPr>
          <p:cNvPr id="8" name="forest-dwell-axis-label">
            <a:extLst xmlns:a="http://schemas.openxmlformats.org/drawingml/2006/main">
              <a:ext uri="{FF2B5EF4-FFF2-40B4-BE49-F238E27FC236}">
                <a16:creationId xmlns:a16="http://schemas.microsoft.com/office/drawing/2014/main" id="{D72FF08C-60B8-49DE-B40F-4A0BB75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825" b="1" i="0">
                <a:solidFill>
                  <a:srgbClr val="243A21"/>
                </a:solidFill>
                <a:latin typeface="JetBrains Mono Labels"/>
                <a:ea typeface="JetBrains Mono Labels"/>
                <a:cs typeface="JetBrains Mono Labels"/>
              </a:rPr>
              <a:t>SHADE COVERAGE BAND</a:t>
            </a:r>
          </a:p>
        </p:txBody>
      </p:sp>
      <p:sp>
        <p:nvSpPr>
          <p:cNvPr id="9" name="forest-dwell-callout">
            <a:extLst xmlns:a="http://schemas.openxmlformats.org/drawingml/2006/main">
              <a:ext uri="{FF2B5EF4-FFF2-40B4-BE49-F238E27FC236}">
                <a16:creationId xmlns:a16="http://schemas.microsoft.com/office/drawing/2014/main" id="{F3837BBB-FF78-4F4C-BE00-F188820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2419350" cy="39052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rest-dwell-callout-value">
            <a:extLst xmlns:a="http://schemas.openxmlformats.org/drawingml/2006/main">
              <a:ext uri="{FF2B5EF4-FFF2-40B4-BE49-F238E27FC236}">
                <a16:creationId xmlns:a16="http://schemas.microsoft.com/office/drawing/2014/main" id="{3547A94E-9DFD-46E5-B056-9EB793A5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540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rPr>
              <a:t>14.3</a:t>
            </a:r>
          </a:p>
        </p:txBody>
      </p:sp>
      <p:sp>
        <p:nvSpPr>
          <p:cNvPr id="11" name="forest-dwell-callout-unit">
            <a:extLst xmlns:a="http://schemas.openxmlformats.org/drawingml/2006/main">
              <a:ext uri="{FF2B5EF4-FFF2-40B4-BE49-F238E27FC236}">
                <a16:creationId xmlns:a16="http://schemas.microsoft.com/office/drawing/2014/main" id="{FCC4217D-6E2B-4839-8D31-FDA8E0C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099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90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MIN MEDIAN DWELL</a:t>
            </a:r>
          </a:p>
        </p:txBody>
      </p:sp>
      <p:sp>
        <p:nvSpPr>
          <p:cNvPr id="12" name="forest-dwell-callout-rule">
            <a:extLst xmlns:a="http://schemas.openxmlformats.org/drawingml/2006/main">
              <a:ext uri="{FF2B5EF4-FFF2-40B4-BE49-F238E27FC236}">
                <a16:creationId xmlns:a16="http://schemas.microsoft.com/office/drawing/2014/main" id="{3CC6BFD4-7F59-4451-982E-48047034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624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rest-dwell-callout-copy">
            <a:extLst xmlns:a="http://schemas.openxmlformats.org/drawingml/2006/main">
              <a:ext uri="{FF2B5EF4-FFF2-40B4-BE49-F238E27FC236}">
                <a16:creationId xmlns:a16="http://schemas.microsoft.com/office/drawing/2014/main" id="{366EF2DB-5F97-4F13-BFD9-533C4999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672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500" b="0" i="0">
                <a:solidFill>
                  <a:srgbClr val="EFE7D4"/>
                </a:solidFill>
                <a:latin typeface="Source Serif 4 Text"/>
                <a:ea typeface="Source Serif 4 Text"/>
                <a:cs typeface="Source Serif 4 Text"/>
              </a:rPr>
              <a:t>The most shaded band also held attention longest in the evening.</a:t>
            </a:r>
          </a:p>
        </p:txBody>
      </p:sp>
    </p:spTree>
    <p:extLst>
      <p:ext uri="{BB962C8B-B14F-4D97-AF65-F5344CB8AC3E}">
        <p14:creationId xmlns:p14="http://schemas.microsoft.com/office/powerpoint/2010/main" val="1516634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7">
            <a:extLst xmlns:a="http://schemas.openxmlformats.org/drawingml/2006/main">
              <a:ext uri="{FF2B5EF4-FFF2-40B4-BE49-F238E27FC236}">
                <a16:creationId xmlns:a16="http://schemas.microsoft.com/office/drawing/2014/main" id="{7157D582-2961-441A-94FB-4C228FA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THE SITE LEDGER</a:t>
            </a:r>
          </a:p>
        </p:txBody>
      </p:sp>
      <p:sp>
        <p:nvSpPr>
          <p:cNvPr id="2" name="forest-page-7">
            <a:extLst xmlns:a="http://schemas.openxmlformats.org/drawingml/2006/main">
              <a:ext uri="{FF2B5EF4-FFF2-40B4-BE49-F238E27FC236}">
                <a16:creationId xmlns:a16="http://schemas.microsoft.com/office/drawing/2014/main" id="{6BAA92C2-A6CD-4C9C-8415-1F703D06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07 / 08</a:t>
            </a:r>
          </a:p>
        </p:txBody>
      </p:sp>
      <p:sp>
        <p:nvSpPr>
          <p:cNvPr id="3" name="forest-foot-rule-7">
            <a:extLst xmlns:a="http://schemas.openxmlformats.org/drawingml/2006/main">
              <a:ext uri="{FF2B5EF4-FFF2-40B4-BE49-F238E27FC236}">
                <a16:creationId xmlns:a16="http://schemas.microsoft.com/office/drawing/2014/main" id="{41994852-3D65-4F4D-BFDF-1FCF211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7">
            <a:extLst xmlns:a="http://schemas.openxmlformats.org/drawingml/2006/main">
              <a:ext uri="{FF2B5EF4-FFF2-40B4-BE49-F238E27FC236}">
                <a16:creationId xmlns:a16="http://schemas.microsoft.com/office/drawing/2014/main" id="{772E6827-55EC-40ED-8069-D45DCDBC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ledger-title">
            <a:extLst xmlns:a="http://schemas.openxmlformats.org/drawingml/2006/main">
              <a:ext uri="{FF2B5EF4-FFF2-40B4-BE49-F238E27FC236}">
                <a16:creationId xmlns:a16="http://schemas.microsoft.com/office/drawing/2014/main" id="{4487318E-0163-4887-BD6A-F08BCAF4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3900" b="1" i="0">
                <a:solidFill>
                  <a:srgbClr val="2E4A2A"/>
                </a:solidFill>
                <a:latin typeface="Source Serif 4 Display"/>
                <a:ea typeface="Source Serif 4 Display"/>
                <a:cs typeface="Source Serif 4 Display"/>
              </a:rPr>
              <a:t>Each block needs a different next move.</a:t>
            </a:r>
          </a:p>
        </p:txBody>
      </p:sp>
      <p:graphicFrame>
        <p:nvGraphicFramePr>
          <p:cNvPr id="14" name="forest-native-site-ledger"/>
          <p:cNvGraphicFramePr/>
          <p:nvPr/>
        </p:nvGraphicFramePr>
        <p:xfrm>
          <a:off xmlns:a="http://schemas.openxmlformats.org/drawingml/2006/main" x="781050" y="1885950"/>
          <a:ext xmlns:a="http://schemas.openxmlformats.org/drawingml/2006/main" cx="106299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2433"/>
                <a:gridCol w="1351258"/>
                <a:gridCol w="1891762"/>
                <a:gridCol w="1801678"/>
                <a:gridCol w="2972769"/>
              </a:tblGrid>
              <a:tr h="641350"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E89CB1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Site type</a:t>
                      </a:r>
                    </a:p>
                  </a:txBody>
                  <a:tcPr marL="91440" marR="91440" marT="45720" marB="45720">
                    <a:solidFill>
                      <a:srgbClr val="2E4A2A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E89CB1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Shade</a:t>
                      </a:r>
                    </a:p>
                  </a:txBody>
                  <a:tcPr marL="91440" marR="91440" marT="45720" marB="45720">
                    <a:solidFill>
                      <a:srgbClr val="2E4A2A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E89CB1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14:00 surface</a:t>
                      </a:r>
                    </a:p>
                  </a:txBody>
                  <a:tcPr marL="91440" marR="91440" marT="45720" marB="45720">
                    <a:solidFill>
                      <a:srgbClr val="2E4A2A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E89CB1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Median dwell</a:t>
                      </a:r>
                    </a:p>
                  </a:txBody>
                  <a:tcPr marL="91440" marR="91440" marT="45720" marB="45720">
                    <a:solidFill>
                      <a:srgbClr val="2E4A2A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E89CB1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Next intervention</a:t>
                      </a:r>
                    </a:p>
                  </a:txBody>
                  <a:tcPr marL="91440" marR="91440" marT="45720" marB="45720">
                    <a:solidFill>
                      <a:srgbClr val="2E4A2A"/>
                    </a:solidFill>
                  </a:tcPr>
                </a:tc>
              </a:tr>
              <a:tr h="641350"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A1A17"/>
                          </a:solidFill>
                          <a:latin typeface="Source Serif 4 Display"/>
                          <a:ea typeface="Source Serif 4 Display"/>
                          <a:cs typeface="Source Serif 4 Display"/>
                        </a:rPr>
                        <a:t>Transit edge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18%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49.6°C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3.1 min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Double the canopy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</a:tr>
              <a:tr h="641350"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A1A17"/>
                          </a:solidFill>
                          <a:latin typeface="Source Serif 4 Display"/>
                          <a:ea typeface="Source Serif 4 Display"/>
                          <a:cs typeface="Source Serif 4 Display"/>
                        </a:rPr>
                        <a:t>Market lane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46%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42.2°C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8.4 min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Add a soil edge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</a:tr>
              <a:tr h="641350"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A1A17"/>
                          </a:solidFill>
                          <a:latin typeface="Source Serif 4 Display"/>
                          <a:ea typeface="Source Serif 4 Display"/>
                          <a:cs typeface="Source Serif 4 Display"/>
                        </a:rPr>
                        <a:t>School gate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63%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38.7°C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12.8 min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Protect the root zone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</a:tr>
              <a:tr h="641350"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A1A17"/>
                          </a:solidFill>
                          <a:latin typeface="Source Serif 4 Display"/>
                          <a:ea typeface="Source Serif 4 Display"/>
                          <a:cs typeface="Source Serif 4 Display"/>
                        </a:rPr>
                        <a:t>Civic court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34%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45.1°C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5.9 min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Add a rest point</a:t>
                      </a:r>
                    </a:p>
                  </a:txBody>
                  <a:tcPr marL="91440" marR="91440" marT="45720" marB="45720">
                    <a:solidFill>
                      <a:srgbClr val="E6DCC4"/>
                    </a:solidFill>
                  </a:tcPr>
                </a:tc>
              </a:tr>
              <a:tr h="641350"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A1A17"/>
                          </a:solidFill>
                          <a:latin typeface="Source Serif 4 Display"/>
                          <a:ea typeface="Source Serif 4 Display"/>
                          <a:cs typeface="Source Serif 4 Display"/>
                        </a:rPr>
                        <a:t>Library walk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71%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36.9°C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15.2 min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JetBrains Mono Labels"/>
                          <a:ea typeface="JetBrains Mono Labels"/>
                          <a:cs typeface="JetBrains Mono Labels"/>
                        </a:rPr>
                        <a:t>Hold and monitor</a:t>
                      </a:r>
                    </a:p>
                  </a:txBody>
                  <a:tcPr marL="91440" marR="91440" marT="45720" marB="45720">
                    <a:solidFill>
                      <a:srgbClr val="EFE7D4"/>
                    </a:solidFill>
                  </a:tcPr>
                </a:tc>
              </a:tr>
            </a:tbl>
          </a:graphicData>
        </a:graphic>
      </p:graphicFrame>
      <p:sp>
        <p:nvSpPr>
          <p:cNvPr id="7" name="forest-ledger-caption">
            <a:extLst xmlns:a="http://schemas.openxmlformats.org/drawingml/2006/main">
              <a:ext uri="{FF2B5EF4-FFF2-40B4-BE49-F238E27FC236}">
                <a16:creationId xmlns:a16="http://schemas.microsoft.com/office/drawing/2014/main" id="{40FF7016-9BBE-49F3-AAB7-D322B14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825" b="1" i="0">
                <a:solidFill>
                  <a:srgbClr val="2E4A2A"/>
                </a:solidFill>
                <a:latin typeface="JetBrains Mono Labels"/>
                <a:ea typeface="JetBrains Mono Labels"/>
                <a:cs typeface="JetBrains Mono Labels"/>
              </a:rPr>
              <a:t>NATIVE EDITABLE TABLE · ALL VALUES ARE ILLUSTRATIVE</a:t>
            </a:r>
          </a:p>
        </p:txBody>
      </p:sp>
    </p:spTree>
    <p:extLst>
      <p:ext uri="{BB962C8B-B14F-4D97-AF65-F5344CB8AC3E}">
        <p14:creationId xmlns:p14="http://schemas.microsoft.com/office/powerpoint/2010/main" val="508682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section-8">
            <a:extLst xmlns:a="http://schemas.openxmlformats.org/drawingml/2006/main">
              <a:ext uri="{FF2B5EF4-FFF2-40B4-BE49-F238E27FC236}">
                <a16:creationId xmlns:a16="http://schemas.microsoft.com/office/drawing/2014/main" id="{3BC13425-6D0E-4147-BA93-D1A1BD9D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THE CLOSING PRINCIPLE</a:t>
            </a:r>
          </a:p>
        </p:txBody>
      </p:sp>
      <p:sp>
        <p:nvSpPr>
          <p:cNvPr id="2" name="forest-page-8">
            <a:extLst xmlns:a="http://schemas.openxmlformats.org/drawingml/2006/main">
              <a:ext uri="{FF2B5EF4-FFF2-40B4-BE49-F238E27FC236}">
                <a16:creationId xmlns:a16="http://schemas.microsoft.com/office/drawing/2014/main" id="{F9505E8E-95E0-4201-867E-25C7BE8A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08 / 08</a:t>
            </a:r>
          </a:p>
        </p:txBody>
      </p:sp>
      <p:sp>
        <p:nvSpPr>
          <p:cNvPr id="3" name="forest-foot-rule-8">
            <a:extLst xmlns:a="http://schemas.openxmlformats.org/drawingml/2006/main">
              <a:ext uri="{FF2B5EF4-FFF2-40B4-BE49-F238E27FC236}">
                <a16:creationId xmlns:a16="http://schemas.microsoft.com/office/drawing/2014/main" id="{C4FBB8F5-F80F-433F-8DAC-C80681A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est-footer-8">
            <a:extLst xmlns:a="http://schemas.openxmlformats.org/drawingml/2006/main">
              <a:ext uri="{FF2B5EF4-FFF2-40B4-BE49-F238E27FC236}">
                <a16:creationId xmlns:a16="http://schemas.microsoft.com/office/drawing/2014/main" id="{78EF6E8B-54F0-441C-920D-DAC2B3A3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7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CANOPY SIGNALS · ILLUSTRATIVE URBAN FIELD STUDY</a:t>
            </a:r>
          </a:p>
        </p:txBody>
      </p:sp>
      <p:sp>
        <p:nvSpPr>
          <p:cNvPr id="5" name="forest-close-kicker">
            <a:extLst xmlns:a="http://schemas.openxmlformats.org/drawingml/2006/main">
              <a:ext uri="{FF2B5EF4-FFF2-40B4-BE49-F238E27FC236}">
                <a16:creationId xmlns:a16="http://schemas.microsoft.com/office/drawing/2014/main" id="{E80DFD22-6106-4E49-94E1-8C114D24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defRPr>
            </a:pPr>
            <a:r>
              <a:rPr sz="1050" b="1" i="0">
                <a:solidFill>
                  <a:srgbClr val="E89CB1"/>
                </a:solidFill>
                <a:latin typeface="JetBrains Mono Labels"/>
                <a:ea typeface="JetBrains Mono Labels"/>
                <a:cs typeface="JetBrains Mono Labels"/>
              </a:rPr>
              <a:t>FIELD NOTE / 08</a:t>
            </a:r>
          </a:p>
        </p:txBody>
      </p:sp>
      <p:sp>
        <p:nvSpPr>
          <p:cNvPr id="6" name="forest-close-title">
            <a:extLst xmlns:a="http://schemas.openxmlformats.org/drawingml/2006/main">
              <a:ext uri="{FF2B5EF4-FFF2-40B4-BE49-F238E27FC236}">
                <a16:creationId xmlns:a16="http://schemas.microsoft.com/office/drawing/2014/main" id="{79E87707-3DC3-4E61-8D75-413DE17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857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57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rPr>
              <a:t>Design the shade.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57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rPr>
              <a:t>Then design the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5700" b="1" i="0">
                <a:solidFill>
                  <a:srgbClr val="EFE7D4"/>
                </a:solidFill>
                <a:latin typeface="Source Serif 4 Display"/>
                <a:ea typeface="Source Serif 4 Display"/>
                <a:cs typeface="Source Serif 4 Display"/>
              </a:rPr>
              <a:t>reason to stay.</a:t>
            </a:r>
          </a:p>
        </p:txBody>
      </p:sp>
      <p:sp>
        <p:nvSpPr>
          <p:cNvPr id="7" name="forest-close-mark">
            <a:extLst xmlns:a="http://schemas.openxmlformats.org/drawingml/2006/main">
              <a:ext uri="{FF2B5EF4-FFF2-40B4-BE49-F238E27FC236}">
                <a16:creationId xmlns:a16="http://schemas.microsoft.com/office/drawing/2014/main" id="{0AC982C8-25B5-4F2D-B46D-00BF070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81150"/>
            <a:ext cx="1581150" cy="1581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sp>
        <p:nvSpPr>
          <p:cNvPr id="8" name="forest-close-mark-text">
            <a:extLst xmlns:a="http://schemas.openxmlformats.org/drawingml/2006/main">
              <a:ext uri="{FF2B5EF4-FFF2-40B4-BE49-F238E27FC236}">
                <a16:creationId xmlns:a16="http://schemas.microsoft.com/office/drawing/2014/main" id="{694B6BD6-3B36-4962-B7FE-ECBA7E8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81150"/>
            <a:ext cx="15811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95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defRPr>
            </a:pPr>
            <a:r>
              <a:rPr sz="4950" b="1" i="0">
                <a:solidFill>
                  <a:srgbClr val="E89CB1"/>
                </a:solidFill>
                <a:latin typeface="Source Serif 4 Display"/>
                <a:ea typeface="Source Serif 4 Display"/>
                <a:cs typeface="Source Serif 4 Display"/>
              </a:rPr>
              <a:t>08</a:t>
            </a:r>
          </a:p>
        </p:txBody>
      </p:sp>
      <p:sp>
        <p:nvSpPr>
          <p:cNvPr id="9" name="forest-close-body">
            <a:extLst xmlns:a="http://schemas.openxmlformats.org/drawingml/2006/main">
              <a:ext uri="{FF2B5EF4-FFF2-40B4-BE49-F238E27FC236}">
                <a16:creationId xmlns:a16="http://schemas.microsoft.com/office/drawing/2014/main" id="{263AAE2F-E472-4BC1-B96F-3D5C8C0E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790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 i="0">
                <a:solidFill>
                  <a:srgbClr val="E89CB1"/>
                </a:solidFill>
                <a:latin typeface="Source Serif 4 Text"/>
                <a:ea typeface="Source Serif 4 Text"/>
                <a:cs typeface="Source Serif 4 Text"/>
              </a:defRPr>
            </a:pPr>
            <a:r>
              <a:rPr sz="1950" b="0" i="0">
                <a:solidFill>
                  <a:srgbClr val="E89CB1"/>
                </a:solidFill>
                <a:latin typeface="Source Serif 4 Text"/>
                <a:ea typeface="Source Serif 4 Text"/>
                <a:cs typeface="Source Serif 4 Text"/>
              </a:rPr>
              <a:t>The coolest block is not only lower in temperature. It gives people a comfortable next minute.</a:t>
            </a:r>
          </a:p>
        </p:txBody>
      </p:sp>
    </p:spTree>
    <p:extLst>
      <p:ext uri="{BB962C8B-B14F-4D97-AF65-F5344CB8AC3E}">
        <p14:creationId xmlns:p14="http://schemas.microsoft.com/office/powerpoint/2010/main" val="146079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2026-07-27T13:56:38.3660000Z</dcterms:created>
  <dcterms:modified xsi:type="dcterms:W3CDTF">2026-07-27T13:56:38.3660000Z</dcterms:modified>
</coreProperties>
</file>