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75490cd616a1414f" /><Relationship Type="http://schemas.openxmlformats.org/officeDocument/2006/relationships/extended-properties" Target="/docProps/app.xml" Id="R40f2f2e86cfc4177" /><Relationship Type="http://schemas.openxmlformats.org/officeDocument/2006/relationships/officeDocument" Target="/ppt/presentation.xml" Id="R97b08fbe999248de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115d57a3d1584d25"/>
  </p:sldMasterIdLst>
  <p:notesMasterIdLst>
    <p:notesMasterId xmlns:r="http://schemas.openxmlformats.org/officeDocument/2006/relationships" r:id="Ra6f6c797018d4f39"/>
  </p:notesMasterIdLst>
  <p:sldIdLst>
    <p:sldId xmlns:r="http://schemas.openxmlformats.org/officeDocument/2006/relationships" id="256" r:id="R68c7c24727634f18"/>
    <p:sldId xmlns:r="http://schemas.openxmlformats.org/officeDocument/2006/relationships" id="257" r:id="R95e1d12e652b4109"/>
    <p:sldId xmlns:r="http://schemas.openxmlformats.org/officeDocument/2006/relationships" id="258" r:id="R751f781ce41e4648"/>
    <p:sldId xmlns:r="http://schemas.openxmlformats.org/officeDocument/2006/relationships" id="259" r:id="Rb031aeacab1c46ff"/>
    <p:sldId xmlns:r="http://schemas.openxmlformats.org/officeDocument/2006/relationships" id="260" r:id="Rcbb56811b1e24502"/>
    <p:sldId xmlns:r="http://schemas.openxmlformats.org/officeDocument/2006/relationships" id="261" r:id="R9e39e16c80794065"/>
    <p:sldId xmlns:r="http://schemas.openxmlformats.org/officeDocument/2006/relationships" id="262" r:id="R2f5d292c98e240c2"/>
    <p:sldId xmlns:r="http://schemas.openxmlformats.org/officeDocument/2006/relationships" id="263" r:id="R591cae7956ad4a78"/>
  </p:sldIdLst>
  <p:sldSz cx="12192000" cy="6858000"/>
  <p:notesSz cx="6858000" cy="9144000"/>
  <p:embeddedFontLst>
    <p:embeddedFont>
      <p:font typeface="Inter BlockFrame"/>
      <p:regular r:id="rId201314"/>
    </p:embeddedFont>
    <p:embeddedFont>
      <p:font typeface="Space Grotesk BlockFrame"/>
      <p:regular r:id="rId201315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af7524e48be54340"/><Relationship Type="http://schemas.openxmlformats.org/officeDocument/2006/relationships/slideMaster" Target="/ppt/slideMasters/slideMaster1.xml" Id="R115d57a3d1584d25"/><Relationship Type="http://schemas.openxmlformats.org/officeDocument/2006/relationships/notesMaster" Target="/ppt/notesMasters/notesMaster1.xml" Id="Ra6f6c797018d4f39"/><Relationship Type="http://schemas.openxmlformats.org/officeDocument/2006/relationships/presProps" Target="/ppt/presProps.xml" Id="Re0e17acca4094f44"/><Relationship Type="http://schemas.openxmlformats.org/officeDocument/2006/relationships/tableStyles" Target="/ppt/tableStyles.xml" Id="Rf297f7c8930c45bd"/><Relationship Type="http://schemas.openxmlformats.org/officeDocument/2006/relationships/slide" Target="/ppt/slides/slide1.xml" Id="R68c7c24727634f18"/><Relationship Type="http://schemas.openxmlformats.org/officeDocument/2006/relationships/slide" Target="/ppt/slides/slide2.xml" Id="R95e1d12e652b4109"/><Relationship Type="http://schemas.openxmlformats.org/officeDocument/2006/relationships/slide" Target="/ppt/slides/slide3.xml" Id="R751f781ce41e4648"/><Relationship Type="http://schemas.openxmlformats.org/officeDocument/2006/relationships/slide" Target="/ppt/slides/slide4.xml" Id="Rb031aeacab1c46ff"/><Relationship Type="http://schemas.openxmlformats.org/officeDocument/2006/relationships/slide" Target="/ppt/slides/slide5.xml" Id="Rcbb56811b1e24502"/><Relationship Type="http://schemas.openxmlformats.org/officeDocument/2006/relationships/slide" Target="/ppt/slides/slide6.xml" Id="R9e39e16c80794065"/><Relationship Type="http://schemas.openxmlformats.org/officeDocument/2006/relationships/slide" Target="/ppt/slides/slide7.xml" Id="R2f5d292c98e240c2"/><Relationship Type="http://schemas.openxmlformats.org/officeDocument/2006/relationships/slide" Target="/ppt/slides/slide8.xml" Id="R591cae7956ad4a78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4f82d5e4d9a5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cf538ed404d0442f" /><Relationship Type="http://schemas.openxmlformats.org/officeDocument/2006/relationships/notesMaster" Target="/ppt/notesMasters/notesMaster1.xml" Id="R84e2d5c3a27e447a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12efe7e5c67c42e7" /><Relationship Type="http://schemas.openxmlformats.org/officeDocument/2006/relationships/notesMaster" Target="/ppt/notesMasters/notesMaster1.xml" Id="R1ff792d037494491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f62ecfeaf0994f18" /><Relationship Type="http://schemas.openxmlformats.org/officeDocument/2006/relationships/notesMaster" Target="/ppt/notesMasters/notesMaster1.xml" Id="R15d131e566084e1d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0e56579647974d17" /><Relationship Type="http://schemas.openxmlformats.org/officeDocument/2006/relationships/notesMaster" Target="/ppt/notesMasters/notesMaster1.xml" Id="Re6cf88bf64054410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48a93921f53e45a8" /><Relationship Type="http://schemas.openxmlformats.org/officeDocument/2006/relationships/notesMaster" Target="/ppt/notesMasters/notesMaster1.xml" Id="R61b8a6ac8a774abd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2d3736a9d5964a8f" /><Relationship Type="http://schemas.openxmlformats.org/officeDocument/2006/relationships/notesMaster" Target="/ppt/notesMasters/notesMaster1.xml" Id="R836848ed81ca412e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ad6c9e81af1d4b6c" /><Relationship Type="http://schemas.openxmlformats.org/officeDocument/2006/relationships/notesMaster" Target="/ppt/notesMasters/notesMaster1.xml" Id="Ra13e8cfb46ff44e7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52f40a27656746d4" /><Relationship Type="http://schemas.openxmlformats.org/officeDocument/2006/relationships/notesMaster" Target="/ppt/notesMasters/notesMaster1.xml" Id="Re9279418beea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The pilot size and completion percentages are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The time-to-first-share series is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The cohort counts are illustrative and sum to a fictional 60-person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https://github.com/zarazhangrui/beautiful-html-templates/tree/main/templates/block-frame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72fb03fdfff42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886c3669ede84aef" /><Relationship Type="http://schemas.openxmlformats.org/officeDocument/2006/relationships/slideLayout" Target="/ppt/slideLayouts/slideLayout1.xml" Id="R4a171e3ed86945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171e3ed86945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8b44a1ed01a43ca" /><Relationship Type="http://schemas.openxmlformats.org/officeDocument/2006/relationships/notesSlide" Target="/ppt/notesSlides/notesSlide1.xml" Id="R2d4d149e25fe4def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031340a25f04f0f" /><Relationship Type="http://schemas.openxmlformats.org/officeDocument/2006/relationships/notesSlide" Target="/ppt/notesSlides/notesSlide2.xml" Id="Ra7b751e1559848c3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58477630fc54fdc" /><Relationship Type="http://schemas.openxmlformats.org/officeDocument/2006/relationships/notesSlide" Target="/ppt/notesSlides/notesSlide3.xml" Id="R31e04170d4734e8f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770475da0064d65" /><Relationship Type="http://schemas.openxmlformats.org/officeDocument/2006/relationships/chart" Target="/ppt/slides/charts/chart1.xml" Id="Re18141babc934ad0" /><Relationship Type="http://schemas.openxmlformats.org/officeDocument/2006/relationships/notesSlide" Target="/ppt/notesSlides/notesSlide4.xml" Id="R149e27f933a7487e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5e4ccba6d644af0" /><Relationship Type="http://schemas.openxmlformats.org/officeDocument/2006/relationships/notesSlide" Target="/ppt/notesSlides/notesSlide5.xml" Id="Rc4ed90dd3fd04c04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2f211a169fa4da6" /><Relationship Type="http://schemas.openxmlformats.org/officeDocument/2006/relationships/chart" Target="/ppt/slides/charts/chart2.xml" Id="R07a15876e5084b71" /><Relationship Type="http://schemas.openxmlformats.org/officeDocument/2006/relationships/notesSlide" Target="/ppt/notesSlides/notesSlide6.xml" Id="R1513b74ba9a14c1a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bfd795d78e54315" /><Relationship Type="http://schemas.openxmlformats.org/officeDocument/2006/relationships/notesSlide" Target="/ppt/notesSlides/notesSlide7.xml" Id="Re4571466ecf346d1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7028c227b8b476b" /><Relationship Type="http://schemas.openxmlformats.org/officeDocument/2006/relationships/notesSlide" Target="/ppt/notesSlides/notesSlide8.xml" Id="R98d5bd6454d5439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Open brief</c:v>
          </c:tx>
          <c:spPr>
            <a:solidFill xmlns:a="http://schemas.openxmlformats.org/drawingml/2006/main">
              <a:srgbClr val="C0F7FE"/>
            </a:solidFill>
            <a:ln xmlns:a="http://schemas.openxmlformats.org/drawingml/2006/main" w="9525">
              <a:solidFill>
                <a:srgbClr val="C0F7FE"/>
              </a:solidFill>
              <a:prstDash val="solid"/>
            </a:ln>
          </c:spPr>
          <c:cat>
            <c:strLit>
              <c:ptCount val="4"/>
              <c:pt idx="0">
                <c:v>Remix</c:v>
              </c:pt>
              <c:pt idx="1">
                <c:v>Paper</c:v>
              </c:pt>
              <c:pt idx="2">
                <c:v>Roam</c:v>
              </c:pt>
              <c:pt idx="3">
                <c:v>Perform</c:v>
              </c:pt>
            </c:strLit>
          </c:cat>
          <c:val>
            <c:numLit>
              <c:formatCode>General</c:formatCode>
              <c:ptCount val="4"/>
              <c:pt idx="0">
                <c:v>58</c:v>
              </c:pt>
              <c:pt idx="1">
                <c:v>64</c:v>
              </c:pt>
              <c:pt idx="2">
                <c:v>71</c:v>
              </c:pt>
              <c:pt idx="3">
                <c:v>49</c:v>
              </c:pt>
            </c:numLit>
          </c:val>
        </c:ser>
        <c:ser>
          <c:idx val="1"/>
          <c:order val="1"/>
          <c:tx>
            <c:v>One rule</c:v>
          </c:tx>
          <c:spPr>
            <a:solidFill xmlns:a="http://schemas.openxmlformats.org/drawingml/2006/main">
              <a:srgbClr val="99E885"/>
            </a:solidFill>
            <a:ln xmlns:a="http://schemas.openxmlformats.org/drawingml/2006/main" w="9525">
              <a:solidFill>
                <a:srgbClr val="99E885"/>
              </a:solidFill>
              <a:prstDash val="solid"/>
            </a:ln>
          </c:spPr>
          <c:cat>
            <c:strLit>
              <c:ptCount val="4"/>
              <c:pt idx="0">
                <c:v>Remix</c:v>
              </c:pt>
              <c:pt idx="1">
                <c:v>Paper</c:v>
              </c:pt>
              <c:pt idx="2">
                <c:v>Roam</c:v>
              </c:pt>
              <c:pt idx="3">
                <c:v>Perform</c:v>
              </c:pt>
            </c:strLit>
          </c:cat>
          <c:val>
            <c:numLit>
              <c:formatCode>General</c:formatCode>
              <c:ptCount val="4"/>
              <c:pt idx="0">
                <c:v>82</c:v>
              </c:pt>
              <c:pt idx="1">
                <c:v>88</c:v>
              </c:pt>
              <c:pt idx="2">
                <c:v>91</c:v>
              </c:pt>
              <c:pt idx="3">
                <c:v>76</c:v>
              </c:pt>
            </c:numLit>
          </c:val>
        </c:ser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latin typeface="Space Grotesk BlockFrame"/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6B6B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latin typeface="Space Grotesk BlockFrame"/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Space Grotesk BlockFrame"/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Open brief</c:v>
          </c:tx>
          <c:spPr>
            <a:solidFill xmlns:a="http://schemas.openxmlformats.org/drawingml/2006/main">
              <a:srgbClr val="FE90E8"/>
            </a:solidFill>
            <a:ln xmlns:a="http://schemas.openxmlformats.org/drawingml/2006/main" w="38100">
              <a:solidFill>
                <a:srgbClr val="FE90E8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Session 1</c:v>
              </c:pt>
              <c:pt idx="1">
                <c:v>Session 2</c:v>
              </c:pt>
              <c:pt idx="2">
                <c:v>Session 3</c:v>
              </c:pt>
              <c:pt idx="3">
                <c:v>Session 4</c:v>
              </c:pt>
            </c:strLit>
          </c:cat>
          <c:val>
            <c:numLit>
              <c:formatCode>General</c:formatCode>
              <c:ptCount val="4"/>
              <c:pt idx="0">
                <c:v>168</c:v>
              </c:pt>
              <c:pt idx="1">
                <c:v>151</c:v>
              </c:pt>
              <c:pt idx="2">
                <c:v>139</c:v>
              </c:pt>
              <c:pt idx="3">
                <c:v>126</c:v>
              </c:pt>
            </c:numLit>
          </c:val>
        </c:ser>
        <c:ser>
          <c:idx val="1"/>
          <c:order val="1"/>
          <c:tx>
            <c:v>One rule</c:v>
          </c:tx>
          <c:spPr>
            <a:solidFill xmlns:a="http://schemas.openxmlformats.org/drawingml/2006/main">
              <a:srgbClr val="000000"/>
            </a:solidFill>
            <a:ln xmlns:a="http://schemas.openxmlformats.org/drawingml/2006/main" w="38100">
              <a:solidFill>
                <a:srgbClr val="000000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Session 1</c:v>
              </c:pt>
              <c:pt idx="1">
                <c:v>Session 2</c:v>
              </c:pt>
              <c:pt idx="2">
                <c:v>Session 3</c:v>
              </c:pt>
              <c:pt idx="3">
                <c:v>Session 4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78</c:v>
              </c:pt>
              <c:pt idx="2">
                <c:v>66</c:v>
              </c:pt>
              <c:pt idx="3">
                <c:v>58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 b="1">
                <a:latin typeface="Space Grotesk BlockFrame"/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8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6B6B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 b="1">
                <a:latin typeface="Space Grotesk BlockFrame"/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Space Grotesk BlockFrame"/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cover-pink-shadow">
            <a:extLst xmlns:a="http://schemas.openxmlformats.org/drawingml/2006/main">
              <a:ext uri="{FF2B5EF4-FFF2-40B4-BE49-F238E27FC236}">
                <a16:creationId xmlns:a16="http://schemas.microsoft.com/office/drawing/2014/main" id="{F15CBF48-0D4B-4D3F-BE4C-BE333077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4476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f-cover-pink">
            <a:extLst xmlns:a="http://schemas.openxmlformats.org/drawingml/2006/main">
              <a:ext uri="{FF2B5EF4-FFF2-40B4-BE49-F238E27FC236}">
                <a16:creationId xmlns:a16="http://schemas.microsoft.com/office/drawing/2014/main" id="{99B88D63-8A1F-413E-99A1-5F1B5E8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4476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0E8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" name="bf-cover-mini">
            <a:extLst xmlns:a="http://schemas.openxmlformats.org/drawingml/2006/main">
              <a:ext uri="{FF2B5EF4-FFF2-40B4-BE49-F238E27FC236}">
                <a16:creationId xmlns:a16="http://schemas.microsoft.com/office/drawing/2014/main" id="{73D70D04-6C76-4867-B803-1733550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2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WEEKEND PROGRAM / 2026</a:t>
            </a:r>
          </a:p>
        </p:txBody>
      </p:sp>
      <p:sp>
        <p:nvSpPr>
          <p:cNvPr id="4" name="bf-cover-side">
            <a:extLst xmlns:a="http://schemas.openxmlformats.org/drawingml/2006/main">
              <a:ext uri="{FF2B5EF4-FFF2-40B4-BE49-F238E27FC236}">
                <a16:creationId xmlns:a16="http://schemas.microsoft.com/office/drawing/2014/main" id="{DA13A1EC-AECF-4952-9284-08F7EEFB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31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31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MAKE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31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31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ONE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31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31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THING</a:t>
            </a:r>
          </a:p>
        </p:txBody>
      </p:sp>
      <p:sp>
        <p:nvSpPr>
          <p:cNvPr id="5" name="bf-cover-title-block-shadow">
            <a:extLst xmlns:a="http://schemas.openxmlformats.org/drawingml/2006/main">
              <a:ext uri="{FF2B5EF4-FFF2-40B4-BE49-F238E27FC236}">
                <a16:creationId xmlns:a16="http://schemas.microsoft.com/office/drawing/2014/main" id="{7645A32A-F518-48E6-AF00-611C00E2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43050"/>
            <a:ext cx="8610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f-cover-title-block">
            <a:extLst xmlns:a="http://schemas.openxmlformats.org/drawingml/2006/main">
              <a:ext uri="{FF2B5EF4-FFF2-40B4-BE49-F238E27FC236}">
                <a16:creationId xmlns:a16="http://schemas.microsoft.com/office/drawing/2014/main" id="{33B23A68-A077-4E10-89C4-1EF3ADFF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66850"/>
            <a:ext cx="8610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B46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7" name="bf-cover-title">
            <a:extLst xmlns:a="http://schemas.openxmlformats.org/drawingml/2006/main">
              <a:ext uri="{FF2B5EF4-FFF2-40B4-BE49-F238E27FC236}">
                <a16:creationId xmlns:a16="http://schemas.microsoft.com/office/drawing/2014/main" id="{22D8B5CC-C421-4606-9217-54977DB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7810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73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73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SIDE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73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73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QUEST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73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73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CLUB</a:t>
            </a:r>
          </a:p>
        </p:txBody>
      </p:sp>
      <p:sp>
        <p:nvSpPr>
          <p:cNvPr id="8" name="bf-cover-sticker-a">
            <a:extLst xmlns:a="http://schemas.openxmlformats.org/drawingml/2006/main">
              <a:ext uri="{FF2B5EF4-FFF2-40B4-BE49-F238E27FC236}">
                <a16:creationId xmlns:a16="http://schemas.microsoft.com/office/drawing/2014/main" id="{80EAD51F-347C-484A-8CB8-5AE5714A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8915400" y="7620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E885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9" name="bf-cover-sticker-a-text">
            <a:extLst xmlns:a="http://schemas.openxmlformats.org/drawingml/2006/main">
              <a:ext uri="{FF2B5EF4-FFF2-40B4-BE49-F238E27FC236}">
                <a16:creationId xmlns:a16="http://schemas.microsoft.com/office/drawing/2014/main" id="{CD4D7E51-C899-4991-B9AD-A6C57952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9010650" y="8477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NO DECKS</a:t>
            </a:r>
          </a:p>
        </p:txBody>
      </p:sp>
      <p:sp>
        <p:nvSpPr>
          <p:cNvPr id="10" name="bf-cover-sticker-b">
            <a:extLst xmlns:a="http://schemas.openxmlformats.org/drawingml/2006/main">
              <a:ext uri="{FF2B5EF4-FFF2-40B4-BE49-F238E27FC236}">
                <a16:creationId xmlns:a16="http://schemas.microsoft.com/office/drawing/2014/main" id="{247AF3E4-3284-4C0C-99ED-9FDC9596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762000" y="54483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F7FE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1" name="bf-cover-sticker-b-text">
            <a:extLst xmlns:a="http://schemas.openxmlformats.org/drawingml/2006/main">
              <a:ext uri="{FF2B5EF4-FFF2-40B4-BE49-F238E27FC236}">
                <a16:creationId xmlns:a16="http://schemas.microsoft.com/office/drawing/2014/main" id="{64315F56-FF39-43D7-B225-12EE94A1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857250" y="5534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JUST PROTOTYPES</a:t>
            </a:r>
          </a:p>
        </p:txBody>
      </p:sp>
      <p:sp>
        <p:nvSpPr>
          <p:cNvPr id="12" name="bf-cover-footer-shadow">
            <a:extLst xmlns:a="http://schemas.openxmlformats.org/drawingml/2006/main">
              <a:ext uri="{FF2B5EF4-FFF2-40B4-BE49-F238E27FC236}">
                <a16:creationId xmlns:a16="http://schemas.microsoft.com/office/drawing/2014/main" id="{36BA849C-154E-46C5-9EE9-5BB18C14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38825"/>
            <a:ext cx="607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f-cover-footer">
            <a:extLst xmlns:a="http://schemas.openxmlformats.org/drawingml/2006/main">
              <a:ext uri="{FF2B5EF4-FFF2-40B4-BE49-F238E27FC236}">
                <a16:creationId xmlns:a16="http://schemas.microsoft.com/office/drawing/2014/main" id="{6AA41D6C-9A72-4FE6-AB17-904F9BB2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91200"/>
            <a:ext cx="607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8B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4" name="bf-cover-footer-text">
            <a:extLst xmlns:a="http://schemas.openxmlformats.org/drawingml/2006/main">
              <a:ext uri="{FF2B5EF4-FFF2-40B4-BE49-F238E27FC236}">
                <a16:creationId xmlns:a16="http://schemas.microsoft.com/office/drawing/2014/main" id="{7D5EC805-E8DA-410C-9A33-2C1FDCF5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9626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3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MAKE ONE WEIRD LITTLE THING THIS WEEKEND.</a:t>
            </a:r>
          </a:p>
        </p:txBody>
      </p:sp>
    </p:spTree>
    <p:extLst>
      <p:ext uri="{BB962C8B-B14F-4D97-AF65-F5344CB8AC3E}">
        <p14:creationId xmlns:p14="http://schemas.microsoft.com/office/powerpoint/2010/main" val="736108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C0F7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label-2">
            <a:extLst xmlns:a="http://schemas.openxmlformats.org/drawingml/2006/main">
              <a:ext uri="{FF2B5EF4-FFF2-40B4-BE49-F238E27FC236}">
                <a16:creationId xmlns:a16="http://schemas.microsoft.com/office/drawing/2014/main" id="{19233A5F-F0F2-4E73-B80C-01573974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THE PREMISE</a:t>
            </a:r>
          </a:p>
        </p:txBody>
      </p:sp>
      <p:sp>
        <p:nvSpPr>
          <p:cNvPr id="2" name="bf-page-2">
            <a:extLst xmlns:a="http://schemas.openxmlformats.org/drawingml/2006/main">
              <a:ext uri="{FF2B5EF4-FFF2-40B4-BE49-F238E27FC236}">
                <a16:creationId xmlns:a16="http://schemas.microsoft.com/office/drawing/2014/main" id="{4F06CE8C-FA7E-450D-8D6D-C2C5EC80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02 / 08</a:t>
            </a:r>
          </a:p>
        </p:txBody>
      </p:sp>
      <p:sp>
        <p:nvSpPr>
          <p:cNvPr id="3" name="bf-top-rule-2">
            <a:extLst xmlns:a="http://schemas.openxmlformats.org/drawingml/2006/main">
              <a:ext uri="{FF2B5EF4-FFF2-40B4-BE49-F238E27FC236}">
                <a16:creationId xmlns:a16="http://schemas.microsoft.com/office/drawing/2014/main" id="{3E8D0463-6F39-4123-9BF6-A3A4C98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7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f-premise-main-shadow">
            <a:extLst xmlns:a="http://schemas.openxmlformats.org/drawingml/2006/main">
              <a:ext uri="{FF2B5EF4-FFF2-40B4-BE49-F238E27FC236}">
                <a16:creationId xmlns:a16="http://schemas.microsoft.com/office/drawing/2014/main" id="{16E0642D-4162-42B7-A5D0-77D538F3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f-premise-main">
            <a:extLst xmlns:a="http://schemas.openxmlformats.org/drawingml/2006/main">
              <a:ext uri="{FF2B5EF4-FFF2-40B4-BE49-F238E27FC236}">
                <a16:creationId xmlns:a16="http://schemas.microsoft.com/office/drawing/2014/main" id="{EB6FCAB8-3F5B-4B15-BDAF-9E38CE0F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477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6" name="bf-premise-title">
            <a:extLst xmlns:a="http://schemas.openxmlformats.org/drawingml/2006/main">
              <a:ext uri="{FF2B5EF4-FFF2-40B4-BE49-F238E27FC236}">
                <a16:creationId xmlns:a16="http://schemas.microsoft.com/office/drawing/2014/main" id="{3CD5A779-5272-4CE0-982D-5D5B8FF3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9334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52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IDEAS DON’T NEED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52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MORE TABS.</a:t>
            </a:r>
          </a:p>
        </p:txBody>
      </p:sp>
      <p:sp>
        <p:nvSpPr>
          <p:cNvPr id="7" name="bf-premise-rule">
            <a:extLst xmlns:a="http://schemas.openxmlformats.org/drawingml/2006/main">
              <a:ext uri="{FF2B5EF4-FFF2-40B4-BE49-F238E27FC236}">
                <a16:creationId xmlns:a16="http://schemas.microsoft.com/office/drawing/2014/main" id="{7DBCC451-3656-4FBC-AEEC-762550B9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f-premise-copy">
            <a:extLst xmlns:a="http://schemas.openxmlformats.org/drawingml/2006/main">
              <a:ext uri="{FF2B5EF4-FFF2-40B4-BE49-F238E27FC236}">
                <a16:creationId xmlns:a16="http://schemas.microsoft.com/office/drawing/2014/main" id="{77D5B2E0-34E0-4DD8-B002-A12646A1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9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They need a deadline, a table, and someone waiting to see the rough version.</a:t>
            </a:r>
          </a:p>
        </p:txBody>
      </p:sp>
      <p:sp>
        <p:nvSpPr>
          <p:cNvPr id="9" name="bf-premise-sticker">
            <a:extLst xmlns:a="http://schemas.openxmlformats.org/drawingml/2006/main">
              <a:ext uri="{FF2B5EF4-FFF2-40B4-BE49-F238E27FC236}">
                <a16:creationId xmlns:a16="http://schemas.microsoft.com/office/drawing/2014/main" id="{475B797E-5899-4918-98A0-F4B3986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705850" y="52197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0E8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0" name="bf-premise-sticker-text">
            <a:extLst xmlns:a="http://schemas.openxmlformats.org/drawingml/2006/main">
              <a:ext uri="{FF2B5EF4-FFF2-40B4-BE49-F238E27FC236}">
                <a16:creationId xmlns:a16="http://schemas.microsoft.com/office/drawing/2014/main" id="{3E8DBB4D-C136-4658-92DB-A8948FE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801100" y="53054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48 HOURS</a:t>
            </a:r>
          </a:p>
        </p:txBody>
      </p:sp>
    </p:spTree>
    <p:extLst>
      <p:ext uri="{BB962C8B-B14F-4D97-AF65-F5344CB8AC3E}">
        <p14:creationId xmlns:p14="http://schemas.microsoft.com/office/powerpoint/2010/main" val="1041348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label-3">
            <a:extLst xmlns:a="http://schemas.openxmlformats.org/drawingml/2006/main">
              <a:ext uri="{FF2B5EF4-FFF2-40B4-BE49-F238E27FC236}">
                <a16:creationId xmlns:a16="http://schemas.microsoft.com/office/drawing/2014/main" id="{925D4F39-BFEF-407D-A427-0E56997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CHOOSE A QUEST</a:t>
            </a:r>
          </a:p>
        </p:txBody>
      </p:sp>
      <p:sp>
        <p:nvSpPr>
          <p:cNvPr id="2" name="bf-page-3">
            <a:extLst xmlns:a="http://schemas.openxmlformats.org/drawingml/2006/main">
              <a:ext uri="{FF2B5EF4-FFF2-40B4-BE49-F238E27FC236}">
                <a16:creationId xmlns:a16="http://schemas.microsoft.com/office/drawing/2014/main" id="{13063A8B-2452-421B-B72C-819D3D25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03 / 08</a:t>
            </a:r>
          </a:p>
        </p:txBody>
      </p:sp>
      <p:sp>
        <p:nvSpPr>
          <p:cNvPr id="3" name="bf-top-rule-3">
            <a:extLst xmlns:a="http://schemas.openxmlformats.org/drawingml/2006/main">
              <a:ext uri="{FF2B5EF4-FFF2-40B4-BE49-F238E27FC236}">
                <a16:creationId xmlns:a16="http://schemas.microsoft.com/office/drawing/2014/main" id="{5F116E53-787E-4CBE-AAB4-F23F961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7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f-formats-title">
            <a:extLst xmlns:a="http://schemas.openxmlformats.org/drawingml/2006/main">
              <a:ext uri="{FF2B5EF4-FFF2-40B4-BE49-F238E27FC236}">
                <a16:creationId xmlns:a16="http://schemas.microsoft.com/office/drawing/2014/main" id="{22AF1228-95DD-471C-BBCB-3AF107B8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33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FOUR WAYS TO START BEFORE YOU’RE READY.</a:t>
            </a:r>
          </a:p>
        </p:txBody>
      </p:sp>
      <p:sp>
        <p:nvSpPr>
          <p:cNvPr id="5" name="bf-format-0-shadow">
            <a:extLst xmlns:a="http://schemas.openxmlformats.org/drawingml/2006/main">
              <a:ext uri="{FF2B5EF4-FFF2-40B4-BE49-F238E27FC236}">
                <a16:creationId xmlns:a16="http://schemas.microsoft.com/office/drawing/2014/main" id="{40230ECE-FF7D-4488-975F-1DD74AE2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857375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f-format-0">
            <a:extLst xmlns:a="http://schemas.openxmlformats.org/drawingml/2006/main">
              <a:ext uri="{FF2B5EF4-FFF2-40B4-BE49-F238E27FC236}">
                <a16:creationId xmlns:a16="http://schemas.microsoft.com/office/drawing/2014/main" id="{EF16428B-B538-4806-BBCE-9399964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0E8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7" name="bf-format-num-0">
            <a:extLst xmlns:a="http://schemas.openxmlformats.org/drawingml/2006/main">
              <a:ext uri="{FF2B5EF4-FFF2-40B4-BE49-F238E27FC236}">
                <a16:creationId xmlns:a16="http://schemas.microsoft.com/office/drawing/2014/main" id="{D1070AC6-3AAC-47E0-9F9C-C430CFE6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01</a:t>
            </a:r>
          </a:p>
        </p:txBody>
      </p:sp>
      <p:sp>
        <p:nvSpPr>
          <p:cNvPr id="8" name="bf-format-title-0">
            <a:extLst xmlns:a="http://schemas.openxmlformats.org/drawingml/2006/main">
              <a:ext uri="{FF2B5EF4-FFF2-40B4-BE49-F238E27FC236}">
                <a16:creationId xmlns:a16="http://schemas.microsoft.com/office/drawing/2014/main" id="{84EFF19A-B365-4853-9A93-D2CA4A99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81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REMIX</a:t>
            </a:r>
          </a:p>
        </p:txBody>
      </p:sp>
      <p:sp>
        <p:nvSpPr>
          <p:cNvPr id="9" name="bf-format-rule-0">
            <a:extLst xmlns:a="http://schemas.openxmlformats.org/drawingml/2006/main">
              <a:ext uri="{FF2B5EF4-FFF2-40B4-BE49-F238E27FC236}">
                <a16:creationId xmlns:a16="http://schemas.microsoft.com/office/drawing/2014/main" id="{16E9F119-81A8-41A3-A11A-D41F1DE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7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f-format-body-0">
            <a:extLst xmlns:a="http://schemas.openxmlformats.org/drawingml/2006/main">
              <a:ext uri="{FF2B5EF4-FFF2-40B4-BE49-F238E27FC236}">
                <a16:creationId xmlns:a16="http://schemas.microsoft.com/office/drawing/2014/main" id="{5487B463-41A6-4D96-A26C-90855681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Rebuild a familiar object with one rule changed.</a:t>
            </a:r>
          </a:p>
        </p:txBody>
      </p:sp>
      <p:sp>
        <p:nvSpPr>
          <p:cNvPr id="11" name="bf-format-1-shadow">
            <a:extLst xmlns:a="http://schemas.openxmlformats.org/drawingml/2006/main">
              <a:ext uri="{FF2B5EF4-FFF2-40B4-BE49-F238E27FC236}">
                <a16:creationId xmlns:a16="http://schemas.microsoft.com/office/drawing/2014/main" id="{AF9015E1-0158-4A8C-9100-7258F658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57375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f-format-1">
            <a:extLst xmlns:a="http://schemas.openxmlformats.org/drawingml/2006/main">
              <a:ext uri="{FF2B5EF4-FFF2-40B4-BE49-F238E27FC236}">
                <a16:creationId xmlns:a16="http://schemas.microsoft.com/office/drawing/2014/main" id="{CD22E579-4737-430C-BDDA-3177CD63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F7FE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3" name="bf-format-num-1">
            <a:extLst xmlns:a="http://schemas.openxmlformats.org/drawingml/2006/main">
              <a:ext uri="{FF2B5EF4-FFF2-40B4-BE49-F238E27FC236}">
                <a16:creationId xmlns:a16="http://schemas.microsoft.com/office/drawing/2014/main" id="{E89156BF-CAD8-489B-A33C-160D357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02</a:t>
            </a:r>
          </a:p>
        </p:txBody>
      </p:sp>
      <p:sp>
        <p:nvSpPr>
          <p:cNvPr id="14" name="bf-format-title-1">
            <a:extLst xmlns:a="http://schemas.openxmlformats.org/drawingml/2006/main">
              <a:ext uri="{FF2B5EF4-FFF2-40B4-BE49-F238E27FC236}">
                <a16:creationId xmlns:a16="http://schemas.microsoft.com/office/drawing/2014/main" id="{02679875-00A1-43C9-A033-F2C6254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81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PAPER</a:t>
            </a:r>
          </a:p>
        </p:txBody>
      </p:sp>
      <p:sp>
        <p:nvSpPr>
          <p:cNvPr id="15" name="bf-format-rule-1">
            <a:extLst xmlns:a="http://schemas.openxmlformats.org/drawingml/2006/main">
              <a:ext uri="{FF2B5EF4-FFF2-40B4-BE49-F238E27FC236}">
                <a16:creationId xmlns:a16="http://schemas.microsoft.com/office/drawing/2014/main" id="{4722DACB-2C8B-4258-A40F-51D5CE4F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497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f-format-body-1">
            <a:extLst xmlns:a="http://schemas.openxmlformats.org/drawingml/2006/main">
              <a:ext uri="{FF2B5EF4-FFF2-40B4-BE49-F238E27FC236}">
                <a16:creationId xmlns:a16="http://schemas.microsoft.com/office/drawing/2014/main" id="{AE7735DB-68B3-4935-A668-A9182F74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Prototype the interaction before the screen.</a:t>
            </a:r>
          </a:p>
        </p:txBody>
      </p:sp>
      <p:sp>
        <p:nvSpPr>
          <p:cNvPr id="17" name="bf-format-2-shadow">
            <a:extLst xmlns:a="http://schemas.openxmlformats.org/drawingml/2006/main">
              <a:ext uri="{FF2B5EF4-FFF2-40B4-BE49-F238E27FC236}">
                <a16:creationId xmlns:a16="http://schemas.microsoft.com/office/drawing/2014/main" id="{84741218-9AFC-4D83-ADC5-D94681A6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29075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f-format-2">
            <a:extLst xmlns:a="http://schemas.openxmlformats.org/drawingml/2006/main">
              <a:ext uri="{FF2B5EF4-FFF2-40B4-BE49-F238E27FC236}">
                <a16:creationId xmlns:a16="http://schemas.microsoft.com/office/drawing/2014/main" id="{95DD2E53-D5BA-4881-BD08-A1DDE582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E885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9" name="bf-format-num-2">
            <a:extLst xmlns:a="http://schemas.openxmlformats.org/drawingml/2006/main">
              <a:ext uri="{FF2B5EF4-FFF2-40B4-BE49-F238E27FC236}">
                <a16:creationId xmlns:a16="http://schemas.microsoft.com/office/drawing/2014/main" id="{252444CF-5728-43D3-98AD-000E776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03</a:t>
            </a:r>
          </a:p>
        </p:txBody>
      </p:sp>
      <p:sp>
        <p:nvSpPr>
          <p:cNvPr id="20" name="bf-format-title-2">
            <a:extLst xmlns:a="http://schemas.openxmlformats.org/drawingml/2006/main">
              <a:ext uri="{FF2B5EF4-FFF2-40B4-BE49-F238E27FC236}">
                <a16:creationId xmlns:a16="http://schemas.microsoft.com/office/drawing/2014/main" id="{BD77F1B3-B779-4AD4-9255-66C0DA4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ROAM</a:t>
            </a:r>
          </a:p>
        </p:txBody>
      </p:sp>
      <p:sp>
        <p:nvSpPr>
          <p:cNvPr id="21" name="bf-format-rule-2">
            <a:extLst xmlns:a="http://schemas.openxmlformats.org/drawingml/2006/main">
              <a:ext uri="{FF2B5EF4-FFF2-40B4-BE49-F238E27FC236}">
                <a16:creationId xmlns:a16="http://schemas.microsoft.com/office/drawing/2014/main" id="{C208E19B-0330-4547-B41F-FE76D047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97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f-format-body-2">
            <a:extLst xmlns:a="http://schemas.openxmlformats.org/drawingml/2006/main">
              <a:ext uri="{FF2B5EF4-FFF2-40B4-BE49-F238E27FC236}">
                <a16:creationId xmlns:a16="http://schemas.microsoft.com/office/drawing/2014/main" id="{38ED663A-42A9-4DF9-88FD-DE1BAF97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Collect five strange details from one street.</a:t>
            </a:r>
          </a:p>
        </p:txBody>
      </p:sp>
      <p:sp>
        <p:nvSpPr>
          <p:cNvPr id="23" name="bf-format-3-shadow">
            <a:extLst xmlns:a="http://schemas.openxmlformats.org/drawingml/2006/main">
              <a:ext uri="{FF2B5EF4-FFF2-40B4-BE49-F238E27FC236}">
                <a16:creationId xmlns:a16="http://schemas.microsoft.com/office/drawing/2014/main" id="{E5CF7DBE-2131-4E77-B9CE-2103BE1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29075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f-format-3">
            <a:extLst xmlns:a="http://schemas.openxmlformats.org/drawingml/2006/main">
              <a:ext uri="{FF2B5EF4-FFF2-40B4-BE49-F238E27FC236}">
                <a16:creationId xmlns:a16="http://schemas.microsoft.com/office/drawing/2014/main" id="{5A710B98-81BF-4A75-A147-E7AD4575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5391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8B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5" name="bf-format-num-3">
            <a:extLst xmlns:a="http://schemas.openxmlformats.org/drawingml/2006/main">
              <a:ext uri="{FF2B5EF4-FFF2-40B4-BE49-F238E27FC236}">
                <a16:creationId xmlns:a16="http://schemas.microsoft.com/office/drawing/2014/main" id="{A19ABBC8-8D76-46FF-A967-43DC7093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77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04</a:t>
            </a:r>
          </a:p>
        </p:txBody>
      </p:sp>
      <p:sp>
        <p:nvSpPr>
          <p:cNvPr id="26" name="bf-format-title-3">
            <a:extLst xmlns:a="http://schemas.openxmlformats.org/drawingml/2006/main">
              <a:ext uri="{FF2B5EF4-FFF2-40B4-BE49-F238E27FC236}">
                <a16:creationId xmlns:a16="http://schemas.microsoft.com/office/drawing/2014/main" id="{1F078782-7593-4684-B6E9-7D03A3A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529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PERFORM</a:t>
            </a:r>
          </a:p>
        </p:txBody>
      </p:sp>
      <p:sp>
        <p:nvSpPr>
          <p:cNvPr id="27" name="bf-format-rule-3">
            <a:extLst xmlns:a="http://schemas.openxmlformats.org/drawingml/2006/main">
              <a:ext uri="{FF2B5EF4-FFF2-40B4-BE49-F238E27FC236}">
                <a16:creationId xmlns:a16="http://schemas.microsoft.com/office/drawing/2014/main" id="{432F68C1-C647-4B13-BE3D-55B9F5E9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81550"/>
            <a:ext cx="497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f-format-body-3">
            <a:extLst xmlns:a="http://schemas.openxmlformats.org/drawingml/2006/main">
              <a:ext uri="{FF2B5EF4-FFF2-40B4-BE49-F238E27FC236}">
                <a16:creationId xmlns:a16="http://schemas.microsoft.com/office/drawing/2014/main" id="{FF01B85D-D8B7-443F-BE70-B25D8ED5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Turn an unfinished idea into a three-minute show.</a:t>
            </a:r>
          </a:p>
        </p:txBody>
      </p:sp>
    </p:spTree>
    <p:extLst>
      <p:ext uri="{BB962C8B-B14F-4D97-AF65-F5344CB8AC3E}">
        <p14:creationId xmlns:p14="http://schemas.microsoft.com/office/powerpoint/2010/main" val="860903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9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label-4">
            <a:extLst xmlns:a="http://schemas.openxmlformats.org/drawingml/2006/main">
              <a:ext uri="{FF2B5EF4-FFF2-40B4-BE49-F238E27FC236}">
                <a16:creationId xmlns:a16="http://schemas.microsoft.com/office/drawing/2014/main" id="{EFC0A1AE-3496-45DB-A81F-DDA29B3D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ILLUSTRATIVE 60-PERSON PILOT</a:t>
            </a:r>
          </a:p>
        </p:txBody>
      </p:sp>
      <p:sp>
        <p:nvSpPr>
          <p:cNvPr id="2" name="bf-page-4">
            <a:extLst xmlns:a="http://schemas.openxmlformats.org/drawingml/2006/main">
              <a:ext uri="{FF2B5EF4-FFF2-40B4-BE49-F238E27FC236}">
                <a16:creationId xmlns:a16="http://schemas.microsoft.com/office/drawing/2014/main" id="{46304CFC-F5DC-4387-9E1B-2A9F3F11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04 / 08</a:t>
            </a:r>
          </a:p>
        </p:txBody>
      </p:sp>
      <p:sp>
        <p:nvSpPr>
          <p:cNvPr id="3" name="bf-top-rule-4">
            <a:extLst xmlns:a="http://schemas.openxmlformats.org/drawingml/2006/main">
              <a:ext uri="{FF2B5EF4-FFF2-40B4-BE49-F238E27FC236}">
                <a16:creationId xmlns:a16="http://schemas.microsoft.com/office/drawing/2014/main" id="{E886075E-8EB8-4AA6-B3BA-8156C88A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7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f-completion-title">
            <a:extLst xmlns:a="http://schemas.openxmlformats.org/drawingml/2006/main">
              <a:ext uri="{FF2B5EF4-FFF2-40B4-BE49-F238E27FC236}">
                <a16:creationId xmlns:a16="http://schemas.microsoft.com/office/drawing/2014/main" id="{ADB5A4C3-DD83-4255-B641-B753A669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561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36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SHORTER BRIEFS MADE MORE THINGS REAL.</a:t>
            </a:r>
          </a:p>
        </p:txBody>
      </p:sp>
      <p:sp>
        <p:nvSpPr>
          <p:cNvPr id="5" name="bf-completion-copy">
            <a:extLst xmlns:a="http://schemas.openxmlformats.org/drawingml/2006/main">
              <a:ext uri="{FF2B5EF4-FFF2-40B4-BE49-F238E27FC236}">
                <a16:creationId xmlns:a16="http://schemas.microsoft.com/office/drawing/2014/main" id="{562C6D9E-A60D-4EED-B996-0E5F25B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146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57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One clear constraint improved both completion and sharing across every weekend format.</a:t>
            </a:r>
          </a:p>
        </p:txBody>
      </p:sp>
      <p:sp>
        <p:nvSpPr>
          <p:cNvPr id="6" name="bf-completion-sticker">
            <a:extLst xmlns:a="http://schemas.openxmlformats.org/drawingml/2006/main">
              <a:ext uri="{FF2B5EF4-FFF2-40B4-BE49-F238E27FC236}">
                <a16:creationId xmlns:a16="http://schemas.microsoft.com/office/drawing/2014/main" id="{7D1F9A28-5B69-4462-BF0D-4C9FB652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723900" y="409575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B46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" name="bf-completion-sticker-text">
            <a:extLst xmlns:a="http://schemas.openxmlformats.org/drawingml/2006/main">
              <a:ext uri="{FF2B5EF4-FFF2-40B4-BE49-F238E27FC236}">
                <a16:creationId xmlns:a16="http://schemas.microsoft.com/office/drawing/2014/main" id="{240569C9-8D94-4BCE-BA40-34BA844C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819150" y="418147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SHOW THE ROUGH ONE</a:t>
            </a:r>
          </a:p>
        </p:txBody>
      </p:sp>
      <p:sp>
        <p:nvSpPr>
          <p:cNvPr id="8" name="bf-completion-chart-frame-shadow">
            <a:extLst xmlns:a="http://schemas.openxmlformats.org/drawingml/2006/main">
              <a:ext uri="{FF2B5EF4-FFF2-40B4-BE49-F238E27FC236}">
                <a16:creationId xmlns:a16="http://schemas.microsoft.com/office/drawing/2014/main" id="{DD1C7BEA-32C9-41BF-A02E-F03C1B67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09650"/>
            <a:ext cx="582930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f-completion-chart-frame">
            <a:extLst xmlns:a="http://schemas.openxmlformats.org/drawingml/2006/main">
              <a:ext uri="{FF2B5EF4-FFF2-40B4-BE49-F238E27FC236}">
                <a16:creationId xmlns:a16="http://schemas.microsoft.com/office/drawing/2014/main" id="{F88BA7B8-98E9-40AA-8A74-704C13AD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933450"/>
            <a:ext cx="582930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graphicFrame>
        <p:nvGraphicFramePr>
          <p:cNvPr id="20" name="bf-completion-chart"/>
          <p:cNvGraphicFramePr/>
          <p:nvPr/>
        </p:nvGraphicFramePr>
        <p:xfrm>
          <a:off xmlns:a="http://schemas.openxmlformats.org/drawingml/2006/main" x="6057900" y="1257300"/>
          <a:ext xmlns:a="http://schemas.openxmlformats.org/drawingml/2006/main" cx="51816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8141babc934ad0"/>
          </a:graphicData>
        </a:graphic>
      </p:graphicFrame>
    </p:spTree>
    <p:extLst>
      <p:ext uri="{BB962C8B-B14F-4D97-AF65-F5344CB8AC3E}">
        <p14:creationId xmlns:p14="http://schemas.microsoft.com/office/powerpoint/2010/main" val="318682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99E88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label-5">
            <a:extLst xmlns:a="http://schemas.openxmlformats.org/drawingml/2006/main">
              <a:ext uri="{FF2B5EF4-FFF2-40B4-BE49-F238E27FC236}">
                <a16:creationId xmlns:a16="http://schemas.microsoft.com/office/drawing/2014/main" id="{9396D625-1658-4C4D-A5BD-25517AA5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THE WEEKEND LOOP</a:t>
            </a:r>
          </a:p>
        </p:txBody>
      </p:sp>
      <p:sp>
        <p:nvSpPr>
          <p:cNvPr id="2" name="bf-page-5">
            <a:extLst xmlns:a="http://schemas.openxmlformats.org/drawingml/2006/main">
              <a:ext uri="{FF2B5EF4-FFF2-40B4-BE49-F238E27FC236}">
                <a16:creationId xmlns:a16="http://schemas.microsoft.com/office/drawing/2014/main" id="{F8245374-31D1-4FF4-A2F9-1E1D1FF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05 / 08</a:t>
            </a:r>
          </a:p>
        </p:txBody>
      </p:sp>
      <p:sp>
        <p:nvSpPr>
          <p:cNvPr id="3" name="bf-top-rule-5">
            <a:extLst xmlns:a="http://schemas.openxmlformats.org/drawingml/2006/main">
              <a:ext uri="{FF2B5EF4-FFF2-40B4-BE49-F238E27FC236}">
                <a16:creationId xmlns:a16="http://schemas.microsoft.com/office/drawing/2014/main" id="{AFC1157A-609B-4CC5-B51D-23238BC4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7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f-loop-title">
            <a:extLst xmlns:a="http://schemas.openxmlformats.org/drawingml/2006/main">
              <a:ext uri="{FF2B5EF4-FFF2-40B4-BE49-F238E27FC236}">
                <a16:creationId xmlns:a16="http://schemas.microsoft.com/office/drawing/2014/main" id="{FC88194B-D905-4375-8516-DDA069AE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442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PICK. MAKE. SHOW. REPEAT.</a:t>
            </a:r>
          </a:p>
        </p:txBody>
      </p:sp>
      <p:sp>
        <p:nvSpPr>
          <p:cNvPr id="5" name="bf-loop-step-0-shadow">
            <a:extLst xmlns:a="http://schemas.openxmlformats.org/drawingml/2006/main">
              <a:ext uri="{FF2B5EF4-FFF2-40B4-BE49-F238E27FC236}">
                <a16:creationId xmlns:a16="http://schemas.microsoft.com/office/drawing/2014/main" id="{45F7F303-0A41-46B4-83BF-73BB054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57425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f-loop-step-0">
            <a:extLst xmlns:a="http://schemas.openxmlformats.org/drawingml/2006/main">
              <a:ext uri="{FF2B5EF4-FFF2-40B4-BE49-F238E27FC236}">
                <a16:creationId xmlns:a16="http://schemas.microsoft.com/office/drawing/2014/main" id="{97BA5F82-FEC1-424B-80C8-E90543D9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0E8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7" name="bf-loop-num-0">
            <a:extLst xmlns:a="http://schemas.openxmlformats.org/drawingml/2006/main">
              <a:ext uri="{FF2B5EF4-FFF2-40B4-BE49-F238E27FC236}">
                <a16:creationId xmlns:a16="http://schemas.microsoft.com/office/drawing/2014/main" id="{A02D4446-03C6-4C04-9595-7B5949E6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01</a:t>
            </a:r>
          </a:p>
        </p:txBody>
      </p:sp>
      <p:sp>
        <p:nvSpPr>
          <p:cNvPr id="8" name="bf-loop-rule-0">
            <a:extLst xmlns:a="http://schemas.openxmlformats.org/drawingml/2006/main">
              <a:ext uri="{FF2B5EF4-FFF2-40B4-BE49-F238E27FC236}">
                <a16:creationId xmlns:a16="http://schemas.microsoft.com/office/drawing/2014/main" id="{7F92031E-8E50-4734-94D0-12BD2D67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f-loop-title-0">
            <a:extLst xmlns:a="http://schemas.openxmlformats.org/drawingml/2006/main">
              <a:ext uri="{FF2B5EF4-FFF2-40B4-BE49-F238E27FC236}">
                <a16:creationId xmlns:a16="http://schemas.microsoft.com/office/drawing/2014/main" id="{DB58B8B3-FB80-4A73-BD16-AF6EB14F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PICK</a:t>
            </a:r>
          </a:p>
        </p:txBody>
      </p:sp>
      <p:sp>
        <p:nvSpPr>
          <p:cNvPr id="10" name="bf-loop-body-0">
            <a:extLst xmlns:a="http://schemas.openxmlformats.org/drawingml/2006/main">
              <a:ext uri="{FF2B5EF4-FFF2-40B4-BE49-F238E27FC236}">
                <a16:creationId xmlns:a16="http://schemas.microsoft.com/office/drawing/2014/main" id="{7A3EAA8C-0645-402A-857A-F7AC2121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2076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Choose one constraint.</a:t>
            </a:r>
          </a:p>
        </p:txBody>
      </p:sp>
      <p:sp>
        <p:nvSpPr>
          <p:cNvPr id="11" name="bf-loop-step-1-shadow">
            <a:extLst xmlns:a="http://schemas.openxmlformats.org/drawingml/2006/main">
              <a:ext uri="{FF2B5EF4-FFF2-40B4-BE49-F238E27FC236}">
                <a16:creationId xmlns:a16="http://schemas.microsoft.com/office/drawing/2014/main" id="{5ACC1B36-4519-40FC-A9B0-447A92F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57425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f-loop-step-1">
            <a:extLst xmlns:a="http://schemas.openxmlformats.org/drawingml/2006/main">
              <a:ext uri="{FF2B5EF4-FFF2-40B4-BE49-F238E27FC236}">
                <a16:creationId xmlns:a16="http://schemas.microsoft.com/office/drawing/2014/main" id="{A4E5A805-E699-4BDF-9FDA-C8C34D75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F7FE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3" name="bf-loop-num-1">
            <a:extLst xmlns:a="http://schemas.openxmlformats.org/drawingml/2006/main">
              <a:ext uri="{FF2B5EF4-FFF2-40B4-BE49-F238E27FC236}">
                <a16:creationId xmlns:a16="http://schemas.microsoft.com/office/drawing/2014/main" id="{B7BEE3EE-9360-4171-A738-853E3A4F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02</a:t>
            </a:r>
          </a:p>
        </p:txBody>
      </p:sp>
      <p:sp>
        <p:nvSpPr>
          <p:cNvPr id="14" name="bf-loop-rule-1">
            <a:extLst xmlns:a="http://schemas.openxmlformats.org/drawingml/2006/main">
              <a:ext uri="{FF2B5EF4-FFF2-40B4-BE49-F238E27FC236}">
                <a16:creationId xmlns:a16="http://schemas.microsoft.com/office/drawing/2014/main" id="{81F4E6C9-2904-4562-BF5F-97D5FE31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908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f-loop-title-1">
            <a:extLst xmlns:a="http://schemas.openxmlformats.org/drawingml/2006/main">
              <a:ext uri="{FF2B5EF4-FFF2-40B4-BE49-F238E27FC236}">
                <a16:creationId xmlns:a16="http://schemas.microsoft.com/office/drawing/2014/main" id="{38D930D6-9620-4C87-A986-2330274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MAKE</a:t>
            </a:r>
          </a:p>
        </p:txBody>
      </p:sp>
      <p:sp>
        <p:nvSpPr>
          <p:cNvPr id="16" name="bf-loop-body-1">
            <a:extLst xmlns:a="http://schemas.openxmlformats.org/drawingml/2006/main">
              <a:ext uri="{FF2B5EF4-FFF2-40B4-BE49-F238E27FC236}">
                <a16:creationId xmlns:a16="http://schemas.microsoft.com/office/drawing/2014/main" id="{6766FDDF-90F7-409A-993B-7C75803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81450"/>
            <a:ext cx="2076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Work until it exists.</a:t>
            </a:r>
          </a:p>
        </p:txBody>
      </p:sp>
      <p:sp>
        <p:nvSpPr>
          <p:cNvPr id="17" name="bf-loop-step-2-shadow">
            <a:extLst xmlns:a="http://schemas.openxmlformats.org/drawingml/2006/main">
              <a:ext uri="{FF2B5EF4-FFF2-40B4-BE49-F238E27FC236}">
                <a16:creationId xmlns:a16="http://schemas.microsoft.com/office/drawing/2014/main" id="{251F07D1-5AFB-4C52-8767-666660E2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57425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f-loop-step-2">
            <a:extLst xmlns:a="http://schemas.openxmlformats.org/drawingml/2006/main">
              <a:ext uri="{FF2B5EF4-FFF2-40B4-BE49-F238E27FC236}">
                <a16:creationId xmlns:a16="http://schemas.microsoft.com/office/drawing/2014/main" id="{1BFE5401-34A6-418B-84DB-6E64FCA3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B46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9" name="bf-loop-num-2">
            <a:extLst xmlns:a="http://schemas.openxmlformats.org/drawingml/2006/main">
              <a:ext uri="{FF2B5EF4-FFF2-40B4-BE49-F238E27FC236}">
                <a16:creationId xmlns:a16="http://schemas.microsoft.com/office/drawing/2014/main" id="{370C9838-2883-4D98-BBB7-BC38B977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03</a:t>
            </a:r>
          </a:p>
        </p:txBody>
      </p:sp>
      <p:sp>
        <p:nvSpPr>
          <p:cNvPr id="20" name="bf-loop-rule-2">
            <a:extLst xmlns:a="http://schemas.openxmlformats.org/drawingml/2006/main">
              <a:ext uri="{FF2B5EF4-FFF2-40B4-BE49-F238E27FC236}">
                <a16:creationId xmlns:a16="http://schemas.microsoft.com/office/drawing/2014/main" id="{0E18F08C-F5CC-47EF-941A-19F1CBBC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f-loop-title-2">
            <a:extLst xmlns:a="http://schemas.openxmlformats.org/drawingml/2006/main">
              <a:ext uri="{FF2B5EF4-FFF2-40B4-BE49-F238E27FC236}">
                <a16:creationId xmlns:a16="http://schemas.microsoft.com/office/drawing/2014/main" id="{805A7ED6-176C-4789-B447-CD20139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SHOW</a:t>
            </a:r>
          </a:p>
        </p:txBody>
      </p:sp>
      <p:sp>
        <p:nvSpPr>
          <p:cNvPr id="22" name="bf-loop-body-2">
            <a:extLst xmlns:a="http://schemas.openxmlformats.org/drawingml/2006/main">
              <a:ext uri="{FF2B5EF4-FFF2-40B4-BE49-F238E27FC236}">
                <a16:creationId xmlns:a16="http://schemas.microsoft.com/office/drawing/2014/main" id="{3227A4EB-3FB4-4395-99D3-276ED1D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076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Share before polishing.</a:t>
            </a:r>
          </a:p>
        </p:txBody>
      </p:sp>
      <p:sp>
        <p:nvSpPr>
          <p:cNvPr id="23" name="bf-loop-step-3-shadow">
            <a:extLst xmlns:a="http://schemas.openxmlformats.org/drawingml/2006/main">
              <a:ext uri="{FF2B5EF4-FFF2-40B4-BE49-F238E27FC236}">
                <a16:creationId xmlns:a16="http://schemas.microsoft.com/office/drawing/2014/main" id="{BA77F621-DF79-445C-9FDA-3963C2AB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57425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f-loop-step-3">
            <a:extLst xmlns:a="http://schemas.openxmlformats.org/drawingml/2006/main">
              <a:ext uri="{FF2B5EF4-FFF2-40B4-BE49-F238E27FC236}">
                <a16:creationId xmlns:a16="http://schemas.microsoft.com/office/drawing/2014/main" id="{337E2412-3CE1-4C47-BD89-8F5916A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533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5" name="bf-loop-num-3">
            <a:extLst xmlns:a="http://schemas.openxmlformats.org/drawingml/2006/main">
              <a:ext uri="{FF2B5EF4-FFF2-40B4-BE49-F238E27FC236}">
                <a16:creationId xmlns:a16="http://schemas.microsoft.com/office/drawing/2014/main" id="{A967B72C-E443-4D0F-AF2F-1053B05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8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04</a:t>
            </a:r>
          </a:p>
        </p:txBody>
      </p:sp>
      <p:sp>
        <p:nvSpPr>
          <p:cNvPr id="26" name="bf-loop-rule-3">
            <a:extLst xmlns:a="http://schemas.openxmlformats.org/drawingml/2006/main">
              <a:ext uri="{FF2B5EF4-FFF2-40B4-BE49-F238E27FC236}">
                <a16:creationId xmlns:a16="http://schemas.microsoft.com/office/drawing/2014/main" id="{2AEEA04A-2363-44F1-AA47-5C8ADF26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f-loop-title-3">
            <a:extLst xmlns:a="http://schemas.openxmlformats.org/drawingml/2006/main">
              <a:ext uri="{FF2B5EF4-FFF2-40B4-BE49-F238E27FC236}">
                <a16:creationId xmlns:a16="http://schemas.microsoft.com/office/drawing/2014/main" id="{BD3B24CA-D8C2-409E-B717-4B70F0F7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240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REPEAT</a:t>
            </a:r>
          </a:p>
        </p:txBody>
      </p:sp>
      <p:sp>
        <p:nvSpPr>
          <p:cNvPr id="28" name="bf-loop-body-3">
            <a:extLst xmlns:a="http://schemas.openxmlformats.org/drawingml/2006/main">
              <a:ext uri="{FF2B5EF4-FFF2-40B4-BE49-F238E27FC236}">
                <a16:creationId xmlns:a16="http://schemas.microsoft.com/office/drawing/2014/main" id="{DE8F2078-F117-43CC-BCD6-25378C5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81450"/>
            <a:ext cx="2076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50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Keep the useful surprise.</a:t>
            </a:r>
          </a:p>
        </p:txBody>
      </p:sp>
      <p:sp>
        <p:nvSpPr>
          <p:cNvPr id="29" name="bf-loop-sticker">
            <a:extLst xmlns:a="http://schemas.openxmlformats.org/drawingml/2006/main">
              <a:ext uri="{FF2B5EF4-FFF2-40B4-BE49-F238E27FC236}">
                <a16:creationId xmlns:a16="http://schemas.microsoft.com/office/drawing/2014/main" id="{56D0F324-DCEF-4DFB-B199-CE27A706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8324850" y="56578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0E8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0" name="bf-loop-sticker-text">
            <a:extLst xmlns:a="http://schemas.openxmlformats.org/drawingml/2006/main">
              <a:ext uri="{FF2B5EF4-FFF2-40B4-BE49-F238E27FC236}">
                <a16:creationId xmlns:a16="http://schemas.microsoft.com/office/drawing/2014/main" id="{CDB25C9B-0BEB-4265-8E3A-7FAB2F7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8420100" y="574357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DONE &gt; PERFECT</a:t>
            </a:r>
          </a:p>
        </p:txBody>
      </p:sp>
    </p:spTree>
    <p:extLst>
      <p:ext uri="{BB962C8B-B14F-4D97-AF65-F5344CB8AC3E}">
        <p14:creationId xmlns:p14="http://schemas.microsoft.com/office/powerpoint/2010/main" val="469916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C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label-6">
            <a:extLst xmlns:a="http://schemas.openxmlformats.org/drawingml/2006/main">
              <a:ext uri="{FF2B5EF4-FFF2-40B4-BE49-F238E27FC236}">
                <a16:creationId xmlns:a16="http://schemas.microsoft.com/office/drawing/2014/main" id="{F559D5C9-6E6D-47FB-AA27-59510F87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TIME TO FIRST SHARE</a:t>
            </a:r>
          </a:p>
        </p:txBody>
      </p:sp>
      <p:sp>
        <p:nvSpPr>
          <p:cNvPr id="2" name="bf-page-6">
            <a:extLst xmlns:a="http://schemas.openxmlformats.org/drawingml/2006/main">
              <a:ext uri="{FF2B5EF4-FFF2-40B4-BE49-F238E27FC236}">
                <a16:creationId xmlns:a16="http://schemas.microsoft.com/office/drawing/2014/main" id="{B0ECA1A6-1542-415D-9B59-740DA702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06 / 08</a:t>
            </a:r>
          </a:p>
        </p:txBody>
      </p:sp>
      <p:sp>
        <p:nvSpPr>
          <p:cNvPr id="3" name="bf-top-rule-6">
            <a:extLst xmlns:a="http://schemas.openxmlformats.org/drawingml/2006/main">
              <a:ext uri="{FF2B5EF4-FFF2-40B4-BE49-F238E27FC236}">
                <a16:creationId xmlns:a16="http://schemas.microsoft.com/office/drawing/2014/main" id="{16C3B654-5BEB-4E19-B050-AE4DE820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7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f-share-title">
            <a:extLst xmlns:a="http://schemas.openxmlformats.org/drawingml/2006/main">
              <a:ext uri="{FF2B5EF4-FFF2-40B4-BE49-F238E27FC236}">
                <a16:creationId xmlns:a16="http://schemas.microsoft.com/office/drawing/2014/main" id="{CB86A2FA-ACA9-4110-B766-8386815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3525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THE FIRST SHARE SHOULD HAPPEN WHILE IT’S STILL UGLY.</a:t>
            </a:r>
          </a:p>
        </p:txBody>
      </p:sp>
      <p:sp>
        <p:nvSpPr>
          <p:cNvPr id="5" name="bf-share-chart-frame-shadow">
            <a:extLst xmlns:a="http://schemas.openxmlformats.org/drawingml/2006/main">
              <a:ext uri="{FF2B5EF4-FFF2-40B4-BE49-F238E27FC236}">
                <a16:creationId xmlns:a16="http://schemas.microsoft.com/office/drawing/2014/main" id="{6AA314A0-488C-41C2-B073-C636F4DC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77533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f-share-chart-frame">
            <a:extLst xmlns:a="http://schemas.openxmlformats.org/drawingml/2006/main">
              <a:ext uri="{FF2B5EF4-FFF2-40B4-BE49-F238E27FC236}">
                <a16:creationId xmlns:a16="http://schemas.microsoft.com/office/drawing/2014/main" id="{92B9058D-DC78-490F-A902-82FB24C6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77533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graphicFrame>
        <p:nvGraphicFramePr>
          <p:cNvPr id="20" name="bf-share-chart"/>
          <p:cNvGraphicFramePr/>
          <p:nvPr/>
        </p:nvGraphicFramePr>
        <p:xfrm>
          <a:off xmlns:a="http://schemas.openxmlformats.org/drawingml/2006/main" x="723900" y="2438400"/>
          <a:ext xmlns:a="http://schemas.openxmlformats.org/drawingml/2006/main" cx="71247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a15876e5084b71"/>
          </a:graphicData>
        </a:graphic>
      </p:graphicFrame>
      <p:sp>
        <p:nvSpPr>
          <p:cNvPr id="8" name="bf-share-callout-shadow">
            <a:extLst xmlns:a="http://schemas.openxmlformats.org/drawingml/2006/main">
              <a:ext uri="{FF2B5EF4-FFF2-40B4-BE49-F238E27FC236}">
                <a16:creationId xmlns:a16="http://schemas.microsoft.com/office/drawing/2014/main" id="{6D22F61D-B283-4342-ADAB-8617704E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3238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f-share-callout">
            <a:extLst xmlns:a="http://schemas.openxmlformats.org/drawingml/2006/main">
              <a:ext uri="{FF2B5EF4-FFF2-40B4-BE49-F238E27FC236}">
                <a16:creationId xmlns:a16="http://schemas.microsoft.com/office/drawing/2014/main" id="{035737D8-222B-4F36-AC1F-99B37319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3238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F7FE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0" name="bf-share-num">
            <a:extLst xmlns:a="http://schemas.openxmlformats.org/drawingml/2006/main">
              <a:ext uri="{FF2B5EF4-FFF2-40B4-BE49-F238E27FC236}">
                <a16:creationId xmlns:a16="http://schemas.microsoft.com/office/drawing/2014/main" id="{908BC5E1-DD90-4CBD-B11B-4415FBC9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58</a:t>
            </a:r>
          </a:p>
        </p:txBody>
      </p:sp>
      <p:sp>
        <p:nvSpPr>
          <p:cNvPr id="11" name="bf-share-unit">
            <a:extLst xmlns:a="http://schemas.openxmlformats.org/drawingml/2006/main">
              <a:ext uri="{FF2B5EF4-FFF2-40B4-BE49-F238E27FC236}">
                <a16:creationId xmlns:a16="http://schemas.microsoft.com/office/drawing/2014/main" id="{78FC290C-4904-47FB-8D57-CE8A8B1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MINUTES</a:t>
            </a:r>
          </a:p>
        </p:txBody>
      </p:sp>
      <p:sp>
        <p:nvSpPr>
          <p:cNvPr id="12" name="bf-share-rule">
            <a:extLst xmlns:a="http://schemas.openxmlformats.org/drawingml/2006/main">
              <a:ext uri="{FF2B5EF4-FFF2-40B4-BE49-F238E27FC236}">
                <a16:creationId xmlns:a16="http://schemas.microsoft.com/office/drawing/2014/main" id="{8BF47A15-A00C-4E3A-B001-73EDC13A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f-share-copy">
            <a:extLst xmlns:a="http://schemas.openxmlformats.org/drawingml/2006/main">
              <a:ext uri="{FF2B5EF4-FFF2-40B4-BE49-F238E27FC236}">
                <a16:creationId xmlns:a16="http://schemas.microsoft.com/office/drawing/2014/main" id="{026CBB7F-BBA7-4811-9510-3C77EC3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4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Median time to first share by the fourth constrained session.</a:t>
            </a:r>
          </a:p>
        </p:txBody>
      </p:sp>
    </p:spTree>
    <p:extLst>
      <p:ext uri="{BB962C8B-B14F-4D97-AF65-F5344CB8AC3E}">
        <p14:creationId xmlns:p14="http://schemas.microsoft.com/office/powerpoint/2010/main" val="776312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C0F7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label-7">
            <a:extLst xmlns:a="http://schemas.openxmlformats.org/drawingml/2006/main">
              <a:ext uri="{FF2B5EF4-FFF2-40B4-BE49-F238E27FC236}">
                <a16:creationId xmlns:a16="http://schemas.microsoft.com/office/drawing/2014/main" id="{6AB4008C-B5C8-40B2-AC57-B77BA60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WEEKEND COHORT LEDGER</a:t>
            </a:r>
          </a:p>
        </p:txBody>
      </p:sp>
      <p:sp>
        <p:nvSpPr>
          <p:cNvPr id="2" name="bf-page-7">
            <a:extLst xmlns:a="http://schemas.openxmlformats.org/drawingml/2006/main">
              <a:ext uri="{FF2B5EF4-FFF2-40B4-BE49-F238E27FC236}">
                <a16:creationId xmlns:a16="http://schemas.microsoft.com/office/drawing/2014/main" id="{8BAA4AFB-B28A-48D5-B046-350E0A6F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07 / 08</a:t>
            </a:r>
          </a:p>
        </p:txBody>
      </p:sp>
      <p:sp>
        <p:nvSpPr>
          <p:cNvPr id="3" name="bf-top-rule-7">
            <a:extLst xmlns:a="http://schemas.openxmlformats.org/drawingml/2006/main">
              <a:ext uri="{FF2B5EF4-FFF2-40B4-BE49-F238E27FC236}">
                <a16:creationId xmlns:a16="http://schemas.microsoft.com/office/drawing/2014/main" id="{619C732B-93D5-42BD-B2F4-3FF28C89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7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f-ledger-title">
            <a:extLst xmlns:a="http://schemas.openxmlformats.org/drawingml/2006/main">
              <a:ext uri="{FF2B5EF4-FFF2-40B4-BE49-F238E27FC236}">
                <a16:creationId xmlns:a16="http://schemas.microsoft.com/office/drawing/2014/main" id="{42C5C146-BAE4-42B7-B571-4E7E1A11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3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KEEP THE GROUP SMALL ENOUGH TO NOTICE.</a:t>
            </a:r>
          </a:p>
        </p:txBody>
      </p:sp>
      <p:sp>
        <p:nvSpPr>
          <p:cNvPr id="5" name="bf-ledger-frame-shadow">
            <a:extLst xmlns:a="http://schemas.openxmlformats.org/drawingml/2006/main">
              <a:ext uri="{FF2B5EF4-FFF2-40B4-BE49-F238E27FC236}">
                <a16:creationId xmlns:a16="http://schemas.microsoft.com/office/drawing/2014/main" id="{267B5197-42E1-4208-9909-C4FAD99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113728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f-ledger-frame">
            <a:extLst xmlns:a="http://schemas.openxmlformats.org/drawingml/2006/main">
              <a:ext uri="{FF2B5EF4-FFF2-40B4-BE49-F238E27FC236}">
                <a16:creationId xmlns:a16="http://schemas.microsoft.com/office/drawing/2014/main" id="{FAE63FC4-5445-4154-A171-317E90BC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3728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graphicFrame>
        <p:nvGraphicFramePr>
          <p:cNvPr id="14" name="bf-cohort-ledger"/>
          <p:cNvGraphicFramePr/>
          <p:nvPr/>
        </p:nvGraphicFramePr>
        <p:xfrm>
          <a:off xmlns:a="http://schemas.openxmlformats.org/drawingml/2006/main" x="552450" y="2000250"/>
          <a:ext xmlns:a="http://schemas.openxmlformats.org/drawingml/2006/main" cx="1106805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1327"/>
                <a:gridCol w="1785169"/>
                <a:gridCol w="2023192"/>
                <a:gridCol w="1904181"/>
                <a:gridCol w="1904181"/>
              </a:tblGrid>
              <a:tr h="74676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Quest</a:t>
                      </a:r>
                    </a:p>
                  </a:txBody>
                  <a:tcPr marL="91440" marR="91440" marT="45720" marB="45720">
                    <a:solidFill>
                      <a:srgbClr val="FE90E8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Makers</a:t>
                      </a:r>
                    </a:p>
                  </a:txBody>
                  <a:tcPr marL="91440" marR="91440" marT="45720" marB="45720">
                    <a:solidFill>
                      <a:srgbClr val="FE90E8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Finished</a:t>
                      </a:r>
                    </a:p>
                  </a:txBody>
                  <a:tcPr marL="91440" marR="91440" marT="45720" marB="45720">
                    <a:solidFill>
                      <a:srgbClr val="FE90E8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Shared</a:t>
                      </a:r>
                    </a:p>
                  </a:txBody>
                  <a:tcPr marL="91440" marR="91440" marT="45720" marB="45720">
                    <a:solidFill>
                      <a:srgbClr val="FE90E8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Repeat</a:t>
                      </a:r>
                    </a:p>
                  </a:txBody>
                  <a:tcPr marL="91440" marR="91440" marT="45720" marB="45720">
                    <a:solidFill>
                      <a:srgbClr val="FE90E8"/>
                    </a:solidFill>
                  </a:tcPr>
                </a:tc>
              </a:tr>
              <a:tr h="74676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Remix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FFDC8B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DC8B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DC8B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DC8B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DC8B"/>
                    </a:solidFill>
                  </a:tcPr>
                </a:tc>
              </a:tr>
              <a:tr h="74676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Roam</a:t>
                      </a:r>
                    </a:p>
                  </a:txBody>
                  <a:tcPr marL="91440" marR="91440" marT="45720" marB="45720">
                    <a:solidFill>
                      <a:srgbClr val="99E885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99E885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99E885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99E885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99E885"/>
                    </a:solidFill>
                  </a:tcPr>
                </a:tc>
              </a:tr>
              <a:tr h="74676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Inter BlockFrame"/>
                          <a:ea typeface="Inter BlockFrame"/>
                          <a:cs typeface="Inter BlockFrame"/>
                        </a:rPr>
                        <a:t>Perform</a:t>
                      </a:r>
                    </a:p>
                  </a:txBody>
                  <a:tcPr marL="91440" marR="91440" marT="45720" marB="45720">
                    <a:solidFill>
                      <a:srgbClr val="C0F7FE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C0F7FE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C0F7FE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C0F7FE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Space Grotesk BlockFrame"/>
                          <a:ea typeface="Space Grotesk BlockFrame"/>
                          <a:cs typeface="Space Grotesk BlockFrame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C0F7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238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f-label-8">
            <a:extLst xmlns:a="http://schemas.openxmlformats.org/drawingml/2006/main">
              <a:ext uri="{FF2B5EF4-FFF2-40B4-BE49-F238E27FC236}">
                <a16:creationId xmlns:a16="http://schemas.microsoft.com/office/drawing/2014/main" id="{E2699EBA-DEBA-4C6B-972A-987A40F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THE CLOSING RULE</a:t>
            </a:r>
          </a:p>
        </p:txBody>
      </p:sp>
      <p:sp>
        <p:nvSpPr>
          <p:cNvPr id="2" name="bf-page-8">
            <a:extLst xmlns:a="http://schemas.openxmlformats.org/drawingml/2006/main">
              <a:ext uri="{FF2B5EF4-FFF2-40B4-BE49-F238E27FC236}">
                <a16:creationId xmlns:a16="http://schemas.microsoft.com/office/drawing/2014/main" id="{A4CE8699-C0EA-453B-8D26-A6234596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050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08 / 08</a:t>
            </a:r>
          </a:p>
        </p:txBody>
      </p:sp>
      <p:sp>
        <p:nvSpPr>
          <p:cNvPr id="3" name="bf-top-rule-8">
            <a:extLst xmlns:a="http://schemas.openxmlformats.org/drawingml/2006/main">
              <a:ext uri="{FF2B5EF4-FFF2-40B4-BE49-F238E27FC236}">
                <a16:creationId xmlns:a16="http://schemas.microsoft.com/office/drawing/2014/main" id="{65B4404F-6108-467F-B094-4FDF7EF5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7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f-close-main-shadow">
            <a:extLst xmlns:a="http://schemas.openxmlformats.org/drawingml/2006/main">
              <a:ext uri="{FF2B5EF4-FFF2-40B4-BE49-F238E27FC236}">
                <a16:creationId xmlns:a16="http://schemas.microsoft.com/office/drawing/2014/main" id="{FB2DAAC5-C9BA-4865-B124-E04E6234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1125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f-close-main">
            <a:extLst xmlns:a="http://schemas.openxmlformats.org/drawingml/2006/main">
              <a:ext uri="{FF2B5EF4-FFF2-40B4-BE49-F238E27FC236}">
                <a16:creationId xmlns:a16="http://schemas.microsoft.com/office/drawing/2014/main" id="{69764A5A-6752-4D02-AE05-1F28B938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25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0E8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6" name="bf-close-title">
            <a:extLst xmlns:a="http://schemas.openxmlformats.org/drawingml/2006/main">
              <a:ext uri="{FF2B5EF4-FFF2-40B4-BE49-F238E27FC236}">
                <a16:creationId xmlns:a16="http://schemas.microsoft.com/office/drawing/2014/main" id="{DC33CFC4-37F2-40F2-8B8B-7395B2EF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90650"/>
            <a:ext cx="103822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SHIP THE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WEIRD LITTLE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defRPr>
            </a:pPr>
            <a:r>
              <a:rPr sz="6450" b="1" i="0">
                <a:solidFill>
                  <a:srgbClr val="000000"/>
                </a:solidFill>
                <a:latin typeface="Inter BlockFrame"/>
                <a:ea typeface="Inter BlockFrame"/>
                <a:cs typeface="Inter BlockFrame"/>
              </a:rPr>
              <a:t>THING.</a:t>
            </a:r>
          </a:p>
        </p:txBody>
      </p:sp>
      <p:sp>
        <p:nvSpPr>
          <p:cNvPr id="7" name="bf-close-sticker-a">
            <a:extLst xmlns:a="http://schemas.openxmlformats.org/drawingml/2006/main">
              <a:ext uri="{FF2B5EF4-FFF2-40B4-BE49-F238E27FC236}">
                <a16:creationId xmlns:a16="http://schemas.microsoft.com/office/drawing/2014/main" id="{BA94F12D-96D6-4AA3-A668-4130944E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8439150" y="501015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E885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bf-close-sticker-a-text">
            <a:extLst xmlns:a="http://schemas.openxmlformats.org/drawingml/2006/main">
              <a:ext uri="{FF2B5EF4-FFF2-40B4-BE49-F238E27FC236}">
                <a16:creationId xmlns:a16="http://schemas.microsoft.com/office/drawing/2014/main" id="{C14C4936-EE54-4A2E-8A8C-466211B2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8534400" y="50958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ROUGH IS REAL</a:t>
            </a:r>
          </a:p>
        </p:txBody>
      </p:sp>
      <p:sp>
        <p:nvSpPr>
          <p:cNvPr id="9" name="bf-close-note-shadow">
            <a:extLst xmlns:a="http://schemas.openxmlformats.org/drawingml/2006/main">
              <a:ext uri="{FF2B5EF4-FFF2-40B4-BE49-F238E27FC236}">
                <a16:creationId xmlns:a16="http://schemas.microsoft.com/office/drawing/2014/main" id="{A7B9AE8E-492B-41C8-BD24-92A04D0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648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f-close-note">
            <a:extLst xmlns:a="http://schemas.openxmlformats.org/drawingml/2006/main">
              <a:ext uri="{FF2B5EF4-FFF2-40B4-BE49-F238E27FC236}">
                <a16:creationId xmlns:a16="http://schemas.microsoft.com/office/drawing/2014/main" id="{B5B71E91-6EEA-496E-AD54-FE69EC71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6648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F7FE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1" name="bf-close-note-text">
            <a:extLst xmlns:a="http://schemas.openxmlformats.org/drawingml/2006/main">
              <a:ext uri="{FF2B5EF4-FFF2-40B4-BE49-F238E27FC236}">
                <a16:creationId xmlns:a16="http://schemas.microsoft.com/office/drawing/2014/main" id="{CD0F2C75-C1E5-4A5B-9101-1834327F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622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27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THE NEXT QUEST STARTS AFTER SOMEONE SEES THIS ONE.</a:t>
            </a:r>
          </a:p>
        </p:txBody>
      </p:sp>
      <p:sp>
        <p:nvSpPr>
          <p:cNvPr id="12" name="bf-close-sticker-b">
            <a:extLst xmlns:a="http://schemas.openxmlformats.org/drawingml/2006/main">
              <a:ext uri="{FF2B5EF4-FFF2-40B4-BE49-F238E27FC236}">
                <a16:creationId xmlns:a16="http://schemas.microsoft.com/office/drawing/2014/main" id="{B49A76E8-597B-41E7-B827-5B9D1E9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9829800" y="59245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8B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3" name="bf-close-sticker-b-text">
            <a:extLst xmlns:a="http://schemas.openxmlformats.org/drawingml/2006/main">
              <a:ext uri="{FF2B5EF4-FFF2-40B4-BE49-F238E27FC236}">
                <a16:creationId xmlns:a16="http://schemas.microsoft.com/office/drawing/2014/main" id="{994AF172-BE22-4538-AFD7-67CB8D97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9925050" y="6010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defRPr>
            </a:pPr>
            <a:r>
              <a:rPr sz="1125" b="1" i="0">
                <a:solidFill>
                  <a:srgbClr val="000000"/>
                </a:solidFill>
                <a:latin typeface="Space Grotesk BlockFrame"/>
                <a:ea typeface="Space Grotesk BlockFrame"/>
                <a:cs typeface="Space Grotesk BlockFrame"/>
              </a:rPr>
              <a:t>END / 08</a:t>
            </a:r>
          </a:p>
        </p:txBody>
      </p:sp>
    </p:spTree>
    <p:extLst>
      <p:ext uri="{BB962C8B-B14F-4D97-AF65-F5344CB8AC3E}">
        <p14:creationId xmlns:p14="http://schemas.microsoft.com/office/powerpoint/2010/main" val="485163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2026-07-27T12:35:22.1680000Z</dcterms:created>
  <dcterms:modified xsi:type="dcterms:W3CDTF">2026-07-27T12:35:22.1680000Z</dcterms:modified>
</coreProperties>
</file>