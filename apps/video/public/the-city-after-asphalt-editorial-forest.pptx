
<file path=[Content_Types].xml><?xml version="1.0" encoding="utf-8"?>
<Types xmlns="http://schemas.openxmlformats.org/package/2006/content-types">
  <Default Extension="fntdata" ContentType="application/x-fontdata"/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1619aaff9b574520" /><Relationship Type="http://schemas.openxmlformats.org/officeDocument/2006/relationships/extended-properties" Target="/docProps/app.xml" Id="Rc29a92c24865428c" /><Relationship Type="http://schemas.openxmlformats.org/officeDocument/2006/relationships/officeDocument" Target="/ppt/presentation.xml" Id="R99a6c11fea8b4a09" /></Relationships>
</file>

<file path=ppt/presentation.xml><?xml version="1.0" encoding="utf-8"?>
<p:presentation xmlns:r="http://schemas.openxmlformats.org/officeDocument/2006/relationships" xmlns:p="http://schemas.openxmlformats.org/presentationml/2006/main" embedTrueTypeFonts="true" saveSubsetFonts="true">
  <p:sldMasterIdLst>
    <p:sldMasterId xmlns:r="http://schemas.openxmlformats.org/officeDocument/2006/relationships" id="2147483648" r:id="R5988a3d77e85494d"/>
  </p:sldMasterIdLst>
  <p:notesMasterIdLst>
    <p:notesMasterId xmlns:r="http://schemas.openxmlformats.org/officeDocument/2006/relationships" r:id="R061a51ddc2034ced"/>
  </p:notesMasterIdLst>
  <p:sldIdLst>
    <p:sldId xmlns:r="http://schemas.openxmlformats.org/officeDocument/2006/relationships" id="256" r:id="Raa5a59ce7e7a4bf0"/>
    <p:sldId xmlns:r="http://schemas.openxmlformats.org/officeDocument/2006/relationships" id="257" r:id="Rd59587c9ee5641b2"/>
    <p:sldId xmlns:r="http://schemas.openxmlformats.org/officeDocument/2006/relationships" id="258" r:id="Rdc7253e0fcb34433"/>
    <p:sldId xmlns:r="http://schemas.openxmlformats.org/officeDocument/2006/relationships" id="259" r:id="R101373342a4c4878"/>
    <p:sldId xmlns:r="http://schemas.openxmlformats.org/officeDocument/2006/relationships" id="260" r:id="R5667da2c00cd4953"/>
    <p:sldId xmlns:r="http://schemas.openxmlformats.org/officeDocument/2006/relationships" id="261" r:id="R887d364a91324952"/>
    <p:sldId xmlns:r="http://schemas.openxmlformats.org/officeDocument/2006/relationships" id="262" r:id="Rae32e2b08b124a45"/>
    <p:sldId xmlns:r="http://schemas.openxmlformats.org/officeDocument/2006/relationships" id="263" r:id="Re5e5cac123434fbe"/>
  </p:sldIdLst>
  <p:sldSz cx="12192000" cy="6858000"/>
  <p:notesSz cx="6858000" cy="9144000"/>
  <p:embeddedFontLst>
    <p:embeddedFont>
      <p:font typeface="Archivo Black Display"/>
      <p:regular xmlns:r="http://schemas.openxmlformats.org/officeDocument/2006/relationships" r:id="R7128d8c667f24464"/>
    </p:embeddedFont>
    <p:embeddedFont>
      <p:font typeface="Space Grotesk Text"/>
      <p:regular xmlns:r="http://schemas.openxmlformats.org/officeDocument/2006/relationships" r:id="R78185e3ab3f24edf"/>
    </p:embeddedFont>
    <p:embeddedFont>
      <p:font typeface="JetBrains Mono"/>
      <p:regular xmlns:r="http://schemas.openxmlformats.org/officeDocument/2006/relationships" r:id="R9e3e16408fb54a97"/>
    </p:embeddedFont>
    <p:embeddedFont>
      <p:font typeface="Source Serif 4 Medium"/>
      <p:regular r:id="rId201314"/>
    </p:embeddedFont>
    <p:embeddedFont>
      <p:font typeface="Source Serif 4"/>
      <p:regular r:id="rId201315"/>
    </p:embeddedFont>
    <p:embeddedFont>
      <p:font typeface="JetBrains Mono Medium"/>
      <p:regular r:id="rId201316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3de6588b27ff4ad4"/><Relationship Type="http://schemas.openxmlformats.org/officeDocument/2006/relationships/slideMaster" Target="/ppt/slideMasters/slideMaster1.xml" Id="R5988a3d77e85494d"/><Relationship Type="http://schemas.openxmlformats.org/officeDocument/2006/relationships/notesMaster" Target="/ppt/notesMasters/notesMaster1.xml" Id="R061a51ddc2034ced"/><Relationship Type="http://schemas.openxmlformats.org/officeDocument/2006/relationships/presProps" Target="/ppt/presProps.xml" Id="R11e6653ae6ac42cb"/><Relationship Type="http://schemas.openxmlformats.org/officeDocument/2006/relationships/tableStyles" Target="/ppt/tableStyles.xml" Id="Rd77a8d61503a4c2e"/><Relationship Type="http://schemas.openxmlformats.org/officeDocument/2006/relationships/font" Target="/ppt/fonts/font.dat" Id="R7128d8c667f24464"/><Relationship Type="http://schemas.openxmlformats.org/officeDocument/2006/relationships/font" Target="/ppt/fonts/font2.dat" Id="R78185e3ab3f24edf"/><Relationship Type="http://schemas.openxmlformats.org/officeDocument/2006/relationships/font" Target="/ppt/fonts/font3.dat" Id="R9e3e16408fb54a97"/><Relationship Type="http://schemas.openxmlformats.org/officeDocument/2006/relationships/slide" Target="/ppt/slides/slide1.xml" Id="Raa5a59ce7e7a4bf0"/><Relationship Type="http://schemas.openxmlformats.org/officeDocument/2006/relationships/slide" Target="/ppt/slides/slide2.xml" Id="Rd59587c9ee5641b2"/><Relationship Type="http://schemas.openxmlformats.org/officeDocument/2006/relationships/slide" Target="/ppt/slides/slide3.xml" Id="Rdc7253e0fcb34433"/><Relationship Type="http://schemas.openxmlformats.org/officeDocument/2006/relationships/slide" Target="/ppt/slides/slide4.xml" Id="R101373342a4c4878"/><Relationship Type="http://schemas.openxmlformats.org/officeDocument/2006/relationships/slide" Target="/ppt/slides/slide5.xml" Id="R5667da2c00cd4953"/><Relationship Type="http://schemas.openxmlformats.org/officeDocument/2006/relationships/slide" Target="/ppt/slides/slide6.xml" Id="R887d364a91324952"/><Relationship Type="http://schemas.openxmlformats.org/officeDocument/2006/relationships/slide" Target="/ppt/slides/slide7.xml" Id="Rae32e2b08b124a45"/><Relationship Type="http://schemas.openxmlformats.org/officeDocument/2006/relationships/slide" Target="/ppt/slides/slide8.xml" Id="Re5e5cac123434fbe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/ppt/notesMasters/theme/theme3.xml" Id="R6a055c3cbf1f40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/ppt/slides/slide1.xml" Id="Refc9ed860c004d26" /><Relationship Type="http://schemas.openxmlformats.org/officeDocument/2006/relationships/notesMaster" Target="/ppt/notesMasters/notesMaster1.xml" Id="R880ab3bba0074a88" /></Relationships>
</file>

<file path=ppt/notesSlides/_rels/notesSlide2.xml.rels><?xml version="1.0" encoding="utf-8"?><Relationships xmlns="http://schemas.openxmlformats.org/package/2006/relationships"><Relationship Type="http://schemas.openxmlformats.org/officeDocument/2006/relationships/slide" Target="/ppt/slides/slide2.xml" Id="Re931b5228de14797" /><Relationship Type="http://schemas.openxmlformats.org/officeDocument/2006/relationships/notesMaster" Target="/ppt/notesMasters/notesMaster1.xml" Id="R928f95385c074a66" /></Relationships>
</file>

<file path=ppt/notesSlides/_rels/notesSlide3.xml.rels><?xml version="1.0" encoding="utf-8"?><Relationships xmlns="http://schemas.openxmlformats.org/package/2006/relationships"><Relationship Type="http://schemas.openxmlformats.org/officeDocument/2006/relationships/slide" Target="/ppt/slides/slide3.xml" Id="Ra50df27b1a87431e" /><Relationship Type="http://schemas.openxmlformats.org/officeDocument/2006/relationships/notesMaster" Target="/ppt/notesMasters/notesMaster1.xml" Id="Ra3473480814c49d4" /></Relationships>
</file>

<file path=ppt/notesSlides/_rels/notesSlide4.xml.rels><?xml version="1.0" encoding="utf-8"?><Relationships xmlns="http://schemas.openxmlformats.org/package/2006/relationships"><Relationship Type="http://schemas.openxmlformats.org/officeDocument/2006/relationships/slide" Target="/ppt/slides/slide4.xml" Id="R92736faf55e54060" /><Relationship Type="http://schemas.openxmlformats.org/officeDocument/2006/relationships/notesMaster" Target="/ppt/notesMasters/notesMaster1.xml" Id="R78b9d29822424c20" /></Relationships>
</file>

<file path=ppt/notesSlides/_rels/notesSlide5.xml.rels><?xml version="1.0" encoding="utf-8"?><Relationships xmlns="http://schemas.openxmlformats.org/package/2006/relationships"><Relationship Type="http://schemas.openxmlformats.org/officeDocument/2006/relationships/slide" Target="/ppt/slides/slide5.xml" Id="R1fd2f6bb859d4e99" /><Relationship Type="http://schemas.openxmlformats.org/officeDocument/2006/relationships/notesMaster" Target="/ppt/notesMasters/notesMaster1.xml" Id="R9adb1af2853949fa" /></Relationships>
</file>

<file path=ppt/notesSlides/_rels/notesSlide6.xml.rels><?xml version="1.0" encoding="utf-8"?><Relationships xmlns="http://schemas.openxmlformats.org/package/2006/relationships"><Relationship Type="http://schemas.openxmlformats.org/officeDocument/2006/relationships/slide" Target="/ppt/slides/slide6.xml" Id="Ra71dcd1f78f64bf4" /><Relationship Type="http://schemas.openxmlformats.org/officeDocument/2006/relationships/notesMaster" Target="/ppt/notesMasters/notesMaster1.xml" Id="R8aea632058694c63" /></Relationships>
</file>

<file path=ppt/notesSlides/_rels/notesSlide7.xml.rels><?xml version="1.0" encoding="utf-8"?><Relationships xmlns="http://schemas.openxmlformats.org/package/2006/relationships"><Relationship Type="http://schemas.openxmlformats.org/officeDocument/2006/relationships/slide" Target="/ppt/slides/slide7.xml" Id="R83c8509faa644af3" /><Relationship Type="http://schemas.openxmlformats.org/officeDocument/2006/relationships/notesMaster" Target="/ppt/notesMasters/notesMaster1.xml" Id="R0f50333895054201" /></Relationships>
</file>

<file path=ppt/notesSlides/_rels/notesSlide8.xml.rels><?xml version="1.0" encoding="utf-8"?><Relationships xmlns="http://schemas.openxmlformats.org/package/2006/relationships"><Relationship Type="http://schemas.openxmlformats.org/officeDocument/2006/relationships/slide" Target="/ppt/slides/slide8.xml" Id="R03f33088bdfe4f31" /><Relationship Type="http://schemas.openxmlformats.org/officeDocument/2006/relationships/notesMaster" Target="/ppt/notesMasters/notesMaster1.xml" Id="R43f1850f801745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editorial-forest.pptx — user-supplied visual reference.</a:t>
            </a:r>
          </a:p>
          <a:p xmlns:a="http://schemas.openxmlformats.org/drawingml/2006/main">
            <a:r>
              <a:t>- make-something-strange-creative-mode(1).pptx — user-supplied editable layout reference.</a:t>
            </a:r>
          </a:p>
          <a:p xmlns:a="http://schemas.openxmlformats.org/drawingml/2006/main">
            <a:r>
              <a:t>- https://github.com/zarazhangrui/beautiful-html-templates/blob/main/templates/editorial-forest/design.md — Editorial Forest typography and layout specification.</a:t>
            </a:r>
          </a:p>
          <a:p xmlns:a="http://schemas.openxmlformats.org/drawingml/2006/main">
            <a:r>
              <a:t>- 4106acdf-6ce8-4dae-8708-0a996b804717.png — user-supplied five-topic bento reference.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figures and block conditions are illustrative editorial scenarios, not measured findings or forecasts. The cover follows the Editorial Forest cover anatomy directly: one green field, one pink hero headline, a mono topbar, a monogram circle, and a single footline.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editorial-forest.pptx — user-supplied visual reference.</a:t>
            </a:r>
          </a:p>
          <a:p xmlns:a="http://schemas.openxmlformats.org/drawingml/2006/main">
            <a:r>
              <a:t>- make-something-strange-creative-mode(1).pptx — user-supplied editable layout reference.</a:t>
            </a:r>
          </a:p>
          <a:p xmlns:a="http://schemas.openxmlformats.org/drawingml/2006/main">
            <a:r>
              <a:t>- https://github.com/zarazhangrui/beautiful-html-templates/blob/main/templates/editorial-forest/design.md — Editorial Forest typography and layout specification.</a:t>
            </a:r>
          </a:p>
          <a:p xmlns:a="http://schemas.openxmlformats.org/drawingml/2006/main">
            <a:r>
              <a:t>- 4106acdf-6ce8-4dae-8708-0a996b804717.png — user-supplied five-topic bento reference.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figures and block conditions are illustrative editorial scenarios, not measured findings or forecasts. Agenda bento follows the user-supplied five-topic Editorial Forest reference image.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editorial-forest.pptx — user-supplied visual reference.</a:t>
            </a:r>
          </a:p>
          <a:p xmlns:a="http://schemas.openxmlformats.org/drawingml/2006/main">
            <a:r>
              <a:t>- make-something-strange-creative-mode(1).pptx — user-supplied editable layout reference.</a:t>
            </a:r>
          </a:p>
          <a:p xmlns:a="http://schemas.openxmlformats.org/drawingml/2006/main">
            <a:r>
              <a:t>- https://github.com/zarazhangrui/beautiful-html-templates/blob/main/templates/editorial-forest/design.md — Editorial Forest typography and layout specification.</a:t>
            </a:r>
          </a:p>
          <a:p xmlns:a="http://schemas.openxmlformats.org/drawingml/2006/main">
            <a:r>
              <a:t>- 4106acdf-6ce8-4dae-8708-0a996b804717.png — user-supplied five-topic bento reference.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figures and block conditions are illustrative editorial scenarios, not measured findings or forecasts. The premise uses one dominant pink field and a hairline-separated support row. Its topbar, content, and footline share the same 88–1192 editorial grid.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editorial-forest.pptx — user-supplied visual reference.</a:t>
            </a:r>
          </a:p>
          <a:p xmlns:a="http://schemas.openxmlformats.org/drawingml/2006/main">
            <a:r>
              <a:t>- make-something-strange-creative-mode(1).pptx — user-supplied editable layout reference.</a:t>
            </a:r>
          </a:p>
          <a:p xmlns:a="http://schemas.openxmlformats.org/drawingml/2006/main">
            <a:r>
              <a:t>- https://github.com/zarazhangrui/beautiful-html-templates/blob/main/templates/editorial-forest/design.md — Editorial Forest typography and layout specification.</a:t>
            </a:r>
          </a:p>
          <a:p xmlns:a="http://schemas.openxmlformats.org/drawingml/2006/main">
            <a:r>
              <a:t>- 4106acdf-6ce8-4dae-8708-0a996b804717.png — user-supplied five-topic bento reference.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figures and block conditions are illustrative editorial scenarios, not measured findings or forecasts. Targets are invented design prompts for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editorial-forest.pptx — user-supplied visual reference.</a:t>
            </a:r>
          </a:p>
          <a:p xmlns:a="http://schemas.openxmlformats.org/drawingml/2006/main">
            <a:r>
              <a:t>- make-something-strange-creative-mode(1).pptx — user-supplied editable layout reference.</a:t>
            </a:r>
          </a:p>
          <a:p xmlns:a="http://schemas.openxmlformats.org/drawingml/2006/main">
            <a:r>
              <a:t>- https://github.com/zarazhangrui/beautiful-html-templates/blob/main/templates/editorial-forest/design.md — Editorial Forest typography and layout specification.</a:t>
            </a:r>
          </a:p>
          <a:p xmlns:a="http://schemas.openxmlformats.org/drawingml/2006/main">
            <a:r>
              <a:t>- 4106acdf-6ce8-4dae-8708-0a996b804717.png — user-supplied five-topic bento reference.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figures and block conditions are illustrative editorial scenarios, not measured findings or forecasts. The native line chart compares illustrative connected and fragmented canopy scenarios.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editorial-forest.pptx — user-supplied visual reference.</a:t>
            </a:r>
          </a:p>
          <a:p xmlns:a="http://schemas.openxmlformats.org/drawingml/2006/main">
            <a:r>
              <a:t>- make-something-strange-creative-mode(1).pptx — user-supplied editable layout reference.</a:t>
            </a:r>
          </a:p>
          <a:p xmlns:a="http://schemas.openxmlformats.org/drawingml/2006/main">
            <a:r>
              <a:t>- https://github.com/zarazhangrui/beautiful-html-templates/blob/main/templates/editorial-forest/design.md — Editorial Forest typography and layout specification.</a:t>
            </a:r>
          </a:p>
          <a:p xmlns:a="http://schemas.openxmlformats.org/drawingml/2006/main">
            <a:r>
              <a:t>- 4106acdf-6ce8-4dae-8708-0a996b804717.png — user-supplied five-topic bento reference.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figures and block conditions are illustrative editorial scenarios, not measured findings or forecasts. The native clustered column chart uses illustrative peak-temperature scenarios.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editorial-forest.pptx — user-supplied visual reference.</a:t>
            </a:r>
          </a:p>
          <a:p xmlns:a="http://schemas.openxmlformats.org/drawingml/2006/main">
            <a:r>
              <a:t>- make-something-strange-creative-mode(1).pptx — user-supplied editable layout reference.</a:t>
            </a:r>
          </a:p>
          <a:p xmlns:a="http://schemas.openxmlformats.org/drawingml/2006/main">
            <a:r>
              <a:t>- https://github.com/zarazhangrui/beautiful-html-templates/blob/main/templates/editorial-forest/design.md — Editorial Forest typography and layout specification.</a:t>
            </a:r>
          </a:p>
          <a:p xmlns:a="http://schemas.openxmlformats.org/drawingml/2006/main">
            <a:r>
              <a:t>- 4106acdf-6ce8-4dae-8708-0a996b804717.png — user-supplied five-topic bento reference.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figures and block conditions are illustrative editorial scenarios, not measured findings or forecasts. The neighborhood ledger remains a native editable PowerPoint 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editorial-forest.pptx — user-supplied visual reference.</a:t>
            </a:r>
          </a:p>
          <a:p xmlns:a="http://schemas.openxmlformats.org/drawingml/2006/main">
            <a:r>
              <a:t>- make-something-strange-creative-mode(1).pptx — user-supplied editable layout reference.</a:t>
            </a:r>
          </a:p>
          <a:p xmlns:a="http://schemas.openxmlformats.org/drawingml/2006/main">
            <a:r>
              <a:t>- https://github.com/zarazhangrui/beautiful-html-templates/blob/main/templates/editorial-forest/design.md — Editorial Forest typography and layout specification.</a:t>
            </a:r>
          </a:p>
          <a:p xmlns:a="http://schemas.openxmlformats.org/drawingml/2006/main">
            <a:r>
              <a:t>- 4106acdf-6ce8-4dae-8708-0a996b804717.png — user-supplied five-topic bento reference.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figures and block conditions are illustrative editorial scenarios, not measured findings or forecasts. The closer mirrors the Editorial Forest cover anatomy at closing scale: one green field, a single oversized serif statement, a monogram circle, and one aligned footline.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d21ca981e9ac4e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/ppt/slideMasters/theme/theme2.xml" Id="Rdb662a54c2c3416d" /><Relationship Type="http://schemas.openxmlformats.org/officeDocument/2006/relationships/slideLayout" Target="/ppt/slideLayouts/slideLayout1.xml" Id="Re5cfae4a9d334f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cfae4a9d334f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a1c8ceec8c94654" /><Relationship Type="http://schemas.openxmlformats.org/officeDocument/2006/relationships/notesSlide" Target="/ppt/notesSlides/notesSlide1.xml" Id="R0cdd2bfff2c941fc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18aa783f50544cb" /><Relationship Type="http://schemas.openxmlformats.org/officeDocument/2006/relationships/notesSlide" Target="/ppt/notesSlides/notesSlide2.xml" Id="R6bc090c578d8483b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87c3a26db6b4d4c" /><Relationship Type="http://schemas.openxmlformats.org/officeDocument/2006/relationships/notesSlide" Target="/ppt/notesSlides/notesSlide3.xml" Id="Rfc4e05fa09cf4798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e8289f7c8cc4547" /><Relationship Type="http://schemas.openxmlformats.org/officeDocument/2006/relationships/notesSlide" Target="/ppt/notesSlides/notesSlide4.xml" Id="Rb335a21235c34156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10a9bbc94f9d4a81" /><Relationship Type="http://schemas.openxmlformats.org/officeDocument/2006/relationships/chart" Target="/ppt/slides/charts/chart1.xml" Id="Rd02e2c593b694dda" /><Relationship Type="http://schemas.openxmlformats.org/officeDocument/2006/relationships/notesSlide" Target="/ppt/notesSlides/notesSlide5.xml" Id="Rc51a18d25e7e42ce" 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ba61934d2004cb1" /><Relationship Type="http://schemas.openxmlformats.org/officeDocument/2006/relationships/chart" Target="/ppt/slides/charts/chart2.xml" Id="Race6706c74d5462b" /><Relationship Type="http://schemas.openxmlformats.org/officeDocument/2006/relationships/notesSlide" Target="/ppt/notesSlides/notesSlide6.xml" Id="Rf5d6ffc401564b52" 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82514c79b5d24c3f" /><Relationship Type="http://schemas.openxmlformats.org/officeDocument/2006/relationships/notesSlide" Target="/ppt/notesSlides/notesSlide7.xml" Id="R24cef2df9ee64eb8" 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6ac048d8521a4091" /><Relationship Type="http://schemas.openxmlformats.org/officeDocument/2006/relationships/notesSlide" Target="/ppt/notesSlides/notesSlide8.xml" Id="R3a03732af0734815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FRAGMENTED CANOPY</c:v>
          </c:tx>
          <c:spPr>
            <a:solidFill xmlns:a="http://schemas.openxmlformats.org/drawingml/2006/main">
              <a:srgbClr val="3A5A36"/>
            </a:solidFill>
            <a:ln xmlns:a="http://schemas.openxmlformats.org/drawingml/2006/main" w="38100">
              <a:solidFill>
                <a:srgbClr val="3A5A36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6"/>
              <c:pt idx="0">
                <c:v>2026</c:v>
              </c:pt>
              <c:pt idx="1">
                <c:v>2028</c:v>
              </c:pt>
              <c:pt idx="2">
                <c:v>2030</c:v>
              </c:pt>
              <c:pt idx="3">
                <c:v>2032</c:v>
              </c:pt>
              <c:pt idx="4">
                <c:v>2034</c:v>
              </c:pt>
              <c:pt idx="5">
                <c:v>2036</c:v>
              </c:pt>
            </c:numLit>
          </c:cat>
          <c:val>
            <c:numLit>
              <c:formatCode>General</c:formatCode>
              <c:ptCount val="6"/>
              <c:pt idx="0">
                <c:v>45</c:v>
              </c:pt>
              <c:pt idx="1">
                <c:v>44.2</c:v>
              </c:pt>
              <c:pt idx="2">
                <c:v>43.6</c:v>
              </c:pt>
              <c:pt idx="3">
                <c:v>43</c:v>
              </c:pt>
              <c:pt idx="4">
                <c:v>42.6</c:v>
              </c:pt>
              <c:pt idx="5">
                <c:v>42.2</c:v>
              </c:pt>
            </c:numLit>
          </c:val>
        </c:ser>
        <c:ser>
          <c:idx val="1"/>
          <c:order val="1"/>
          <c:tx>
            <c:v>CONNECTED CANOPY</c:v>
          </c:tx>
          <c:spPr>
            <a:solidFill xmlns:a="http://schemas.openxmlformats.org/drawingml/2006/main">
              <a:srgbClr val="D27E96"/>
            </a:solidFill>
            <a:ln xmlns:a="http://schemas.openxmlformats.org/drawingml/2006/main" w="47625">
              <a:solidFill>
                <a:srgbClr val="D27E96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6"/>
              <c:pt idx="0">
                <c:v>2026</c:v>
              </c:pt>
              <c:pt idx="1">
                <c:v>2028</c:v>
              </c:pt>
              <c:pt idx="2">
                <c:v>2030</c:v>
              </c:pt>
              <c:pt idx="3">
                <c:v>2032</c:v>
              </c:pt>
              <c:pt idx="4">
                <c:v>2034</c:v>
              </c:pt>
              <c:pt idx="5">
                <c:v>2036</c:v>
              </c:pt>
            </c:numLit>
          </c:cat>
          <c:val>
            <c:numLit>
              <c:formatCode>General</c:formatCode>
              <c:ptCount val="6"/>
              <c:pt idx="0">
                <c:v>45</c:v>
              </c:pt>
              <c:pt idx="1">
                <c:v>42.1</c:v>
              </c:pt>
              <c:pt idx="2">
                <c:v>39</c:v>
              </c:pt>
              <c:pt idx="3">
                <c:v>36.5</c:v>
              </c:pt>
              <c:pt idx="4">
                <c:v>34.5</c:v>
              </c:pt>
              <c:pt idx="5">
                <c:v>33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 b="0">
                    <a:solidFill>
                      <a:srgbClr val="2E4A2A"/>
                    </a:solidFill>
                    <a:latin typeface="JetBrains Mono Medium"/>
                    <a:ea typeface="JetBrains Mono Medium"/>
                    <a:cs typeface="JetBrains Mono Medium"/>
                  </a:rPr>
                  <a:t>ILLUSTRATIVE DELIVERY YEAR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0">
                  <a:solidFill>
                    <a:srgbClr val="2E4A2A"/>
                  </a:solidFill>
                  <a:latin typeface="JetBrains Mono Medium"/>
                  <a:ea typeface="JetBrains Mono Medium"/>
                  <a:cs typeface="JetBrains Mono Medium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48"/>
          <c:min val="3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FC5AE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 b="0">
                    <a:solidFill>
                      <a:srgbClr val="2E4A2A"/>
                    </a:solidFill>
                    <a:latin typeface="JetBrains Mono Medium"/>
                    <a:ea typeface="JetBrains Mono Medium"/>
                    <a:cs typeface="JetBrains Mono Medium"/>
                  </a:rPr>
                  <a:t>PEAK SURFACE TEMP · °C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0">
                  <a:solidFill>
                    <a:srgbClr val="2E4A2A"/>
                  </a:solidFill>
                  <a:latin typeface="JetBrains Mono Medium"/>
                  <a:ea typeface="JetBrains Mono Medium"/>
                  <a:cs typeface="JetBrains Mono Medium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defRPr>
            </a:pPr>
          </a:p>
        </c:txPr>
        <c:crossAx val="48650112"/>
        <c:crossBetween val="between"/>
        <c:majorUnit val="3"/>
      </c:valAx>
      <c:spPr>
        <a:solidFill xmlns:a="http://schemas.openxmlformats.org/drawingml/2006/main">
          <a:srgbClr val="EFE7D4"/>
        </a:solidFill>
        <a:ln xmlns:a="http://schemas.openxmlformats.org/drawingml/2006/main" w="9525">
          <a:solidFill>
            <a:srgbClr val="CFC6A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0">
              <a:solidFill>
                <a:srgbClr val="243A21"/>
              </a:solidFill>
              <a:latin typeface="JetBrains Mono Medium"/>
              <a:ea typeface="JetBrains Mono Medium"/>
              <a:cs typeface="JetBrains Mono Medium"/>
            </a:defRPr>
          </a:pPr>
        </a:p>
      </c:txPr>
    </c:legend>
    <c:plotVisOnly val="1"/>
  </c:chart>
  <c:spPr>
    <a:solidFill xmlns:a="http://schemas.openxmlformats.org/drawingml/2006/main">
      <a:srgbClr val="EFE9D9"/>
    </a:solidFill>
    <a:ln xmlns:a="http://schemas.openxmlformats.org/drawingml/2006/main" w="0">
      <a:solidFill>
        <a:srgbClr val="EFE9D9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CURRENT</c:v>
          </c:tx>
          <c:spPr>
            <a:solidFill xmlns:a="http://schemas.openxmlformats.org/drawingml/2006/main">
              <a:srgbClr val="3A5A36"/>
            </a:solidFill>
            <a:ln xmlns:a="http://schemas.openxmlformats.org/drawingml/2006/main" w="9525">
              <a:solidFill>
                <a:srgbClr val="3A5A36"/>
              </a:solidFill>
              <a:prstDash val="solid"/>
            </a:ln>
          </c:spPr>
          <c:cat>
            <c:strLit>
              <c:ptCount val="4"/>
              <c:pt idx="0">
                <c:v>Bare block</c:v>
              </c:pt>
              <c:pt idx="1">
                <c:v>Tree pits</c:v>
              </c:pt>
              <c:pt idx="2">
                <c:v>Pocket grove</c:v>
              </c:pt>
              <c:pt idx="3">
                <c:v>Linked canopy</c:v>
              </c:pt>
            </c:strLit>
          </c:cat>
          <c:val>
            <c:numLit>
              <c:formatCode>General</c:formatCode>
              <c:ptCount val="4"/>
              <c:pt idx="0">
                <c:v>47</c:v>
              </c:pt>
              <c:pt idx="1">
                <c:v>45</c:v>
              </c:pt>
              <c:pt idx="2">
                <c:v>43</c:v>
              </c:pt>
              <c:pt idx="3">
                <c:v>42</c:v>
              </c:pt>
            </c:numLit>
          </c:val>
        </c:ser>
        <c:ser>
          <c:idx val="1"/>
          <c:order val="1"/>
          <c:tx>
            <c:v>REWILDED</c:v>
          </c:tx>
          <c:spPr>
            <a:solidFill xmlns:a="http://schemas.openxmlformats.org/drawingml/2006/main">
              <a:srgbClr val="D27E96"/>
            </a:solidFill>
            <a:ln xmlns:a="http://schemas.openxmlformats.org/drawingml/2006/main" w="9525">
              <a:solidFill>
                <a:srgbClr val="D27E96"/>
              </a:solidFill>
              <a:prstDash val="solid"/>
            </a:ln>
          </c:spPr>
          <c:cat>
            <c:strLit>
              <c:ptCount val="4"/>
              <c:pt idx="0">
                <c:v>Bare block</c:v>
              </c:pt>
              <c:pt idx="1">
                <c:v>Tree pits</c:v>
              </c:pt>
              <c:pt idx="2">
                <c:v>Pocket grove</c:v>
              </c:pt>
              <c:pt idx="3">
                <c:v>Linked canopy</c:v>
              </c:pt>
            </c:strLit>
          </c:cat>
          <c:val>
            <c:numLit>
              <c:formatCode>General</c:formatCode>
              <c:ptCount val="4"/>
              <c:pt idx="0">
                <c:v>44</c:v>
              </c:pt>
              <c:pt idx="1">
                <c:v>40</c:v>
              </c:pt>
              <c:pt idx="2">
                <c:v>36</c:v>
              </c:pt>
              <c:pt idx="3">
                <c:v>33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0">
                  <a:solidFill>
                    <a:srgbClr val="243A21"/>
                  </a:solidFill>
                  <a:latin typeface="JetBrains Mono Medium"/>
                  <a:ea typeface="JetBrains Mono Medium"/>
                  <a:cs typeface="JetBrains Mono Medium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 b="0">
                    <a:solidFill>
                      <a:srgbClr val="2E4A2A"/>
                    </a:solidFill>
                    <a:latin typeface="JetBrains Mono Medium"/>
                    <a:ea typeface="JetBrains Mono Medium"/>
                    <a:cs typeface="JetBrains Mono Medium"/>
                  </a:rPr>
                  <a:t>BLOCK CONDITION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0">
                  <a:solidFill>
                    <a:srgbClr val="2E4A2A"/>
                  </a:solidFill>
                  <a:latin typeface="JetBrains Mono Medium"/>
                  <a:ea typeface="JetBrains Mono Medium"/>
                  <a:cs typeface="JetBrains Mono Medium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50"/>
          <c:min val="3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FC5AE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 b="0">
                    <a:solidFill>
                      <a:srgbClr val="2E4A2A"/>
                    </a:solidFill>
                    <a:latin typeface="JetBrains Mono Medium"/>
                    <a:ea typeface="JetBrains Mono Medium"/>
                    <a:cs typeface="JetBrains Mono Medium"/>
                  </a:rPr>
                  <a:t>PEAK SURFACE TEMP · °C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0">
                  <a:solidFill>
                    <a:srgbClr val="2E4A2A"/>
                  </a:solidFill>
                  <a:latin typeface="JetBrains Mono Medium"/>
                  <a:ea typeface="JetBrains Mono Medium"/>
                  <a:cs typeface="JetBrains Mono Medium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EFE7D4"/>
        </a:solidFill>
        <a:ln xmlns:a="http://schemas.openxmlformats.org/drawingml/2006/main" w="9525">
          <a:solidFill>
            <a:srgbClr val="CFC6A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0">
              <a:solidFill>
                <a:srgbClr val="243A21"/>
              </a:solidFill>
              <a:latin typeface="JetBrains Mono Medium"/>
              <a:ea typeface="JetBrains Mono Medium"/>
              <a:cs typeface="JetBrains Mono Medium"/>
            </a:defRPr>
          </a:pPr>
        </a:p>
      </c:txPr>
    </c:legend>
    <c:plotVisOnly val="1"/>
  </c:chart>
  <c:spPr>
    <a:solidFill xmlns:a="http://schemas.openxmlformats.org/drawingml/2006/main">
      <a:srgbClr val="EFE9D9"/>
    </a:solidFill>
    <a:ln xmlns:a="http://schemas.openxmlformats.org/drawingml/2006/main" w="0">
      <a:solidFill>
        <a:srgbClr val="EFE9D9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E4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reative-label-1">
            <a:extLst xmlns:a="http://schemas.openxmlformats.org/drawingml/2006/main">
              <a:ext uri="{FF2B5EF4-FFF2-40B4-BE49-F238E27FC236}">
                <a16:creationId xmlns:a16="http://schemas.microsoft.com/office/drawing/2014/main" id="{9EF381E9-B4DA-4B81-9A64-821DCF73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9810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90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A FIELD GUIDE TO URBAN REWILDING</a:t>
            </a:r>
          </a:p>
        </p:txBody>
      </p:sp>
      <p:sp>
        <p:nvSpPr>
          <p:cNvPr id="2" name="creative-page-1">
            <a:extLst xmlns:a="http://schemas.openxmlformats.org/drawingml/2006/main">
              <a:ext uri="{FF2B5EF4-FFF2-40B4-BE49-F238E27FC236}">
                <a16:creationId xmlns:a16="http://schemas.microsoft.com/office/drawing/2014/main" id="{BE804F64-26B7-42C5-B0D3-242A1E97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29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 i="0">
                <a:solidFill>
                  <a:srgbClr val="0F0F0F"/>
                </a:solidFill>
                <a:latin typeface="JetBrains Mono"/>
                <a:ea typeface="JetBrains Mono"/>
                <a:cs typeface="JetBrains Mono"/>
              </a:rPr>
              <a:t/>
            </a:r>
          </a:p>
        </p:txBody>
      </p:sp>
      <p:sp>
        <p:nvSpPr>
          <p:cNvPr id="3" name="creative-foot-1">
            <a:extLst xmlns:a="http://schemas.openxmlformats.org/drawingml/2006/main">
              <a:ext uri="{FF2B5EF4-FFF2-40B4-BE49-F238E27FC236}">
                <a16:creationId xmlns:a16="http://schemas.microsoft.com/office/drawing/2014/main" id="{2513671A-A391-4C8C-8209-40C0130C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1722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7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THE CITY AFTER ASPHALT · 2026</a:t>
            </a:r>
          </a:p>
        </p:txBody>
      </p:sp>
      <p:sp>
        <p:nvSpPr>
          <p:cNvPr id="4" name="creative-cover-green-shadow">
            <a:extLst xmlns:a="http://schemas.openxmlformats.org/drawingml/2006/main">
              <a:ext uri="{FF2B5EF4-FFF2-40B4-BE49-F238E27FC236}">
                <a16:creationId xmlns:a16="http://schemas.microsoft.com/office/drawing/2014/main" id="{ED3CC879-F000-497E-8E01-D6CA543A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7200900" cy="417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creative-cover-green-surface">
            <a:extLst xmlns:a="http://schemas.openxmlformats.org/drawingml/2006/main">
              <a:ext uri="{FF2B5EF4-FFF2-40B4-BE49-F238E27FC236}">
                <a16:creationId xmlns:a16="http://schemas.microsoft.com/office/drawing/2014/main" id="{713D9A15-9294-46CE-9236-8CE9FFD1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52500"/>
            <a:ext cx="7200900" cy="417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creative-cover-title">
            <a:extLst xmlns:a="http://schemas.openxmlformats.org/drawingml/2006/main">
              <a:ext uri="{FF2B5EF4-FFF2-40B4-BE49-F238E27FC236}">
                <a16:creationId xmlns:a16="http://schemas.microsoft.com/office/drawing/2014/main" id="{C76DB5AA-CE2C-4D33-8E89-6EBD11A8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752600"/>
            <a:ext cx="885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9150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9150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rPr>
              <a:t>The city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9150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9150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rPr>
              <a:t>after asphalt.</a:t>
            </a:r>
          </a:p>
        </p:txBody>
      </p:sp>
      <p:sp>
        <p:nvSpPr>
          <p:cNvPr id="7" name="creative-cover-pink-shadow">
            <a:extLst xmlns:a="http://schemas.openxmlformats.org/drawingml/2006/main">
              <a:ext uri="{FF2B5EF4-FFF2-40B4-BE49-F238E27FC236}">
                <a16:creationId xmlns:a16="http://schemas.microsoft.com/office/drawing/2014/main" id="{B8D11C4E-8260-4942-BADC-F3C6D102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28700"/>
            <a:ext cx="36576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creative-cover-pink-surface">
            <a:extLst xmlns:a="http://schemas.openxmlformats.org/drawingml/2006/main">
              <a:ext uri="{FF2B5EF4-FFF2-40B4-BE49-F238E27FC236}">
                <a16:creationId xmlns:a16="http://schemas.microsoft.com/office/drawing/2014/main" id="{ABDF7C90-3D59-41DF-A5DE-6941992B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38175"/>
            <a:ext cx="838200" cy="8382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E89CB1"/>
            </a:solidFill>
            <a:prstDash val="solid"/>
          </a:ln>
        </p:spPr>
      </p:sp>
      <p:sp>
        <p:nvSpPr>
          <p:cNvPr id="9" name="creative-cover-pink-title">
            <a:extLst xmlns:a="http://schemas.openxmlformats.org/drawingml/2006/main">
              <a:ext uri="{FF2B5EF4-FFF2-40B4-BE49-F238E27FC236}">
                <a16:creationId xmlns:a16="http://schemas.microsoft.com/office/drawing/2014/main" id="{934258EA-9FB2-4067-9A12-676648B5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38175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0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01</a:t>
            </a:r>
          </a:p>
        </p:txBody>
      </p:sp>
      <p:sp>
        <p:nvSpPr>
          <p:cNvPr id="10" name="creative-cover-pink-body">
            <a:extLst xmlns:a="http://schemas.openxmlformats.org/drawingml/2006/main">
              <a:ext uri="{FF2B5EF4-FFF2-40B4-BE49-F238E27FC236}">
                <a16:creationId xmlns:a16="http://schemas.microsoft.com/office/drawing/2014/main" id="{AD4E6125-512B-41C9-BB06-276BCA98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526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0F0F0F"/>
                </a:solidFill>
                <a:latin typeface="Space Grotesk Text"/>
                <a:ea typeface="Space Grotesk Text"/>
                <a:cs typeface="Space Grotesk Text"/>
              </a:defRPr>
            </a:pPr>
            <a:r>
              <a:rPr sz="1500" b="0" i="0">
                <a:solidFill>
                  <a:srgbClr val="0F0F0F"/>
                </a:solidFill>
                <a:latin typeface="Space Grotesk Text"/>
                <a:ea typeface="Space Grotesk Text"/>
                <a:cs typeface="Space Grotesk Text"/>
              </a:rPr>
              <a:t/>
            </a:r>
          </a:p>
        </p:txBody>
      </p:sp>
      <p:sp>
        <p:nvSpPr>
          <p:cNvPr id="11" name="creative-cover-yellow-shadow">
            <a:extLst xmlns:a="http://schemas.openxmlformats.org/drawingml/2006/main">
              <a:ext uri="{FF2B5EF4-FFF2-40B4-BE49-F238E27FC236}">
                <a16:creationId xmlns:a16="http://schemas.microsoft.com/office/drawing/2014/main" id="{472B17AB-89CE-40BE-B1E4-C7DA7ACC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52800"/>
            <a:ext cx="36576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creative-cover-yellow-surface">
            <a:extLst xmlns:a="http://schemas.openxmlformats.org/drawingml/2006/main">
              <a:ext uri="{FF2B5EF4-FFF2-40B4-BE49-F238E27FC236}">
                <a16:creationId xmlns:a16="http://schemas.microsoft.com/office/drawing/2014/main" id="{F0BC273B-64B5-49B7-9548-CCAC1533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76600"/>
            <a:ext cx="36576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creative-cover-yellow-title">
            <a:extLst xmlns:a="http://schemas.openxmlformats.org/drawingml/2006/main">
              <a:ext uri="{FF2B5EF4-FFF2-40B4-BE49-F238E27FC236}">
                <a16:creationId xmlns:a16="http://schemas.microsoft.com/office/drawing/2014/main" id="{9FD54B7E-C4C9-424A-A559-393372E4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00450"/>
            <a:ext cx="312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defRPr>
            </a:pPr>
            <a:r>
              <a:rPr sz="3300" b="0" i="0">
                <a:solidFill>
                  <a:srgbClr val="0F0F0F"/>
                </a:solidFill>
                <a:latin typeface="Archivo Black Display"/>
                <a:ea typeface="Archivo Black Display"/>
                <a:cs typeface="Archivo Black Display"/>
              </a:rPr>
              <a:t/>
            </a:r>
          </a:p>
        </p:txBody>
      </p:sp>
      <p:sp>
        <p:nvSpPr>
          <p:cNvPr id="14" name="creative-cover-yellow-body">
            <a:extLst xmlns:a="http://schemas.openxmlformats.org/drawingml/2006/main">
              <a:ext uri="{FF2B5EF4-FFF2-40B4-BE49-F238E27FC236}">
                <a16:creationId xmlns:a16="http://schemas.microsoft.com/office/drawing/2014/main" id="{97C738ED-1109-40A5-A2CD-A5344390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577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0F0F0F"/>
                </a:solidFill>
                <a:latin typeface="Space Grotesk Text"/>
                <a:ea typeface="Space Grotesk Text"/>
                <a:cs typeface="Space Grotesk Text"/>
              </a:defRPr>
            </a:pPr>
            <a:r>
              <a:rPr sz="1500" b="0" i="0">
                <a:solidFill>
                  <a:srgbClr val="0F0F0F"/>
                </a:solidFill>
                <a:latin typeface="Space Grotesk Text"/>
                <a:ea typeface="Space Grotesk Text"/>
                <a:cs typeface="Space Grotesk Text"/>
              </a:rPr>
              <a:t/>
            </a:r>
          </a:p>
        </p:txBody>
      </p:sp>
      <p:sp>
        <p:nvSpPr>
          <p:cNvPr id="15" name="creative-cover-tag-surface">
            <a:extLst xmlns:a="http://schemas.openxmlformats.org/drawingml/2006/main">
              <a:ext uri="{FF2B5EF4-FFF2-40B4-BE49-F238E27FC236}">
                <a16:creationId xmlns:a16="http://schemas.microsoft.com/office/drawing/2014/main" id="{3E310420-95FD-47CF-966A-8EB8D70B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48300"/>
            <a:ext cx="11182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creative-cover-tag-text">
            <a:extLst xmlns:a="http://schemas.openxmlformats.org/drawingml/2006/main">
              <a:ext uri="{FF2B5EF4-FFF2-40B4-BE49-F238E27FC236}">
                <a16:creationId xmlns:a16="http://schemas.microsoft.com/office/drawing/2014/main" id="{3966F985-B42F-4A09-A26A-2D7077DE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72200"/>
            <a:ext cx="403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7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URBAN REWILDING · FIELD NOTES</a:t>
            </a:r>
          </a:p>
        </p:txBody>
      </p:sp>
    </p:spTree>
    <p:extLst>
      <p:ext uri="{BB962C8B-B14F-4D97-AF65-F5344CB8AC3E}">
        <p14:creationId xmlns:p14="http://schemas.microsoft.com/office/powerpoint/2010/main" val="15856756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FE7D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creative-label-3">
            <a:extLst xmlns:a="http://schemas.openxmlformats.org/drawingml/2006/main">
              <a:ext uri="{FF2B5EF4-FFF2-40B4-BE49-F238E27FC236}">
                <a16:creationId xmlns:a16="http://schemas.microsoft.com/office/drawing/2014/main" id="{4B817169-D967-41CD-9212-F876D734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482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90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rPr>
              <a:t>FIVE TOPICS · ONE LIVING BLOCK</a:t>
            </a:r>
          </a:p>
        </p:txBody>
      </p:sp>
      <p:sp>
        <p:nvSpPr>
          <p:cNvPr id="2" name="creative-page-3">
            <a:extLst xmlns:a="http://schemas.openxmlformats.org/drawingml/2006/main">
              <a:ext uri="{FF2B5EF4-FFF2-40B4-BE49-F238E27FC236}">
                <a16:creationId xmlns:a16="http://schemas.microsoft.com/office/drawing/2014/main" id="{C1D8C61C-3706-4A38-A457-49515A17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675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rPr>
              <a:t>02 / 08</a:t>
            </a:r>
          </a:p>
        </p:txBody>
      </p:sp>
      <p:sp>
        <p:nvSpPr>
          <p:cNvPr id="3" name="creative-foot-3">
            <a:extLst xmlns:a="http://schemas.openxmlformats.org/drawingml/2006/main">
              <a:ext uri="{FF2B5EF4-FFF2-40B4-BE49-F238E27FC236}">
                <a16:creationId xmlns:a16="http://schemas.microsoft.com/office/drawing/2014/main" id="{50C6520A-D02D-44C6-9872-9E0207B5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675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rPr>
              <a:t>EDITORIAL FOREST · URBAN REWILDING</a:t>
            </a:r>
          </a:p>
        </p:txBody>
      </p:sp>
      <p:sp>
        <p:nvSpPr>
          <p:cNvPr id="4" name="creative-flow-title">
            <a:extLst xmlns:a="http://schemas.openxmlformats.org/drawingml/2006/main">
              <a:ext uri="{FF2B5EF4-FFF2-40B4-BE49-F238E27FC236}">
                <a16:creationId xmlns:a16="http://schemas.microsoft.com/office/drawing/2014/main" id="{5831EC22-2930-4636-A7E4-B0482FB9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200" b="0" i="0">
                <a:solidFill>
                  <a:srgbClr val="2E4A2A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4200" b="0" i="0">
                <a:solidFill>
                  <a:srgbClr val="2E4A2A"/>
                </a:solidFill>
                <a:latin typeface="Source Serif 4 Medium"/>
                <a:ea typeface="Source Serif 4 Medium"/>
                <a:cs typeface="Source Serif 4 Medium"/>
              </a:rPr>
              <a:t>Agenda.</a:t>
            </a:r>
          </a:p>
        </p:txBody>
      </p:sp>
      <p:sp>
        <p:nvSpPr>
          <p:cNvPr id="5" name="creative-flow-0-shadow">
            <a:extLst xmlns:a="http://schemas.openxmlformats.org/drawingml/2006/main">
              <a:ext uri="{FF2B5EF4-FFF2-40B4-BE49-F238E27FC236}">
                <a16:creationId xmlns:a16="http://schemas.microsoft.com/office/drawing/2014/main" id="{77FA8E60-A1E4-4869-BF3A-06D6C602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10000"/>
            <a:ext cx="3086100" cy="2428875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89CB1"/>
          </a:solidFill>
          <a:ln xmlns:a="http://schemas.openxmlformats.org/drawingml/2006/main" w="0">
            <a:solidFill>
              <a:srgbClr val="D27E96"/>
            </a:solidFill>
            <a:prstDash val="solid"/>
          </a:ln>
        </p:spPr>
      </p:sp>
      <p:sp>
        <p:nvSpPr>
          <p:cNvPr id="6" name="creative-flow-0-surface">
            <a:extLst xmlns:a="http://schemas.openxmlformats.org/drawingml/2006/main">
              <a:ext uri="{FF2B5EF4-FFF2-40B4-BE49-F238E27FC236}">
                <a16:creationId xmlns:a16="http://schemas.microsoft.com/office/drawing/2014/main" id="{A3B1ED28-9BAD-4695-9CAB-8EFBC359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4657725" cy="5019675"/>
          </a:xfrm>
          <a:prstGeom xmlns:a="http://schemas.openxmlformats.org/drawingml/2006/main" prst="roundRect">
            <a:avLst>
              <a:gd name="adj" fmla="val 1227"/>
            </a:avLst>
          </a:prstGeom>
          <a:solidFill xmlns:a="http://schemas.openxmlformats.org/drawingml/2006/main">
            <a:srgbClr val="2E4A2A"/>
          </a:solidFill>
          <a:ln xmlns:a="http://schemas.openxmlformats.org/drawingml/2006/main" w="0">
            <a:solidFill>
              <a:srgbClr val="2E4A2A"/>
            </a:solidFill>
            <a:prstDash val="solid"/>
          </a:ln>
        </p:spPr>
      </p:sp>
      <p:sp>
        <p:nvSpPr>
          <p:cNvPr id="7" name="creative-flow-num-0">
            <a:extLst xmlns:a="http://schemas.openxmlformats.org/drawingml/2006/main">
              <a:ext uri="{FF2B5EF4-FFF2-40B4-BE49-F238E27FC236}">
                <a16:creationId xmlns:a16="http://schemas.microsoft.com/office/drawing/2014/main" id="{18E25E17-4661-41D3-8BFB-04328AFF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41243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0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01</a:t>
            </a:r>
          </a:p>
        </p:txBody>
      </p:sp>
      <p:sp>
        <p:nvSpPr>
          <p:cNvPr id="8" name="creative-flow-title-0">
            <a:extLst xmlns:a="http://schemas.openxmlformats.org/drawingml/2006/main">
              <a:ext uri="{FF2B5EF4-FFF2-40B4-BE49-F238E27FC236}">
                <a16:creationId xmlns:a16="http://schemas.microsoft.com/office/drawing/2014/main" id="{93455254-6AFC-4E6D-8D28-CE6F0230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4124325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3150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rPr>
              <a:t>Where the city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150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3150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rPr>
              <a:t>loses connection.</a:t>
            </a:r>
          </a:p>
        </p:txBody>
      </p:sp>
      <p:sp>
        <p:nvSpPr>
          <p:cNvPr id="9" name="creative-flow-rule-0">
            <a:extLst xmlns:a="http://schemas.openxmlformats.org/drawingml/2006/main">
              <a:ext uri="{FF2B5EF4-FFF2-40B4-BE49-F238E27FC236}">
                <a16:creationId xmlns:a16="http://schemas.microsoft.com/office/drawing/2014/main" id="{4AE273E4-4AD7-45C3-B0C2-64903D3D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creative-flow-body-0">
            <a:extLst xmlns:a="http://schemas.openxmlformats.org/drawingml/2006/main">
              <a:ext uri="{FF2B5EF4-FFF2-40B4-BE49-F238E27FC236}">
                <a16:creationId xmlns:a16="http://schemas.microsoft.com/office/drawing/2014/main" id="{5DE1B4D2-54D3-434C-84B0-718EFF83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81675"/>
            <a:ext cx="4124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90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CONTEXT</a:t>
            </a:r>
          </a:p>
        </p:txBody>
      </p:sp>
      <p:sp>
        <p:nvSpPr>
          <p:cNvPr id="11" name="creative-flow-1-shadow">
            <a:extLst xmlns:a="http://schemas.openxmlformats.org/drawingml/2006/main">
              <a:ext uri="{FF2B5EF4-FFF2-40B4-BE49-F238E27FC236}">
                <a16:creationId xmlns:a16="http://schemas.microsoft.com/office/drawing/2014/main" id="{27B2F275-D746-43E0-BE2E-1BACDE48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67175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050" b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rPr>
              <a:t>05</a:t>
            </a:r>
          </a:p>
        </p:txBody>
      </p:sp>
      <p:sp>
        <p:nvSpPr>
          <p:cNvPr id="12" name="creative-flow-1-surface">
            <a:extLst xmlns:a="http://schemas.openxmlformats.org/drawingml/2006/main">
              <a:ext uri="{FF2B5EF4-FFF2-40B4-BE49-F238E27FC236}">
                <a16:creationId xmlns:a16="http://schemas.microsoft.com/office/drawing/2014/main" id="{34368FBA-6BC7-45B6-9B7F-713C940F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219200"/>
            <a:ext cx="3114675" cy="2428875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89CB1"/>
          </a:solidFill>
          <a:ln xmlns:a="http://schemas.openxmlformats.org/drawingml/2006/main" w="0">
            <a:solidFill>
              <a:srgbClr val="D27E96"/>
            </a:solidFill>
            <a:prstDash val="solid"/>
          </a:ln>
        </p:spPr>
      </p:sp>
      <p:sp>
        <p:nvSpPr>
          <p:cNvPr id="13" name="creative-flow-num-1">
            <a:extLst xmlns:a="http://schemas.openxmlformats.org/drawingml/2006/main">
              <a:ext uri="{FF2B5EF4-FFF2-40B4-BE49-F238E27FC236}">
                <a16:creationId xmlns:a16="http://schemas.microsoft.com/office/drawing/2014/main" id="{6612D7DD-9647-4DEE-B18B-13A4F83C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476375"/>
            <a:ext cx="2581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0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rPr>
              <a:t>02</a:t>
            </a:r>
          </a:p>
        </p:txBody>
      </p:sp>
      <p:sp>
        <p:nvSpPr>
          <p:cNvPr id="14" name="creative-flow-title-1">
            <a:extLst xmlns:a="http://schemas.openxmlformats.org/drawingml/2006/main">
              <a:ext uri="{FF2B5EF4-FFF2-40B4-BE49-F238E27FC236}">
                <a16:creationId xmlns:a16="http://schemas.microsoft.com/office/drawing/2014/main" id="{C38027CF-4D9A-49E6-99D1-C50E4C84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962150"/>
            <a:ext cx="25812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2250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rPr>
              <a:t>Four connected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250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2250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rPr>
              <a:t>systems.</a:t>
            </a:r>
          </a:p>
        </p:txBody>
      </p:sp>
      <p:sp>
        <p:nvSpPr>
          <p:cNvPr id="15" name="creative-flow-rule-1">
            <a:extLst xmlns:a="http://schemas.openxmlformats.org/drawingml/2006/main">
              <a:ext uri="{FF2B5EF4-FFF2-40B4-BE49-F238E27FC236}">
                <a16:creationId xmlns:a16="http://schemas.microsoft.com/office/drawing/2014/main" id="{3D2BBC1D-CA4E-45C8-BFDF-BEDD89EC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287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creative-flow-body-1">
            <a:extLst xmlns:a="http://schemas.openxmlformats.org/drawingml/2006/main">
              <a:ext uri="{FF2B5EF4-FFF2-40B4-BE49-F238E27FC236}">
                <a16:creationId xmlns:a16="http://schemas.microsoft.com/office/drawing/2014/main" id="{5C8E0BE6-A48E-44D2-AE3D-F2BFC32E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190875"/>
            <a:ext cx="2581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90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rPr>
              <a:t>FRAMEWORK</a:t>
            </a:r>
          </a:p>
        </p:txBody>
      </p:sp>
      <p:sp>
        <p:nvSpPr>
          <p:cNvPr id="17" name="creative-flow-2-shadow">
            <a:extLst xmlns:a="http://schemas.openxmlformats.org/drawingml/2006/main">
              <a:ext uri="{FF2B5EF4-FFF2-40B4-BE49-F238E27FC236}">
                <a16:creationId xmlns:a16="http://schemas.microsoft.com/office/drawing/2014/main" id="{5D1D7D2B-9553-4024-89C5-9AA66FC6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52950"/>
            <a:ext cx="2552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325" b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2325" b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rPr>
              <a:t>Block actions.</a:t>
            </a:r>
          </a:p>
        </p:txBody>
      </p:sp>
      <p:sp>
        <p:nvSpPr>
          <p:cNvPr id="18" name="creative-flow-2-surface">
            <a:extLst xmlns:a="http://schemas.openxmlformats.org/drawingml/2006/main">
              <a:ext uri="{FF2B5EF4-FFF2-40B4-BE49-F238E27FC236}">
                <a16:creationId xmlns:a16="http://schemas.microsoft.com/office/drawing/2014/main" id="{76F362DF-A877-4D8C-A284-8FD314B1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219200"/>
            <a:ext cx="3086100" cy="2428875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6DCC4"/>
          </a:solidFill>
          <a:ln xmlns:a="http://schemas.openxmlformats.org/drawingml/2006/main" w="19050">
            <a:solidFill>
              <a:srgbClr val="2E4A2A"/>
            </a:solidFill>
            <a:prstDash val="solid"/>
          </a:ln>
        </p:spPr>
      </p:sp>
      <p:sp>
        <p:nvSpPr>
          <p:cNvPr id="19" name="creative-flow-num-2">
            <a:extLst xmlns:a="http://schemas.openxmlformats.org/drawingml/2006/main">
              <a:ext uri="{FF2B5EF4-FFF2-40B4-BE49-F238E27FC236}">
                <a16:creationId xmlns:a16="http://schemas.microsoft.com/office/drawing/2014/main" id="{0079637A-8C8E-49B8-AA31-EC215022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476375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05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rPr>
              <a:t>03</a:t>
            </a:r>
          </a:p>
        </p:txBody>
      </p:sp>
      <p:sp>
        <p:nvSpPr>
          <p:cNvPr id="20" name="creative-flow-title-2">
            <a:extLst xmlns:a="http://schemas.openxmlformats.org/drawingml/2006/main">
              <a:ext uri="{FF2B5EF4-FFF2-40B4-BE49-F238E27FC236}">
                <a16:creationId xmlns:a16="http://schemas.microsoft.com/office/drawing/2014/main" id="{43298049-497E-4B83-A21C-B585E30B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62150"/>
            <a:ext cx="2552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325" b="0" i="0">
                <a:solidFill>
                  <a:srgbClr val="2E4A2A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2325" b="0" i="0">
                <a:solidFill>
                  <a:srgbClr val="2E4A2A"/>
                </a:solidFill>
                <a:latin typeface="Source Serif 4 Medium"/>
                <a:ea typeface="Source Serif 4 Medium"/>
                <a:cs typeface="Source Serif 4 Medium"/>
              </a:rPr>
              <a:t>By the numbers.</a:t>
            </a:r>
          </a:p>
        </p:txBody>
      </p:sp>
      <p:sp>
        <p:nvSpPr>
          <p:cNvPr id="21" name="creative-flow-rule-2">
            <a:extLst xmlns:a="http://schemas.openxmlformats.org/drawingml/2006/main">
              <a:ext uri="{FF2B5EF4-FFF2-40B4-BE49-F238E27FC236}">
                <a16:creationId xmlns:a16="http://schemas.microsoft.com/office/drawing/2014/main" id="{BAEC1610-96FE-4330-9035-92D3ECEA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creative-flow-body-2">
            <a:extLst xmlns:a="http://schemas.openxmlformats.org/drawingml/2006/main">
              <a:ext uri="{FF2B5EF4-FFF2-40B4-BE49-F238E27FC236}">
                <a16:creationId xmlns:a16="http://schemas.microsoft.com/office/drawing/2014/main" id="{01726430-5556-4389-A227-E5732600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90875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90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rPr>
              <a:t>TARGETS</a:t>
            </a:r>
          </a:p>
        </p:txBody>
      </p:sp>
      <p:sp>
        <p:nvSpPr>
          <p:cNvPr id="23" name="creative-flow-3-shadow">
            <a:extLst xmlns:a="http://schemas.openxmlformats.org/drawingml/2006/main">
              <a:ext uri="{FF2B5EF4-FFF2-40B4-BE49-F238E27FC236}">
                <a16:creationId xmlns:a16="http://schemas.microsoft.com/office/drawing/2014/main" id="{B4EBDEE1-CC51-43CA-860F-1AE41E7B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781675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900" b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rPr>
              <a:t>OUTCOMES</a:t>
            </a:r>
          </a:p>
        </p:txBody>
      </p:sp>
      <p:sp>
        <p:nvSpPr>
          <p:cNvPr id="24" name="creative-flow-3-surface">
            <a:extLst xmlns:a="http://schemas.openxmlformats.org/drawingml/2006/main">
              <a:ext uri="{FF2B5EF4-FFF2-40B4-BE49-F238E27FC236}">
                <a16:creationId xmlns:a16="http://schemas.microsoft.com/office/drawing/2014/main" id="{69D60935-54B4-412A-BB5A-0EE84F60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10000"/>
            <a:ext cx="3114675" cy="2428875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3A5A36"/>
          </a:solidFill>
          <a:ln xmlns:a="http://schemas.openxmlformats.org/drawingml/2006/main" w="0">
            <a:solidFill>
              <a:srgbClr val="3A5A36"/>
            </a:solidFill>
            <a:prstDash val="solid"/>
          </a:ln>
        </p:spPr>
      </p:sp>
      <p:sp>
        <p:nvSpPr>
          <p:cNvPr id="25" name="creative-flow-num-3">
            <a:extLst xmlns:a="http://schemas.openxmlformats.org/drawingml/2006/main">
              <a:ext uri="{FF2B5EF4-FFF2-40B4-BE49-F238E27FC236}">
                <a16:creationId xmlns:a16="http://schemas.microsoft.com/office/drawing/2014/main" id="{CD865E92-F6F2-4051-A22B-CB5EC7CA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67175"/>
            <a:ext cx="2581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0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04</a:t>
            </a:r>
          </a:p>
        </p:txBody>
      </p:sp>
      <p:sp>
        <p:nvSpPr>
          <p:cNvPr id="26" name="creative-flow-title-3">
            <a:extLst xmlns:a="http://schemas.openxmlformats.org/drawingml/2006/main">
              <a:ext uri="{FF2B5EF4-FFF2-40B4-BE49-F238E27FC236}">
                <a16:creationId xmlns:a16="http://schemas.microsoft.com/office/drawing/2014/main" id="{8D18E3F0-163A-43D2-A5E7-0A42A8A8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52950"/>
            <a:ext cx="25812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325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2325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rPr>
              <a:t>Cooling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325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2325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rPr>
              <a:t>pathways.</a:t>
            </a:r>
          </a:p>
        </p:txBody>
      </p:sp>
      <p:sp>
        <p:nvSpPr>
          <p:cNvPr id="27" name="creative-flow-rule-3">
            <a:extLst xmlns:a="http://schemas.openxmlformats.org/drawingml/2006/main">
              <a:ext uri="{FF2B5EF4-FFF2-40B4-BE49-F238E27FC236}">
                <a16:creationId xmlns:a16="http://schemas.microsoft.com/office/drawing/2014/main" id="{32AE490C-5B22-4079-8FA7-1D07717D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247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creative-flow-body-3">
            <a:extLst xmlns:a="http://schemas.openxmlformats.org/drawingml/2006/main">
              <a:ext uri="{FF2B5EF4-FFF2-40B4-BE49-F238E27FC236}">
                <a16:creationId xmlns:a16="http://schemas.microsoft.com/office/drawing/2014/main" id="{D5058985-CA5E-489F-81F8-03624740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81675"/>
            <a:ext cx="2581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90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EVIDENCE</a:t>
            </a:r>
          </a:p>
        </p:txBody>
      </p:sp>
    </p:spTree>
    <p:extLst>
      <p:ext uri="{BB962C8B-B14F-4D97-AF65-F5344CB8AC3E}">
        <p14:creationId xmlns:p14="http://schemas.microsoft.com/office/powerpoint/2010/main" val="9601636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89CB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reative-label-1">
            <a:extLst xmlns:a="http://schemas.openxmlformats.org/drawingml/2006/main">
              <a:ext uri="{FF2B5EF4-FFF2-40B4-BE49-F238E27FC236}">
                <a16:creationId xmlns:a16="http://schemas.microsoft.com/office/drawing/2014/main" id="{9EF381E9-B4DA-4B81-9A64-821DCF73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90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rPr>
              <a:t>THE CITY AFTER ASPHALT / THE PREMISE</a:t>
            </a:r>
          </a:p>
        </p:txBody>
      </p:sp>
      <p:sp>
        <p:nvSpPr>
          <p:cNvPr id="2" name="creative-page-1">
            <a:extLst xmlns:a="http://schemas.openxmlformats.org/drawingml/2006/main">
              <a:ext uri="{FF2B5EF4-FFF2-40B4-BE49-F238E27FC236}">
                <a16:creationId xmlns:a16="http://schemas.microsoft.com/office/drawing/2014/main" id="{BE804F64-26B7-42C5-B0D3-242A1E97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810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90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rPr>
              <a:t>03 / 08</a:t>
            </a:r>
          </a:p>
        </p:txBody>
      </p:sp>
      <p:sp>
        <p:nvSpPr>
          <p:cNvPr id="3" name="creative-foot-1">
            <a:extLst xmlns:a="http://schemas.openxmlformats.org/drawingml/2006/main">
              <a:ext uri="{FF2B5EF4-FFF2-40B4-BE49-F238E27FC236}">
                <a16:creationId xmlns:a16="http://schemas.microsoft.com/office/drawing/2014/main" id="{2513671A-A391-4C8C-8209-40C0130C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91250"/>
            <a:ext cx="411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7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rPr>
              <a:t>URBAN REWILDING · 2026</a:t>
            </a:r>
          </a:p>
        </p:txBody>
      </p:sp>
      <p:sp>
        <p:nvSpPr>
          <p:cNvPr id="4" name="creative-cover-green-shadow">
            <a:extLst xmlns:a="http://schemas.openxmlformats.org/drawingml/2006/main">
              <a:ext uri="{FF2B5EF4-FFF2-40B4-BE49-F238E27FC236}">
                <a16:creationId xmlns:a16="http://schemas.microsoft.com/office/drawing/2014/main" id="{ED3CC879-F000-497E-8E01-D6CA543A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7200900" cy="417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creative-cover-green-surface">
            <a:extLst xmlns:a="http://schemas.openxmlformats.org/drawingml/2006/main">
              <a:ext uri="{FF2B5EF4-FFF2-40B4-BE49-F238E27FC236}">
                <a16:creationId xmlns:a16="http://schemas.microsoft.com/office/drawing/2014/main" id="{713D9A15-9294-46CE-9236-8CE9FFD1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52500"/>
            <a:ext cx="7200900" cy="417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creative-cover-title">
            <a:extLst xmlns:a="http://schemas.openxmlformats.org/drawingml/2006/main">
              <a:ext uri="{FF2B5EF4-FFF2-40B4-BE49-F238E27FC236}">
                <a16:creationId xmlns:a16="http://schemas.microsoft.com/office/drawing/2014/main" id="{C76DB5AA-CE2C-4D33-8E89-6EBD11A8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105156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6600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6600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rPr>
              <a:t>Green isn't a system.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6600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6600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rPr>
              <a:t>Connection is.</a:t>
            </a:r>
          </a:p>
        </p:txBody>
      </p:sp>
      <p:sp>
        <p:nvSpPr>
          <p:cNvPr id="7" name="creative-cover-pink-shadow">
            <a:extLst xmlns:a="http://schemas.openxmlformats.org/drawingml/2006/main">
              <a:ext uri="{FF2B5EF4-FFF2-40B4-BE49-F238E27FC236}">
                <a16:creationId xmlns:a16="http://schemas.microsoft.com/office/drawing/2014/main" id="{B8D11C4E-8260-4942-BADC-F3C6D102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28700"/>
            <a:ext cx="36576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creative-cover-pink-surface">
            <a:extLst xmlns:a="http://schemas.openxmlformats.org/drawingml/2006/main">
              <a:ext uri="{FF2B5EF4-FFF2-40B4-BE49-F238E27FC236}">
                <a16:creationId xmlns:a16="http://schemas.microsoft.com/office/drawing/2014/main" id="{ABDF7C90-3D59-41DF-A5DE-6941992B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952500"/>
            <a:ext cx="36576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creative-cover-pink-title">
            <a:extLst xmlns:a="http://schemas.openxmlformats.org/drawingml/2006/main">
              <a:ext uri="{FF2B5EF4-FFF2-40B4-BE49-F238E27FC236}">
                <a16:creationId xmlns:a16="http://schemas.microsoft.com/office/drawing/2014/main" id="{934258EA-9FB2-4067-9A12-676648B5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975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rPr>
              <a:t>SHADE</a:t>
            </a:r>
          </a:p>
        </p:txBody>
      </p:sp>
      <p:sp>
        <p:nvSpPr>
          <p:cNvPr id="10" name="creative-cover-pink-body">
            <a:extLst xmlns:a="http://schemas.openxmlformats.org/drawingml/2006/main">
              <a:ext uri="{FF2B5EF4-FFF2-40B4-BE49-F238E27FC236}">
                <a16:creationId xmlns:a16="http://schemas.microsoft.com/office/drawing/2014/main" id="{AD4E6125-512B-41C9-BB06-276BCA98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243A2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875" b="0" i="0">
                <a:solidFill>
                  <a:srgbClr val="243A21"/>
                </a:solidFill>
                <a:latin typeface="Source Serif 4"/>
                <a:ea typeface="Source Serif 4"/>
                <a:cs typeface="Source Serif 4"/>
              </a:rPr>
              <a:t>Cool the walking loop.</a:t>
            </a:r>
          </a:p>
        </p:txBody>
      </p:sp>
      <p:sp>
        <p:nvSpPr>
          <p:cNvPr id="11" name="creative-cover-yellow-shadow">
            <a:extLst xmlns:a="http://schemas.openxmlformats.org/drawingml/2006/main">
              <a:ext uri="{FF2B5EF4-FFF2-40B4-BE49-F238E27FC236}">
                <a16:creationId xmlns:a16="http://schemas.microsoft.com/office/drawing/2014/main" id="{472B17AB-89CE-40BE-B1E4-C7DA7ACC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52800"/>
            <a:ext cx="36576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creative-cover-yellow-surface">
            <a:extLst xmlns:a="http://schemas.openxmlformats.org/drawingml/2006/main">
              <a:ext uri="{FF2B5EF4-FFF2-40B4-BE49-F238E27FC236}">
                <a16:creationId xmlns:a16="http://schemas.microsoft.com/office/drawing/2014/main" id="{F0BC273B-64B5-49B7-9548-CCAC1533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76600"/>
            <a:ext cx="36576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creative-cover-yellow-title">
            <a:extLst xmlns:a="http://schemas.openxmlformats.org/drawingml/2006/main">
              <a:ext uri="{FF2B5EF4-FFF2-40B4-BE49-F238E27FC236}">
                <a16:creationId xmlns:a16="http://schemas.microsoft.com/office/drawing/2014/main" id="{9FD54B7E-C4C9-424A-A559-393372E4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86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975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rPr>
              <a:t>WATER + SOIL</a:t>
            </a:r>
          </a:p>
        </p:txBody>
      </p:sp>
      <p:sp>
        <p:nvSpPr>
          <p:cNvPr id="14" name="creative-cover-yellow-body">
            <a:extLst xmlns:a="http://schemas.openxmlformats.org/drawingml/2006/main">
              <a:ext uri="{FF2B5EF4-FFF2-40B4-BE49-F238E27FC236}">
                <a16:creationId xmlns:a16="http://schemas.microsoft.com/office/drawing/2014/main" id="{97C738ED-1109-40A5-A2CD-A5344390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673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243A2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875" b="0" i="0">
                <a:solidFill>
                  <a:srgbClr val="243A21"/>
                </a:solidFill>
                <a:latin typeface="Source Serif 4"/>
                <a:ea typeface="Source Serif 4"/>
                <a:cs typeface="Source Serif 4"/>
              </a:rPr>
              <a:t>Let the block hold rain.</a:t>
            </a:r>
          </a:p>
        </p:txBody>
      </p:sp>
      <p:sp>
        <p:nvSpPr>
          <p:cNvPr id="15" name="creative-cover-tag-surface">
            <a:extLst xmlns:a="http://schemas.openxmlformats.org/drawingml/2006/main">
              <a:ext uri="{FF2B5EF4-FFF2-40B4-BE49-F238E27FC236}">
                <a16:creationId xmlns:a16="http://schemas.microsoft.com/office/drawing/2014/main" id="{3E310420-95FD-47CF-966A-8EB8D70B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A21"/>
          </a:solidFill>
          <a:ln xmlns:a="http://schemas.openxmlformats.org/drawingml/2006/main" w="0">
            <a:solidFill>
              <a:srgbClr val="243A21"/>
            </a:solidFill>
            <a:prstDash val="solid"/>
          </a:ln>
        </p:spPr>
      </p:sp>
      <p:sp>
        <p:nvSpPr>
          <p:cNvPr id="16" name="creative-cover-tag-text">
            <a:extLst xmlns:a="http://schemas.openxmlformats.org/drawingml/2006/main">
              <a:ext uri="{FF2B5EF4-FFF2-40B4-BE49-F238E27FC236}">
                <a16:creationId xmlns:a16="http://schemas.microsoft.com/office/drawing/2014/main" id="{3966F985-B42F-4A09-A26A-2D7077DE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912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75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rPr>
              <a:t>CONNECTION IS THE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15856756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FE7D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creative-label-2">
            <a:extLst xmlns:a="http://schemas.openxmlformats.org/drawingml/2006/main">
              <a:ext uri="{FF2B5EF4-FFF2-40B4-BE49-F238E27FC236}">
                <a16:creationId xmlns:a16="http://schemas.microsoft.com/office/drawing/2014/main" id="{3FD49851-7B76-4589-B59A-3E52BB22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90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rPr>
              <a:t>THE CITY AFTER ASPHALT / ILLUSTRATIVE TARGETS</a:t>
            </a:r>
          </a:p>
        </p:txBody>
      </p:sp>
      <p:sp>
        <p:nvSpPr>
          <p:cNvPr id="2" name="creative-page-2">
            <a:extLst xmlns:a="http://schemas.openxmlformats.org/drawingml/2006/main">
              <a:ext uri="{FF2B5EF4-FFF2-40B4-BE49-F238E27FC236}">
                <a16:creationId xmlns:a16="http://schemas.microsoft.com/office/drawing/2014/main" id="{53BFE57D-B93A-48BB-AD32-7C4D177D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29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90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rPr>
              <a:t>04 / 08</a:t>
            </a:r>
          </a:p>
        </p:txBody>
      </p:sp>
      <p:sp>
        <p:nvSpPr>
          <p:cNvPr id="3" name="creative-foot-2">
            <a:extLst xmlns:a="http://schemas.openxmlformats.org/drawingml/2006/main">
              <a:ext uri="{FF2B5EF4-FFF2-40B4-BE49-F238E27FC236}">
                <a16:creationId xmlns:a16="http://schemas.microsoft.com/office/drawing/2014/main" id="{2B8F1513-DD38-4B7D-9943-A923ED78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675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rPr>
              <a:t>ILLUSTRATIVE MODEL · VALUES ARE SCENARIOS · NOT A FORECAST</a:t>
            </a:r>
          </a:p>
        </p:txBody>
      </p:sp>
      <p:sp>
        <p:nvSpPr>
          <p:cNvPr id="4" name="creative-stats-title">
            <a:extLst xmlns:a="http://schemas.openxmlformats.org/drawingml/2006/main">
              <a:ext uri="{FF2B5EF4-FFF2-40B4-BE49-F238E27FC236}">
                <a16:creationId xmlns:a16="http://schemas.microsoft.com/office/drawing/2014/main" id="{C5783986-6949-4B28-A97E-3237EF2A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050" b="0" i="0">
                <a:solidFill>
                  <a:srgbClr val="2E4A2A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4050" b="0" i="0">
                <a:solidFill>
                  <a:srgbClr val="2E4A2A"/>
                </a:solidFill>
                <a:latin typeface="Source Serif 4 Medium"/>
                <a:ea typeface="Source Serif 4 Medium"/>
                <a:cs typeface="Source Serif 4 Medium"/>
              </a:rPr>
              <a:t>Small targets.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050" b="0" i="0">
                <a:solidFill>
                  <a:srgbClr val="2E4A2A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4050" b="0" i="0">
                <a:solidFill>
                  <a:srgbClr val="2E4A2A"/>
                </a:solidFill>
                <a:latin typeface="Source Serif 4 Medium"/>
                <a:ea typeface="Source Serif 4 Medium"/>
                <a:cs typeface="Source Serif 4 Medium"/>
              </a:rPr>
              <a:t>Living results.</a:t>
            </a:r>
          </a:p>
        </p:txBody>
      </p:sp>
      <p:sp>
        <p:nvSpPr>
          <p:cNvPr id="5" name="creative-stat-0-shadow">
            <a:extLst xmlns:a="http://schemas.openxmlformats.org/drawingml/2006/main">
              <a:ext uri="{FF2B5EF4-FFF2-40B4-BE49-F238E27FC236}">
                <a16:creationId xmlns:a16="http://schemas.microsoft.com/office/drawing/2014/main" id="{1D58A8AB-1D48-4E13-AAFF-9768DC9F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43200"/>
            <a:ext cx="25527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4"/>
          </a:solidFill>
          <a:ln xmlns:a="http://schemas.openxmlformats.org/drawingml/2006/main" w="0">
            <a:solidFill>
              <a:srgbClr val="EFE7D4"/>
            </a:solidFill>
            <a:prstDash val="solid"/>
          </a:ln>
        </p:spPr>
      </p:sp>
      <p:sp>
        <p:nvSpPr>
          <p:cNvPr id="6" name="creative-stat-0-surface">
            <a:extLst xmlns:a="http://schemas.openxmlformats.org/drawingml/2006/main">
              <a:ext uri="{FF2B5EF4-FFF2-40B4-BE49-F238E27FC236}">
                <a16:creationId xmlns:a16="http://schemas.microsoft.com/office/drawing/2014/main" id="{27CB87D2-EDFB-4BC1-890C-22CE4F13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0"/>
            <a:ext cx="25527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2A"/>
          </a:solidFill>
          <a:ln xmlns:a="http://schemas.openxmlformats.org/drawingml/2006/main" w="0">
            <a:solidFill>
              <a:srgbClr val="2E4A2A"/>
            </a:solidFill>
            <a:prstDash val="solid"/>
          </a:ln>
        </p:spPr>
      </p:sp>
      <p:sp>
        <p:nvSpPr>
          <p:cNvPr id="7" name="creative-stat-value-0">
            <a:extLst xmlns:a="http://schemas.openxmlformats.org/drawingml/2006/main">
              <a:ext uri="{FF2B5EF4-FFF2-40B4-BE49-F238E27FC236}">
                <a16:creationId xmlns:a16="http://schemas.microsoft.com/office/drawing/2014/main" id="{3BDFCCA7-8C47-459E-A033-217608FC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4350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rPr>
              <a:t>42%</a:t>
            </a:r>
          </a:p>
        </p:txBody>
      </p:sp>
      <p:sp>
        <p:nvSpPr>
          <p:cNvPr id="8" name="creative-stat-rule-0">
            <a:extLst xmlns:a="http://schemas.openxmlformats.org/drawingml/2006/main">
              <a:ext uri="{FF2B5EF4-FFF2-40B4-BE49-F238E27FC236}">
                <a16:creationId xmlns:a16="http://schemas.microsoft.com/office/drawing/2014/main" id="{F7E8A334-D0EA-44F9-8F0D-196D19EC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9CB1"/>
          </a:solidFill>
          <a:ln xmlns:a="http://schemas.openxmlformats.org/drawingml/2006/main" w="0">
            <a:solidFill>
              <a:srgbClr val="E89CB1"/>
            </a:solidFill>
            <a:prstDash val="solid"/>
          </a:ln>
        </p:spPr>
      </p:sp>
      <p:sp>
        <p:nvSpPr>
          <p:cNvPr id="9" name="creative-stat-label-0">
            <a:extLst xmlns:a="http://schemas.openxmlformats.org/drawingml/2006/main">
              <a:ext uri="{FF2B5EF4-FFF2-40B4-BE49-F238E27FC236}">
                <a16:creationId xmlns:a16="http://schemas.microsoft.com/office/drawing/2014/main" id="{7136A906-8587-4C36-A142-CECB21D2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975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CANOPY TARGET</a:t>
            </a:r>
          </a:p>
        </p:txBody>
      </p:sp>
      <p:sp>
        <p:nvSpPr>
          <p:cNvPr id="10" name="creative-stat-1-shadow">
            <a:extLst xmlns:a="http://schemas.openxmlformats.org/drawingml/2006/main">
              <a:ext uri="{FF2B5EF4-FFF2-40B4-BE49-F238E27FC236}">
                <a16:creationId xmlns:a16="http://schemas.microsoft.com/office/drawing/2014/main" id="{270A59DA-8FF0-43DF-B25C-EF3DD3AC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43200"/>
            <a:ext cx="25527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4"/>
          </a:solidFill>
          <a:ln xmlns:a="http://schemas.openxmlformats.org/drawingml/2006/main" w="0">
            <a:solidFill>
              <a:srgbClr val="EFE7D4"/>
            </a:solidFill>
            <a:prstDash val="solid"/>
          </a:ln>
        </p:spPr>
      </p:sp>
      <p:sp>
        <p:nvSpPr>
          <p:cNvPr id="11" name="creative-stat-1-surface">
            <a:extLst xmlns:a="http://schemas.openxmlformats.org/drawingml/2006/main">
              <a:ext uri="{FF2B5EF4-FFF2-40B4-BE49-F238E27FC236}">
                <a16:creationId xmlns:a16="http://schemas.microsoft.com/office/drawing/2014/main" id="{DC3E9763-E287-49D5-8A75-EF6C90BD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67000"/>
            <a:ext cx="25527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9CB1"/>
          </a:solidFill>
          <a:ln xmlns:a="http://schemas.openxmlformats.org/drawingml/2006/main" w="0">
            <a:solidFill>
              <a:srgbClr val="E89CB1"/>
            </a:solidFill>
            <a:prstDash val="solid"/>
          </a:ln>
        </p:spPr>
      </p:sp>
      <p:sp>
        <p:nvSpPr>
          <p:cNvPr id="12" name="creative-stat-value-1">
            <a:extLst xmlns:a="http://schemas.openxmlformats.org/drawingml/2006/main">
              <a:ext uri="{FF2B5EF4-FFF2-40B4-BE49-F238E27FC236}">
                <a16:creationId xmlns:a16="http://schemas.microsoft.com/office/drawing/2014/main" id="{0BA0859B-C0F9-4DF5-9D48-C24F4410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2895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4350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rPr>
              <a:t>7m</a:t>
            </a:r>
          </a:p>
        </p:txBody>
      </p:sp>
      <p:sp>
        <p:nvSpPr>
          <p:cNvPr id="13" name="creative-stat-rule-1">
            <a:extLst xmlns:a="http://schemas.openxmlformats.org/drawingml/2006/main">
              <a:ext uri="{FF2B5EF4-FFF2-40B4-BE49-F238E27FC236}">
                <a16:creationId xmlns:a16="http://schemas.microsoft.com/office/drawing/2014/main" id="{6B26406D-3775-4EFC-B2AD-92298E21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672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A21"/>
          </a:solidFill>
          <a:ln xmlns:a="http://schemas.openxmlformats.org/drawingml/2006/main" w="0">
            <a:solidFill>
              <a:srgbClr val="243A21"/>
            </a:solidFill>
            <a:prstDash val="solid"/>
          </a:ln>
        </p:spPr>
      </p:sp>
      <p:sp>
        <p:nvSpPr>
          <p:cNvPr id="14" name="creative-stat-label-1">
            <a:extLst xmlns:a="http://schemas.openxmlformats.org/drawingml/2006/main">
              <a:ext uri="{FF2B5EF4-FFF2-40B4-BE49-F238E27FC236}">
                <a16:creationId xmlns:a16="http://schemas.microsoft.com/office/drawing/2014/main" id="{2DAEDBDD-FD64-4015-935E-0EB998BC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148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975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rPr>
              <a:t>TO HABITAT</a:t>
            </a:r>
          </a:p>
        </p:txBody>
      </p:sp>
      <p:sp>
        <p:nvSpPr>
          <p:cNvPr id="15" name="creative-stat-2-shadow">
            <a:extLst xmlns:a="http://schemas.openxmlformats.org/drawingml/2006/main">
              <a:ext uri="{FF2B5EF4-FFF2-40B4-BE49-F238E27FC236}">
                <a16:creationId xmlns:a16="http://schemas.microsoft.com/office/drawing/2014/main" id="{A7995E98-F7BC-4B3B-8A88-EB626DF7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43200"/>
            <a:ext cx="25527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4"/>
          </a:solidFill>
          <a:ln xmlns:a="http://schemas.openxmlformats.org/drawingml/2006/main" w="0">
            <a:solidFill>
              <a:srgbClr val="EFE7D4"/>
            </a:solidFill>
            <a:prstDash val="solid"/>
          </a:ln>
        </p:spPr>
      </p:sp>
      <p:sp>
        <p:nvSpPr>
          <p:cNvPr id="16" name="creative-stat-2-surface">
            <a:extLst xmlns:a="http://schemas.openxmlformats.org/drawingml/2006/main">
              <a:ext uri="{FF2B5EF4-FFF2-40B4-BE49-F238E27FC236}">
                <a16:creationId xmlns:a16="http://schemas.microsoft.com/office/drawing/2014/main" id="{C6C5DCD1-3C7B-472B-9F1D-4510E5A7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25527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CC4"/>
          </a:solidFill>
          <a:ln xmlns:a="http://schemas.openxmlformats.org/drawingml/2006/main" w="19050">
            <a:solidFill>
              <a:srgbClr val="2E4A2A"/>
            </a:solidFill>
            <a:prstDash val="solid"/>
          </a:ln>
        </p:spPr>
      </p:sp>
      <p:sp>
        <p:nvSpPr>
          <p:cNvPr id="17" name="creative-stat-value-2">
            <a:extLst xmlns:a="http://schemas.openxmlformats.org/drawingml/2006/main">
              <a:ext uri="{FF2B5EF4-FFF2-40B4-BE49-F238E27FC236}">
                <a16:creationId xmlns:a16="http://schemas.microsoft.com/office/drawing/2014/main" id="{B3D617B4-9246-4004-B943-23442012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2895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0" i="0">
                <a:solidFill>
                  <a:srgbClr val="2E4A2A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4350" b="0" i="0">
                <a:solidFill>
                  <a:srgbClr val="2E4A2A"/>
                </a:solidFill>
                <a:latin typeface="Source Serif 4 Medium"/>
                <a:ea typeface="Source Serif 4 Medium"/>
                <a:cs typeface="Source Serif 4 Medium"/>
              </a:rPr>
              <a:t>18</a:t>
            </a:r>
          </a:p>
        </p:txBody>
      </p:sp>
      <p:sp>
        <p:nvSpPr>
          <p:cNvPr id="18" name="creative-stat-rule-2">
            <a:extLst xmlns:a="http://schemas.openxmlformats.org/drawingml/2006/main">
              <a:ext uri="{FF2B5EF4-FFF2-40B4-BE49-F238E27FC236}">
                <a16:creationId xmlns:a16="http://schemas.microsoft.com/office/drawing/2014/main" id="{F0853C39-83AB-4FAA-AB7C-A9F6EB31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672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7E96"/>
          </a:solidFill>
          <a:ln xmlns:a="http://schemas.openxmlformats.org/drawingml/2006/main" w="0">
            <a:solidFill>
              <a:srgbClr val="D27E96"/>
            </a:solidFill>
            <a:prstDash val="solid"/>
          </a:ln>
        </p:spPr>
      </p:sp>
      <p:sp>
        <p:nvSpPr>
          <p:cNvPr id="19" name="creative-stat-label-2">
            <a:extLst xmlns:a="http://schemas.openxmlformats.org/drawingml/2006/main">
              <a:ext uri="{FF2B5EF4-FFF2-40B4-BE49-F238E27FC236}">
                <a16:creationId xmlns:a16="http://schemas.microsoft.com/office/drawing/2014/main" id="{99C033E0-0095-4DFC-A9A5-A310BB41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D27E96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975" b="0" i="0">
                <a:solidFill>
                  <a:srgbClr val="D27E96"/>
                </a:solidFill>
                <a:latin typeface="JetBrains Mono Medium"/>
                <a:ea typeface="JetBrains Mono Medium"/>
                <a:cs typeface="JetBrains Mono Medium"/>
              </a:rPr>
              <a:t>SPECIES / BLOCK</a:t>
            </a:r>
          </a:p>
        </p:txBody>
      </p:sp>
      <p:sp>
        <p:nvSpPr>
          <p:cNvPr id="20" name="creative-stat-3-shadow">
            <a:extLst xmlns:a="http://schemas.openxmlformats.org/drawingml/2006/main">
              <a:ext uri="{FF2B5EF4-FFF2-40B4-BE49-F238E27FC236}">
                <a16:creationId xmlns:a16="http://schemas.microsoft.com/office/drawing/2014/main" id="{7AA4AC8E-A2F3-4039-BACF-E108CFA4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43200"/>
            <a:ext cx="25527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4"/>
          </a:solidFill>
          <a:ln xmlns:a="http://schemas.openxmlformats.org/drawingml/2006/main" w="0">
            <a:solidFill>
              <a:srgbClr val="EFE7D4"/>
            </a:solidFill>
            <a:prstDash val="solid"/>
          </a:ln>
        </p:spPr>
      </p:sp>
      <p:sp>
        <p:nvSpPr>
          <p:cNvPr id="21" name="creative-stat-3-surface">
            <a:extLst xmlns:a="http://schemas.openxmlformats.org/drawingml/2006/main">
              <a:ext uri="{FF2B5EF4-FFF2-40B4-BE49-F238E27FC236}">
                <a16:creationId xmlns:a16="http://schemas.microsoft.com/office/drawing/2014/main" id="{E76DF30C-9CBB-489B-AEEB-0D637312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67000"/>
            <a:ext cx="25527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A36"/>
          </a:solidFill>
          <a:ln xmlns:a="http://schemas.openxmlformats.org/drawingml/2006/main" w="0">
            <a:solidFill>
              <a:srgbClr val="3A5A36"/>
            </a:solidFill>
            <a:prstDash val="solid"/>
          </a:ln>
        </p:spPr>
      </p:sp>
      <p:sp>
        <p:nvSpPr>
          <p:cNvPr id="22" name="creative-stat-value-3">
            <a:extLst xmlns:a="http://schemas.openxmlformats.org/drawingml/2006/main">
              <a:ext uri="{FF2B5EF4-FFF2-40B4-BE49-F238E27FC236}">
                <a16:creationId xmlns:a16="http://schemas.microsoft.com/office/drawing/2014/main" id="{63C27993-E1B9-4E5F-8094-1F49BC49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2895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0" i="0">
                <a:solidFill>
                  <a:srgbClr val="EFE7D4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4350" b="0" i="0">
                <a:solidFill>
                  <a:srgbClr val="EFE7D4"/>
                </a:solidFill>
                <a:latin typeface="Source Serif 4 Medium"/>
                <a:ea typeface="Source Serif 4 Medium"/>
                <a:cs typeface="Source Serif 4 Medium"/>
              </a:rPr>
              <a:t>01</a:t>
            </a:r>
          </a:p>
        </p:txBody>
      </p:sp>
      <p:sp>
        <p:nvSpPr>
          <p:cNvPr id="23" name="creative-stat-rule-3">
            <a:extLst xmlns:a="http://schemas.openxmlformats.org/drawingml/2006/main">
              <a:ext uri="{FF2B5EF4-FFF2-40B4-BE49-F238E27FC236}">
                <a16:creationId xmlns:a16="http://schemas.microsoft.com/office/drawing/2014/main" id="{C5893953-460D-4F2A-9833-FA8EA883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672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9CB1"/>
          </a:solidFill>
          <a:ln xmlns:a="http://schemas.openxmlformats.org/drawingml/2006/main" w="0">
            <a:solidFill>
              <a:srgbClr val="E89CB1"/>
            </a:solidFill>
            <a:prstDash val="solid"/>
          </a:ln>
        </p:spPr>
      </p:sp>
      <p:sp>
        <p:nvSpPr>
          <p:cNvPr id="24" name="creative-stat-label-3">
            <a:extLst xmlns:a="http://schemas.openxmlformats.org/drawingml/2006/main">
              <a:ext uri="{FF2B5EF4-FFF2-40B4-BE49-F238E27FC236}">
                <a16:creationId xmlns:a16="http://schemas.microsoft.com/office/drawing/2014/main" id="{A6320735-48C8-4429-8D67-3904D385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148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975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LINKED LOOP</a:t>
            </a:r>
          </a:p>
        </p:txBody>
      </p:sp>
    </p:spTree>
    <p:extLst>
      <p:ext uri="{BB962C8B-B14F-4D97-AF65-F5344CB8AC3E}">
        <p14:creationId xmlns:p14="http://schemas.microsoft.com/office/powerpoint/2010/main" val="18398242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E4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reative-label-4">
            <a:extLst xmlns:a="http://schemas.openxmlformats.org/drawingml/2006/main">
              <a:ext uri="{FF2B5EF4-FFF2-40B4-BE49-F238E27FC236}">
                <a16:creationId xmlns:a16="http://schemas.microsoft.com/office/drawing/2014/main" id="{BDC6B005-9EAE-46CC-A9B2-80863C9F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90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THE CITY AFTER ASPHALT / COOLING PATHWAY</a:t>
            </a:r>
          </a:p>
        </p:txBody>
      </p:sp>
      <p:sp>
        <p:nvSpPr>
          <p:cNvPr id="2" name="creative-page-4">
            <a:extLst xmlns:a="http://schemas.openxmlformats.org/drawingml/2006/main">
              <a:ext uri="{FF2B5EF4-FFF2-40B4-BE49-F238E27FC236}">
                <a16:creationId xmlns:a16="http://schemas.microsoft.com/office/drawing/2014/main" id="{1BCD90FB-D5D4-4DF7-BF00-5540ABCE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29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90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05 / 08</a:t>
            </a:r>
          </a:p>
        </p:txBody>
      </p:sp>
      <p:sp>
        <p:nvSpPr>
          <p:cNvPr id="3" name="creative-foot-4">
            <a:extLst xmlns:a="http://schemas.openxmlformats.org/drawingml/2006/main">
              <a:ext uri="{FF2B5EF4-FFF2-40B4-BE49-F238E27FC236}">
                <a16:creationId xmlns:a16="http://schemas.microsoft.com/office/drawing/2014/main" id="{628CE1F6-C1ED-4483-AD20-165ED140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675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EDITORIAL FOREST · URBAN REWILDING · ILLUSTRATIVE</a:t>
            </a:r>
          </a:p>
        </p:txBody>
      </p:sp>
      <p:sp>
        <p:nvSpPr>
          <p:cNvPr id="4" name="creative-chart-title">
            <a:extLst xmlns:a="http://schemas.openxmlformats.org/drawingml/2006/main">
              <a:ext uri="{FF2B5EF4-FFF2-40B4-BE49-F238E27FC236}">
                <a16:creationId xmlns:a16="http://schemas.microsoft.com/office/drawing/2014/main" id="{53D341F0-EE31-4A75-B38C-45A3548F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6191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825" b="0" i="0">
                <a:solidFill>
                  <a:srgbClr val="EFE7D4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3825" b="0" i="0">
                <a:solidFill>
                  <a:srgbClr val="EFE7D4"/>
                </a:solidFill>
                <a:latin typeface="Source Serif 4 Medium"/>
                <a:ea typeface="Source Serif 4 Medium"/>
                <a:cs typeface="Source Serif 4 Medium"/>
              </a:rPr>
              <a:t>Heat falls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825" b="0" i="0">
                <a:solidFill>
                  <a:srgbClr val="EFE7D4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3825" b="0" i="0">
                <a:solidFill>
                  <a:srgbClr val="EFE7D4"/>
                </a:solidFill>
                <a:latin typeface="Source Serif 4 Medium"/>
                <a:ea typeface="Source Serif 4 Medium"/>
                <a:cs typeface="Source Serif 4 Medium"/>
              </a:rPr>
              <a:t>as canopy connects.</a:t>
            </a:r>
          </a:p>
        </p:txBody>
      </p:sp>
      <p:sp>
        <p:nvSpPr>
          <p:cNvPr id="5" name="creative-chart-card-shadow">
            <a:extLst xmlns:a="http://schemas.openxmlformats.org/drawingml/2006/main">
              <a:ext uri="{FF2B5EF4-FFF2-40B4-BE49-F238E27FC236}">
                <a16:creationId xmlns:a16="http://schemas.microsoft.com/office/drawing/2014/main" id="{BF31D3DC-D850-417E-A2B7-AB93F609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78486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2A"/>
          </a:solidFill>
          <a:ln xmlns:a="http://schemas.openxmlformats.org/drawingml/2006/main" w="0">
            <a:solidFill>
              <a:srgbClr val="2E4A2A"/>
            </a:solidFill>
            <a:prstDash val="solid"/>
          </a:ln>
        </p:spPr>
      </p:sp>
      <p:sp>
        <p:nvSpPr>
          <p:cNvPr id="6" name="creative-chart-card-surface">
            <a:extLst xmlns:a="http://schemas.openxmlformats.org/drawingml/2006/main">
              <a:ext uri="{FF2B5EF4-FFF2-40B4-BE49-F238E27FC236}">
                <a16:creationId xmlns:a16="http://schemas.microsoft.com/office/drawing/2014/main" id="{61577399-01B9-462A-A93B-2265D7F7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57450"/>
            <a:ext cx="78486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4"/>
          </a:solidFill>
          <a:ln xmlns:a="http://schemas.openxmlformats.org/drawingml/2006/main" w="19050">
            <a:solidFill>
              <a:srgbClr val="E89CB1"/>
            </a:solidFill>
            <a:prstDash val="solid"/>
          </a:ln>
        </p:spPr>
      </p:sp>
      <p:graphicFrame>
        <p:nvGraphicFramePr>
          <p:cNvPr id="22" name="creative-native-capability-chart"/>
          <p:cNvGraphicFramePr/>
          <p:nvPr/>
        </p:nvGraphicFramePr>
        <p:xfrm>
          <a:off xmlns:a="http://schemas.openxmlformats.org/drawingml/2006/main" x="781050" y="2724150"/>
          <a:ext xmlns:a="http://schemas.openxmlformats.org/drawingml/2006/main" cx="7277100" cy="2971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02e2c593b694dda"/>
          </a:graphicData>
        </a:graphic>
      </p:graphicFrame>
      <p:sp>
        <p:nvSpPr>
          <p:cNvPr id="8" name="creative-chart-callout-shadow">
            <a:extLst xmlns:a="http://schemas.openxmlformats.org/drawingml/2006/main">
              <a:ext uri="{FF2B5EF4-FFF2-40B4-BE49-F238E27FC236}">
                <a16:creationId xmlns:a16="http://schemas.microsoft.com/office/drawing/2014/main" id="{0A67E0C5-CBD5-41B0-8BE7-FC8002A2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33650"/>
            <a:ext cx="29337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2A"/>
          </a:solidFill>
          <a:ln xmlns:a="http://schemas.openxmlformats.org/drawingml/2006/main" w="0">
            <a:solidFill>
              <a:srgbClr val="2E4A2A"/>
            </a:solidFill>
            <a:prstDash val="solid"/>
          </a:ln>
        </p:spPr>
      </p:sp>
      <p:sp>
        <p:nvSpPr>
          <p:cNvPr id="9" name="creative-chart-callout-surface">
            <a:extLst xmlns:a="http://schemas.openxmlformats.org/drawingml/2006/main">
              <a:ext uri="{FF2B5EF4-FFF2-40B4-BE49-F238E27FC236}">
                <a16:creationId xmlns:a16="http://schemas.microsoft.com/office/drawing/2014/main" id="{D0980BE2-CE27-4360-8207-E5C3D1D6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57450"/>
            <a:ext cx="29337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9CB1"/>
          </a:solidFill>
          <a:ln xmlns:a="http://schemas.openxmlformats.org/drawingml/2006/main" w="0">
            <a:solidFill>
              <a:srgbClr val="E89CB1"/>
            </a:solidFill>
            <a:prstDash val="solid"/>
          </a:ln>
        </p:spPr>
      </p:sp>
      <p:sp>
        <p:nvSpPr>
          <p:cNvPr id="10" name="creative-chart-callout-kicker">
            <a:extLst xmlns:a="http://schemas.openxmlformats.org/drawingml/2006/main">
              <a:ext uri="{FF2B5EF4-FFF2-40B4-BE49-F238E27FC236}">
                <a16:creationId xmlns:a16="http://schemas.microsoft.com/office/drawing/2014/main" id="{EAE0BF05-9C5B-41D4-95FC-B6D9DE07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813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900" b="0" i="0">
                <a:solidFill>
                  <a:srgbClr val="243A21"/>
                </a:solidFill>
                <a:latin typeface="JetBrains Mono Medium"/>
                <a:ea typeface="JetBrains Mono Medium"/>
                <a:cs typeface="JetBrains Mono Medium"/>
              </a:rPr>
              <a:t>THE SIGNAL</a:t>
            </a:r>
          </a:p>
        </p:txBody>
      </p:sp>
      <p:sp>
        <p:nvSpPr>
          <p:cNvPr id="11" name="creative-chart-callout-title">
            <a:extLst xmlns:a="http://schemas.openxmlformats.org/drawingml/2006/main">
              <a:ext uri="{FF2B5EF4-FFF2-40B4-BE49-F238E27FC236}">
                <a16:creationId xmlns:a16="http://schemas.microsoft.com/office/drawing/2014/main" id="{4D79EC58-6114-4916-9829-5A9EE67A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52800"/>
            <a:ext cx="2286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75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3675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rPr>
              <a:t>12°C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675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3675" b="0" i="0">
                <a:solidFill>
                  <a:srgbClr val="243A21"/>
                </a:solidFill>
                <a:latin typeface="Source Serif 4 Medium"/>
                <a:ea typeface="Source Serif 4 Medium"/>
                <a:cs typeface="Source Serif 4 Medium"/>
              </a:rPr>
              <a:t>cooler</a:t>
            </a:r>
          </a:p>
        </p:txBody>
      </p:sp>
      <p:sp>
        <p:nvSpPr>
          <p:cNvPr id="12" name="creative-chart-callout-body">
            <a:extLst xmlns:a="http://schemas.openxmlformats.org/drawingml/2006/main">
              <a:ext uri="{FF2B5EF4-FFF2-40B4-BE49-F238E27FC236}">
                <a16:creationId xmlns:a16="http://schemas.microsoft.com/office/drawing/2014/main" id="{D2A4432A-6B56-40C5-A227-A2BDABF6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2197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0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243A2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 i="0">
                <a:solidFill>
                  <a:srgbClr val="243A21"/>
                </a:solidFill>
                <a:latin typeface="Source Serif 4"/>
                <a:ea typeface="Source Serif 4"/>
                <a:cs typeface="Source Serif 4"/>
              </a:rPr>
              <a:t>when shade reaches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243A21"/>
                </a:solidFill>
                <a:latin typeface="Source Serif 4"/>
                <a:ea typeface="Source Serif 4"/>
                <a:cs typeface="Source Serif 4"/>
              </a:defRPr>
            </a:pPr>
            <a:r>
              <a:rPr sz="1350" b="0" i="0">
                <a:solidFill>
                  <a:srgbClr val="243A21"/>
                </a:solidFill>
                <a:latin typeface="Source Serif 4"/>
                <a:ea typeface="Source Serif 4"/>
                <a:cs typeface="Source Serif 4"/>
              </a:rPr>
              <a:t>the next corner.</a:t>
            </a:r>
          </a:p>
        </p:txBody>
      </p:sp>
    </p:spTree>
    <p:extLst>
      <p:ext uri="{BB962C8B-B14F-4D97-AF65-F5344CB8AC3E}">
        <p14:creationId xmlns:p14="http://schemas.microsoft.com/office/powerpoint/2010/main" val="1433796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FE7D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reative-label-6">
            <a:extLst xmlns:a="http://schemas.openxmlformats.org/drawingml/2006/main">
              <a:ext uri="{FF2B5EF4-FFF2-40B4-BE49-F238E27FC236}">
                <a16:creationId xmlns:a16="http://schemas.microsoft.com/office/drawing/2014/main" id="{B9F6B6EC-757E-497C-A720-8EF79C34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90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rPr>
              <a:t>THE CITY AFTER ASPHALT / BLOCK COMPARISON</a:t>
            </a:r>
          </a:p>
        </p:txBody>
      </p:sp>
      <p:sp>
        <p:nvSpPr>
          <p:cNvPr id="2" name="creative-page-6">
            <a:extLst xmlns:a="http://schemas.openxmlformats.org/drawingml/2006/main">
              <a:ext uri="{FF2B5EF4-FFF2-40B4-BE49-F238E27FC236}">
                <a16:creationId xmlns:a16="http://schemas.microsoft.com/office/drawing/2014/main" id="{4ED11798-BF01-4033-9DAA-553FE63B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29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90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rPr>
              <a:t>06 / 08</a:t>
            </a:r>
          </a:p>
        </p:txBody>
      </p:sp>
      <p:sp>
        <p:nvSpPr>
          <p:cNvPr id="3" name="creative-foot-6">
            <a:extLst xmlns:a="http://schemas.openxmlformats.org/drawingml/2006/main">
              <a:ext uri="{FF2B5EF4-FFF2-40B4-BE49-F238E27FC236}">
                <a16:creationId xmlns:a16="http://schemas.microsoft.com/office/drawing/2014/main" id="{9EFA7A9D-5FF3-4863-8A69-6CA1DCC3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675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rPr>
              <a:t>EDITORIAL FOREST · URBAN REWILDING · ILLUSTRATIVE</a:t>
            </a:r>
          </a:p>
        </p:txBody>
      </p:sp>
      <p:sp>
        <p:nvSpPr>
          <p:cNvPr id="4" name="creative-test-title">
            <a:extLst xmlns:a="http://schemas.openxmlformats.org/drawingml/2006/main">
              <a:ext uri="{FF2B5EF4-FFF2-40B4-BE49-F238E27FC236}">
                <a16:creationId xmlns:a16="http://schemas.microsoft.com/office/drawing/2014/main" id="{1279E489-1F0B-44F8-A489-6495B7C5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750" b="0" i="0">
                <a:solidFill>
                  <a:srgbClr val="2E4A2A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3750" b="0" i="0">
                <a:solidFill>
                  <a:srgbClr val="2E4A2A"/>
                </a:solidFill>
                <a:latin typeface="Source Serif 4 Medium"/>
                <a:ea typeface="Source Serif 4 Medium"/>
                <a:cs typeface="Source Serif 4 Medium"/>
              </a:rPr>
              <a:t>Small sites.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750" b="0" i="0">
                <a:solidFill>
                  <a:srgbClr val="2E4A2A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3750" b="0" i="0">
                <a:solidFill>
                  <a:srgbClr val="2E4A2A"/>
                </a:solidFill>
                <a:latin typeface="Source Serif 4 Medium"/>
                <a:ea typeface="Source Serif 4 Medium"/>
                <a:cs typeface="Source Serif 4 Medium"/>
              </a:rPr>
              <a:t>Cooler walking loops.</a:t>
            </a:r>
          </a:p>
        </p:txBody>
      </p:sp>
      <p:sp>
        <p:nvSpPr>
          <p:cNvPr id="5" name="creative-test-chart-card-shadow">
            <a:extLst xmlns:a="http://schemas.openxmlformats.org/drawingml/2006/main">
              <a:ext uri="{FF2B5EF4-FFF2-40B4-BE49-F238E27FC236}">
                <a16:creationId xmlns:a16="http://schemas.microsoft.com/office/drawing/2014/main" id="{BF297645-0A25-4224-98DE-CE3E4408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79629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4"/>
          </a:solidFill>
          <a:ln xmlns:a="http://schemas.openxmlformats.org/drawingml/2006/main" w="0">
            <a:solidFill>
              <a:srgbClr val="EFE7D4"/>
            </a:solidFill>
            <a:prstDash val="solid"/>
          </a:ln>
        </p:spPr>
      </p:sp>
      <p:sp>
        <p:nvSpPr>
          <p:cNvPr id="6" name="creative-test-chart-card-surface">
            <a:extLst xmlns:a="http://schemas.openxmlformats.org/drawingml/2006/main">
              <a:ext uri="{FF2B5EF4-FFF2-40B4-BE49-F238E27FC236}">
                <a16:creationId xmlns:a16="http://schemas.microsoft.com/office/drawing/2014/main" id="{78A0CD89-1B72-4EA5-93E3-1C573758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24100"/>
            <a:ext cx="79629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CC4"/>
          </a:solidFill>
          <a:ln xmlns:a="http://schemas.openxmlformats.org/drawingml/2006/main" w="19050">
            <a:solidFill>
              <a:srgbClr val="2E4A2A"/>
            </a:solidFill>
            <a:prstDash val="solid"/>
          </a:ln>
        </p:spPr>
      </p:sp>
      <p:graphicFrame>
        <p:nvGraphicFramePr>
          <p:cNvPr id="23" name="creative-constraint-test-chart"/>
          <p:cNvGraphicFramePr/>
          <p:nvPr/>
        </p:nvGraphicFramePr>
        <p:xfrm>
          <a:off xmlns:a="http://schemas.openxmlformats.org/drawingml/2006/main" x="781050" y="2647950"/>
          <a:ext xmlns:a="http://schemas.openxmlformats.org/drawingml/2006/main" cx="7372350" cy="2990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e6706c74d5462b"/>
          </a:graphicData>
        </a:graphic>
      </p:graphicFrame>
      <p:sp>
        <p:nvSpPr>
          <p:cNvPr id="8" name="creative-test-callout-shadow">
            <a:extLst xmlns:a="http://schemas.openxmlformats.org/drawingml/2006/main">
              <a:ext uri="{FF2B5EF4-FFF2-40B4-BE49-F238E27FC236}">
                <a16:creationId xmlns:a16="http://schemas.microsoft.com/office/drawing/2014/main" id="{394DE64D-5599-4067-A32B-50A7C92E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00300"/>
            <a:ext cx="28194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4"/>
          </a:solidFill>
          <a:ln xmlns:a="http://schemas.openxmlformats.org/drawingml/2006/main" w="0">
            <a:solidFill>
              <a:srgbClr val="EFE7D4"/>
            </a:solidFill>
            <a:prstDash val="solid"/>
          </a:ln>
        </p:spPr>
      </p:sp>
      <p:sp>
        <p:nvSpPr>
          <p:cNvPr id="9" name="creative-test-callout-surface">
            <a:extLst xmlns:a="http://schemas.openxmlformats.org/drawingml/2006/main">
              <a:ext uri="{FF2B5EF4-FFF2-40B4-BE49-F238E27FC236}">
                <a16:creationId xmlns:a16="http://schemas.microsoft.com/office/drawing/2014/main" id="{0EF72271-CAD2-423F-8417-AB7FF5D3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24100"/>
            <a:ext cx="28194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2A"/>
          </a:solidFill>
          <a:ln xmlns:a="http://schemas.openxmlformats.org/drawingml/2006/main" w="19050">
            <a:solidFill>
              <a:srgbClr val="243A21"/>
            </a:solidFill>
            <a:prstDash val="solid"/>
          </a:ln>
        </p:spPr>
      </p:sp>
      <p:sp>
        <p:nvSpPr>
          <p:cNvPr id="10" name="creative-test-kicker">
            <a:extLst xmlns:a="http://schemas.openxmlformats.org/drawingml/2006/main">
              <a:ext uri="{FF2B5EF4-FFF2-40B4-BE49-F238E27FC236}">
                <a16:creationId xmlns:a16="http://schemas.microsoft.com/office/drawing/2014/main" id="{33A87C84-4528-407F-8FB4-143331E0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47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90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BEST CONDITION</a:t>
            </a:r>
          </a:p>
        </p:txBody>
      </p:sp>
      <p:sp>
        <p:nvSpPr>
          <p:cNvPr id="11" name="creative-test-value">
            <a:extLst xmlns:a="http://schemas.openxmlformats.org/drawingml/2006/main">
              <a:ext uri="{FF2B5EF4-FFF2-40B4-BE49-F238E27FC236}">
                <a16:creationId xmlns:a16="http://schemas.microsoft.com/office/drawing/2014/main" id="{32C4D74E-138C-44F5-923E-B9538352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86100"/>
            <a:ext cx="2114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4350" b="0" i="0">
                <a:solidFill>
                  <a:srgbClr val="E89CB1"/>
                </a:solidFill>
                <a:latin typeface="Source Serif 4 Medium"/>
                <a:ea typeface="Source Serif 4 Medium"/>
                <a:cs typeface="Source Serif 4 Medium"/>
              </a:rPr>
              <a:t>33°</a:t>
            </a:r>
          </a:p>
        </p:txBody>
      </p:sp>
      <p:sp>
        <p:nvSpPr>
          <p:cNvPr id="12" name="creative-test-copy">
            <a:extLst xmlns:a="http://schemas.openxmlformats.org/drawingml/2006/main">
              <a:ext uri="{FF2B5EF4-FFF2-40B4-BE49-F238E27FC236}">
                <a16:creationId xmlns:a16="http://schemas.microsoft.com/office/drawing/2014/main" id="{A581E7FB-98B2-4100-A951-B17B9116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14800"/>
            <a:ext cx="2133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 i="0">
                <a:solidFill>
                  <a:srgbClr val="EFE7D4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0" i="0">
                <a:solidFill>
                  <a:srgbClr val="EFE7D4"/>
                </a:solidFill>
                <a:latin typeface="Source Serif 4"/>
                <a:ea typeface="Source Serif 4"/>
                <a:cs typeface="Source Serif 4"/>
              </a:rPr>
              <a:t>linked canopy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 i="0">
                <a:solidFill>
                  <a:srgbClr val="EFE7D4"/>
                </a:solidFill>
                <a:latin typeface="Source Serif 4"/>
                <a:ea typeface="Source Serif 4"/>
                <a:cs typeface="Source Serif 4"/>
              </a:defRPr>
            </a:pPr>
            <a:r>
              <a:rPr sz="1575" b="0" i="0">
                <a:solidFill>
                  <a:srgbClr val="EFE7D4"/>
                </a:solidFill>
                <a:latin typeface="Source Serif 4"/>
                <a:ea typeface="Source Serif 4"/>
                <a:cs typeface="Source Serif 4"/>
              </a:rPr>
              <a:t>peak surface temp</a:t>
            </a:r>
          </a:p>
        </p:txBody>
      </p:sp>
      <p:sp>
        <p:nvSpPr>
          <p:cNvPr id="13" name="creative-test-footnote">
            <a:extLst xmlns:a="http://schemas.openxmlformats.org/drawingml/2006/main">
              <a:ext uri="{FF2B5EF4-FFF2-40B4-BE49-F238E27FC236}">
                <a16:creationId xmlns:a16="http://schemas.microsoft.com/office/drawing/2014/main" id="{B7079DB7-2A4B-4C08-A4F1-768BA530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314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675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675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ILLUSTRATIVE MODEL · PEAK °C</a:t>
            </a:r>
          </a:p>
        </p:txBody>
      </p:sp>
    </p:spTree>
    <p:extLst>
      <p:ext uri="{BB962C8B-B14F-4D97-AF65-F5344CB8AC3E}">
        <p14:creationId xmlns:p14="http://schemas.microsoft.com/office/powerpoint/2010/main" val="214133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FE7D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reative-label-5">
            <a:extLst xmlns:a="http://schemas.openxmlformats.org/drawingml/2006/main">
              <a:ext uri="{FF2B5EF4-FFF2-40B4-BE49-F238E27FC236}">
                <a16:creationId xmlns:a16="http://schemas.microsoft.com/office/drawing/2014/main" id="{E08016C9-6A06-41F5-887F-1DFB2416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90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rPr>
              <a:t>THE CITY AFTER ASPHALT / THE BLOCK LEDGER</a:t>
            </a:r>
          </a:p>
        </p:txBody>
      </p:sp>
      <p:sp>
        <p:nvSpPr>
          <p:cNvPr id="2" name="creative-page-5">
            <a:extLst xmlns:a="http://schemas.openxmlformats.org/drawingml/2006/main">
              <a:ext uri="{FF2B5EF4-FFF2-40B4-BE49-F238E27FC236}">
                <a16:creationId xmlns:a16="http://schemas.microsoft.com/office/drawing/2014/main" id="{2573E5BC-2712-494C-ADE4-69B0CD6C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29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900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rPr>
              <a:t>07 / 08</a:t>
            </a:r>
          </a:p>
        </p:txBody>
      </p:sp>
      <p:sp>
        <p:nvSpPr>
          <p:cNvPr id="3" name="creative-foot-5">
            <a:extLst xmlns:a="http://schemas.openxmlformats.org/drawingml/2006/main">
              <a:ext uri="{FF2B5EF4-FFF2-40B4-BE49-F238E27FC236}">
                <a16:creationId xmlns:a16="http://schemas.microsoft.com/office/drawing/2014/main" id="{E1C34FCE-6B73-4703-99F1-3B919EAD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675" b="0" i="0">
                <a:solidFill>
                  <a:srgbClr val="2E4A2A"/>
                </a:solidFill>
                <a:latin typeface="JetBrains Mono Medium"/>
                <a:ea typeface="JetBrains Mono Medium"/>
                <a:cs typeface="JetBrains Mono Medium"/>
              </a:rPr>
              <a:t>NATIVE EDITABLE TABLE · ALL ENTRIES ARE ILLUSTRATIVE</a:t>
            </a:r>
          </a:p>
        </p:txBody>
      </p:sp>
      <p:sp>
        <p:nvSpPr>
          <p:cNvPr id="4" name="creative-table-title">
            <a:extLst xmlns:a="http://schemas.openxmlformats.org/drawingml/2006/main">
              <a:ext uri="{FF2B5EF4-FFF2-40B4-BE49-F238E27FC236}">
                <a16:creationId xmlns:a16="http://schemas.microsoft.com/office/drawing/2014/main" id="{CBDD4CC0-6B3A-4B41-8DDD-B60974D0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84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0" i="0">
                <a:solidFill>
                  <a:srgbClr val="2E4A2A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3525" b="0" i="0">
                <a:solidFill>
                  <a:srgbClr val="2E4A2A"/>
                </a:solidFill>
                <a:latin typeface="Source Serif 4 Medium"/>
                <a:ea typeface="Source Serif 4 Medium"/>
                <a:cs typeface="Source Serif 4 Medium"/>
              </a:rPr>
              <a:t>Start with the break that blocks connection.</a:t>
            </a:r>
          </a:p>
        </p:txBody>
      </p:sp>
      <p:sp>
        <p:nvSpPr>
          <p:cNvPr id="5" name="creative-table-card-shadow">
            <a:extLst xmlns:a="http://schemas.openxmlformats.org/drawingml/2006/main">
              <a:ext uri="{FF2B5EF4-FFF2-40B4-BE49-F238E27FC236}">
                <a16:creationId xmlns:a16="http://schemas.microsoft.com/office/drawing/2014/main" id="{1C606308-6E12-4927-B2A5-ACBA8879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111823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4"/>
          </a:solidFill>
          <a:ln xmlns:a="http://schemas.openxmlformats.org/drawingml/2006/main" w="0">
            <a:solidFill>
              <a:srgbClr val="EFE7D4"/>
            </a:solidFill>
            <a:prstDash val="solid"/>
          </a:ln>
        </p:spPr>
      </p:sp>
      <p:sp>
        <p:nvSpPr>
          <p:cNvPr id="6" name="creative-table-card-surface">
            <a:extLst xmlns:a="http://schemas.openxmlformats.org/drawingml/2006/main">
              <a:ext uri="{FF2B5EF4-FFF2-40B4-BE49-F238E27FC236}">
                <a16:creationId xmlns:a16="http://schemas.microsoft.com/office/drawing/2014/main" id="{A035000D-A0E7-4E3C-9205-7C2D678F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111823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CC4"/>
          </a:solidFill>
          <a:ln xmlns:a="http://schemas.openxmlformats.org/drawingml/2006/main" w="19050">
            <a:solidFill>
              <a:srgbClr val="2E4A2A"/>
            </a:solidFill>
            <a:prstDash val="solid"/>
          </a:ln>
        </p:spPr>
      </p:sp>
      <p:graphicFrame>
        <p:nvGraphicFramePr>
          <p:cNvPr id="16" name="creative-native-feature-matrix"/>
          <p:cNvGraphicFramePr/>
          <p:nvPr/>
        </p:nvGraphicFramePr>
        <p:xfrm>
          <a:off xmlns:a="http://schemas.openxmlformats.org/drawingml/2006/main" x="742950" y="2266950"/>
          <a:ext xmlns:a="http://schemas.openxmlformats.org/drawingml/2006/main" cx="106870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5733"/>
                <a:gridCol w="1892498"/>
                <a:gridCol w="2560439"/>
                <a:gridCol w="3228380"/>
              </a:tblGrid>
              <a:tr h="666750">
                <a:tc>
                  <a:txBody>
                    <a:bodyPr lIns="76200" tIns="57150" rIns="76200" bIns="57150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E89CB1"/>
                          </a:solidFill>
                          <a:latin typeface="JetBrains Mono Medium"/>
                          <a:ea typeface="JetBrains Mono Medium"/>
                          <a:cs typeface="JetBrains Mono Medium"/>
                        </a:rPr>
                        <a:t>BLOCK</a:t>
                      </a:r>
                    </a:p>
                  </a:txBody>
                  <a:tcPr marL="91440" marR="91440" marT="45720" marB="45720" anchor="ctr">
                    <a:solidFill>
                      <a:srgbClr val="2E4A2A"/>
                    </a:solidFill>
                  </a:tcPr>
                </a:tc>
                <a:tc>
                  <a:txBody>
                    <a:bodyPr lIns="76200" tIns="57150" rIns="76200" bIns="57150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E89CB1"/>
                          </a:solidFill>
                          <a:latin typeface="JetBrains Mono Medium"/>
                          <a:ea typeface="JetBrains Mono Medium"/>
                          <a:cs typeface="JetBrains Mono Medium"/>
                        </a:rPr>
                        <a:t>PRIMARY BREAK</a:t>
                      </a:r>
                    </a:p>
                  </a:txBody>
                  <a:tcPr marL="91440" marR="91440" marT="45720" marB="45720" anchor="ctr">
                    <a:solidFill>
                      <a:srgbClr val="2E4A2A"/>
                    </a:solidFill>
                  </a:tcPr>
                </a:tc>
                <a:tc>
                  <a:txBody>
                    <a:bodyPr lIns="76200" tIns="57150" rIns="76200" bIns="57150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E89CB1"/>
                          </a:solidFill>
                          <a:latin typeface="JetBrains Mono Medium"/>
                          <a:ea typeface="JetBrains Mono Medium"/>
                          <a:cs typeface="JetBrains Mono Medium"/>
                        </a:rPr>
                        <a:t>EXISTING CONDITION</a:t>
                      </a:r>
                    </a:p>
                  </a:txBody>
                  <a:tcPr marL="91440" marR="91440" marT="45720" marB="45720" anchor="ctr">
                    <a:solidFill>
                      <a:srgbClr val="2E4A2A"/>
                    </a:solidFill>
                  </a:tcPr>
                </a:tc>
                <a:tc>
                  <a:txBody>
                    <a:bodyPr lIns="76200" tIns="57150" rIns="76200" bIns="57150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E89CB1"/>
                          </a:solidFill>
                          <a:latin typeface="JetBrains Mono Medium"/>
                          <a:ea typeface="JetBrains Mono Medium"/>
                          <a:cs typeface="JetBrains Mono Medium"/>
                        </a:rPr>
                        <a:t>FIRST MOVE</a:t>
                      </a:r>
                    </a:p>
                  </a:txBody>
                  <a:tcPr marL="91440" marR="91440" marT="45720" marB="45720" anchor="ctr">
                    <a:solidFill>
                      <a:srgbClr val="2E4A2A"/>
                    </a:solidFill>
                  </a:tcPr>
                </a:tc>
              </a:tr>
              <a:tr h="666750">
                <a:tc>
                  <a:txBody>
                    <a:bodyPr lIns="76200" tIns="57150" rIns="76200" bIns="57150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A1A17"/>
                          </a:solidFill>
                          <a:latin typeface="Source Serif 4 Medium"/>
                          <a:ea typeface="Source Serif 4 Medium"/>
                          <a:cs typeface="Source Serif 4 Medium"/>
                        </a:rPr>
                        <a:t>Commercial spine</a:t>
                      </a:r>
                    </a:p>
                  </a:txBody>
                  <a:tcPr marL="91440" marR="91440" marT="45720" marB="45720" anchor="ctr">
                    <a:solidFill>
                      <a:srgbClr val="EFE7D4"/>
                    </a:solidFill>
                  </a:tcPr>
                </a:tc>
                <a:tc>
                  <a:txBody>
                    <a:bodyPr lIns="76200" tIns="57150" rIns="76200" bIns="57150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A1A17"/>
                          </a:solidFill>
                          <a:latin typeface="Source Serif 4"/>
                          <a:ea typeface="Source Serif 4"/>
                          <a:cs typeface="Source Serif 4"/>
                        </a:rPr>
                        <a:t>Shade</a:t>
                      </a:r>
                    </a:p>
                  </a:txBody>
                  <a:tcPr marL="91440" marR="91440" marT="45720" marB="45720" anchor="ctr">
                    <a:solidFill>
                      <a:srgbClr val="EFE7D4"/>
                    </a:solidFill>
                  </a:tcPr>
                </a:tc>
                <a:tc>
                  <a:txBody>
                    <a:bodyPr lIns="76200" tIns="57150" rIns="76200" bIns="57150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A1A17"/>
                          </a:solidFill>
                          <a:latin typeface="Source Serif 4"/>
                          <a:ea typeface="Source Serif 4"/>
                          <a:cs typeface="Source Serif 4"/>
                        </a:rPr>
                        <a:t>Low canopy</a:t>
                      </a:r>
                    </a:p>
                  </a:txBody>
                  <a:tcPr marL="91440" marR="91440" marT="45720" marB="45720" anchor="ctr">
                    <a:solidFill>
                      <a:srgbClr val="EFE7D4"/>
                    </a:solidFill>
                  </a:tcPr>
                </a:tc>
                <a:tc>
                  <a:txBody>
                    <a:bodyPr lIns="76200" tIns="57150" rIns="76200" bIns="57150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A1A17"/>
                          </a:solidFill>
                          <a:latin typeface="Source Serif 4"/>
                          <a:ea typeface="Source Serif 4"/>
                          <a:cs typeface="Source Serif 4"/>
                        </a:rPr>
                        <a:t>Link the canopy rhythm</a:t>
                      </a:r>
                    </a:p>
                  </a:txBody>
                  <a:tcPr marL="91440" marR="91440" marT="45720" marB="45720" anchor="ctr">
                    <a:solidFill>
                      <a:srgbClr val="EFE7D4"/>
                    </a:solidFill>
                  </a:tcPr>
                </a:tc>
              </a:tr>
              <a:tr h="666750">
                <a:tc>
                  <a:txBody>
                    <a:bodyPr lIns="76200" tIns="57150" rIns="76200" bIns="57150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A1A17"/>
                          </a:solidFill>
                          <a:latin typeface="Source Serif 4 Medium"/>
                          <a:ea typeface="Source Serif 4 Medium"/>
                          <a:cs typeface="Source Serif 4 Medium"/>
                        </a:rPr>
                        <a:t>School edge</a:t>
                      </a:r>
                    </a:p>
                  </a:txBody>
                  <a:tcPr marL="91440" marR="91440" marT="45720" marB="45720" anchor="ctr">
                    <a:solidFill>
                      <a:srgbClr val="E6DCC4"/>
                    </a:solidFill>
                  </a:tcPr>
                </a:tc>
                <a:tc>
                  <a:txBody>
                    <a:bodyPr lIns="76200" tIns="57150" rIns="76200" bIns="57150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A1A17"/>
                          </a:solidFill>
                          <a:latin typeface="Source Serif 4"/>
                          <a:ea typeface="Source Serif 4"/>
                          <a:cs typeface="Source Serif 4"/>
                        </a:rPr>
                        <a:t>Water</a:t>
                      </a:r>
                    </a:p>
                  </a:txBody>
                  <a:tcPr marL="91440" marR="91440" marT="45720" marB="45720" anchor="ctr">
                    <a:solidFill>
                      <a:srgbClr val="E6DCC4"/>
                    </a:solidFill>
                  </a:tcPr>
                </a:tc>
                <a:tc>
                  <a:txBody>
                    <a:bodyPr lIns="76200" tIns="57150" rIns="76200" bIns="57150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A1A17"/>
                          </a:solidFill>
                          <a:latin typeface="Source Serif 4"/>
                          <a:ea typeface="Source Serif 4"/>
                          <a:cs typeface="Source Serif 4"/>
                        </a:rPr>
                        <a:t>Compacted soil</a:t>
                      </a:r>
                    </a:p>
                  </a:txBody>
                  <a:tcPr marL="91440" marR="91440" marT="45720" marB="45720" anchor="ctr">
                    <a:solidFill>
                      <a:srgbClr val="E6DCC4"/>
                    </a:solidFill>
                  </a:tcPr>
                </a:tc>
                <a:tc>
                  <a:txBody>
                    <a:bodyPr lIns="76200" tIns="57150" rIns="76200" bIns="57150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A1A17"/>
                          </a:solidFill>
                          <a:latin typeface="Source Serif 4"/>
                          <a:ea typeface="Source Serif 4"/>
                          <a:cs typeface="Source Serif 4"/>
                        </a:rPr>
                        <a:t>Build a rain garden</a:t>
                      </a:r>
                    </a:p>
                  </a:txBody>
                  <a:tcPr marL="91440" marR="91440" marT="45720" marB="45720" anchor="ctr">
                    <a:solidFill>
                      <a:srgbClr val="E6DCC4"/>
                    </a:solidFill>
                  </a:tcPr>
                </a:tc>
              </a:tr>
              <a:tr h="666750">
                <a:tc>
                  <a:txBody>
                    <a:bodyPr lIns="76200" tIns="57150" rIns="76200" bIns="57150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A1A17"/>
                          </a:solidFill>
                          <a:latin typeface="Source Serif 4 Medium"/>
                          <a:ea typeface="Source Serif 4 Medium"/>
                          <a:cs typeface="Source Serif 4 Medium"/>
                        </a:rPr>
                        <a:t>Parking court</a:t>
                      </a:r>
                    </a:p>
                  </a:txBody>
                  <a:tcPr marL="91440" marR="91440" marT="45720" marB="45720" anchor="ctr">
                    <a:solidFill>
                      <a:srgbClr val="EFE7D4"/>
                    </a:solidFill>
                  </a:tcPr>
                </a:tc>
                <a:tc>
                  <a:txBody>
                    <a:bodyPr lIns="76200" tIns="57150" rIns="76200" bIns="57150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A1A17"/>
                          </a:solidFill>
                          <a:latin typeface="Source Serif 4"/>
                          <a:ea typeface="Source Serif 4"/>
                          <a:cs typeface="Source Serif 4"/>
                        </a:rPr>
                        <a:t>Soil</a:t>
                      </a:r>
                    </a:p>
                  </a:txBody>
                  <a:tcPr marL="91440" marR="91440" marT="45720" marB="45720" anchor="ctr">
                    <a:solidFill>
                      <a:srgbClr val="EFE7D4"/>
                    </a:solidFill>
                  </a:tcPr>
                </a:tc>
                <a:tc>
                  <a:txBody>
                    <a:bodyPr lIns="76200" tIns="57150" rIns="76200" bIns="57150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A1A17"/>
                          </a:solidFill>
                          <a:latin typeface="Source Serif 4"/>
                          <a:ea typeface="Source Serif 4"/>
                          <a:cs typeface="Source Serif 4"/>
                        </a:rPr>
                        <a:t>Sealed surface</a:t>
                      </a:r>
                    </a:p>
                  </a:txBody>
                  <a:tcPr marL="91440" marR="91440" marT="45720" marB="45720" anchor="ctr">
                    <a:solidFill>
                      <a:srgbClr val="EFE7D4"/>
                    </a:solidFill>
                  </a:tcPr>
                </a:tc>
                <a:tc>
                  <a:txBody>
                    <a:bodyPr lIns="76200" tIns="57150" rIns="76200" bIns="57150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A1A17"/>
                          </a:solidFill>
                          <a:latin typeface="Source Serif 4"/>
                          <a:ea typeface="Source Serif 4"/>
                          <a:cs typeface="Source Serif 4"/>
                        </a:rPr>
                        <a:t>Cut pocket groves</a:t>
                      </a:r>
                    </a:p>
                  </a:txBody>
                  <a:tcPr marL="91440" marR="91440" marT="45720" marB="45720" anchor="ctr">
                    <a:solidFill>
                      <a:srgbClr val="EFE7D4"/>
                    </a:solidFill>
                  </a:tcPr>
                </a:tc>
              </a:tr>
              <a:tr h="666750">
                <a:tc>
                  <a:txBody>
                    <a:bodyPr lIns="76200" tIns="57150" rIns="76200" bIns="57150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A1A17"/>
                          </a:solidFill>
                          <a:latin typeface="Source Serif 4 Medium"/>
                          <a:ea typeface="Source Serif 4 Medium"/>
                          <a:cs typeface="Source Serif 4 Medium"/>
                        </a:rPr>
                        <a:t>Housing lane</a:t>
                      </a:r>
                    </a:p>
                  </a:txBody>
                  <a:tcPr marL="91440" marR="91440" marT="45720" marB="45720" anchor="ctr">
                    <a:solidFill>
                      <a:srgbClr val="E6DCC4"/>
                    </a:solidFill>
                  </a:tcPr>
                </a:tc>
                <a:tc>
                  <a:txBody>
                    <a:bodyPr lIns="76200" tIns="57150" rIns="76200" bIns="57150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A1A17"/>
                          </a:solidFill>
                          <a:latin typeface="Source Serif 4"/>
                          <a:ea typeface="Source Serif 4"/>
                          <a:cs typeface="Source Serif 4"/>
                        </a:rPr>
                        <a:t>Movement</a:t>
                      </a:r>
                    </a:p>
                  </a:txBody>
                  <a:tcPr marL="91440" marR="91440" marT="45720" marB="45720" anchor="ctr">
                    <a:solidFill>
                      <a:srgbClr val="E6DCC4"/>
                    </a:solidFill>
                  </a:tcPr>
                </a:tc>
                <a:tc>
                  <a:txBody>
                    <a:bodyPr lIns="76200" tIns="57150" rIns="76200" bIns="57150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A1A17"/>
                          </a:solidFill>
                          <a:latin typeface="Source Serif 4"/>
                          <a:ea typeface="Source Serif 4"/>
                          <a:cs typeface="Source Serif 4"/>
                        </a:rPr>
                        <a:t>Patchy habitat</a:t>
                      </a:r>
                    </a:p>
                  </a:txBody>
                  <a:tcPr marL="91440" marR="91440" marT="45720" marB="45720" anchor="ctr">
                    <a:solidFill>
                      <a:srgbClr val="E6DCC4"/>
                    </a:solidFill>
                  </a:tcPr>
                </a:tc>
                <a:tc>
                  <a:txBody>
                    <a:bodyPr lIns="76200" tIns="57150" rIns="76200" bIns="57150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A1A17"/>
                          </a:solidFill>
                          <a:latin typeface="Source Serif 4"/>
                          <a:ea typeface="Source Serif 4"/>
                          <a:cs typeface="Source Serif 4"/>
                        </a:rPr>
                        <a:t>Connect courtyards</a:t>
                      </a:r>
                    </a:p>
                  </a:txBody>
                  <a:tcPr marL="91440" marR="91440" marT="45720" marB="45720" anchor="ctr">
                    <a:solidFill>
                      <a:srgbClr val="E6DCC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08590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E4A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reative-close-kicker">
            <a:extLst xmlns:a="http://schemas.openxmlformats.org/drawingml/2006/main">
              <a:ext uri="{FF2B5EF4-FFF2-40B4-BE49-F238E27FC236}">
                <a16:creationId xmlns:a16="http://schemas.microsoft.com/office/drawing/2014/main" id="{59490D53-5361-4D4D-8022-5CA172C1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9810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90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THE LAST FIELD NOTE</a:t>
            </a:r>
          </a:p>
        </p:txBody>
      </p:sp>
      <p:sp>
        <p:nvSpPr>
          <p:cNvPr id="2" name="creative-close-title">
            <a:extLst xmlns:a="http://schemas.openxmlformats.org/drawingml/2006/main">
              <a:ext uri="{FF2B5EF4-FFF2-40B4-BE49-F238E27FC236}">
                <a16:creationId xmlns:a16="http://schemas.microsoft.com/office/drawing/2014/main" id="{E02EE11D-2A02-41D0-BE63-3F49FE24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752600"/>
            <a:ext cx="885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8400" b="0" i="0">
                <a:solidFill>
                  <a:srgbClr val="EFE7D4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8400" b="0" i="0">
                <a:solidFill>
                  <a:srgbClr val="EFE7D4"/>
                </a:solidFill>
                <a:latin typeface="Source Serif 4 Medium"/>
                <a:ea typeface="Source Serif 4 Medium"/>
                <a:cs typeface="Source Serif 4 Medium"/>
              </a:rPr>
              <a:t>Plant the links.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8400" b="0" i="0">
                <a:solidFill>
                  <a:srgbClr val="EFE7D4"/>
                </a:solidFill>
                <a:latin typeface="Source Serif 4 Medium"/>
                <a:ea typeface="Source Serif 4 Medium"/>
                <a:cs typeface="Source Serif 4 Medium"/>
              </a:defRPr>
            </a:pPr>
            <a:r>
              <a:rPr sz="8400" b="0" i="0">
                <a:solidFill>
                  <a:srgbClr val="EFE7D4"/>
                </a:solidFill>
                <a:latin typeface="Source Serif 4 Medium"/>
                <a:ea typeface="Source Serif 4 Medium"/>
                <a:cs typeface="Source Serif 4 Medium"/>
              </a:rPr>
              <a:t>Let the city grow.</a:t>
            </a:r>
          </a:p>
        </p:txBody>
      </p:sp>
      <p:sp>
        <p:nvSpPr>
          <p:cNvPr id="3" name="creative-close-tag-shadow">
            <a:extLst xmlns:a="http://schemas.openxmlformats.org/drawingml/2006/main">
              <a:ext uri="{FF2B5EF4-FFF2-40B4-BE49-F238E27FC236}">
                <a16:creationId xmlns:a16="http://schemas.microsoft.com/office/drawing/2014/main" id="{D147301C-8C86-496D-91F1-68AD5FB4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6057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creative-close-tag-surface">
            <a:extLst xmlns:a="http://schemas.openxmlformats.org/drawingml/2006/main">
              <a:ext uri="{FF2B5EF4-FFF2-40B4-BE49-F238E27FC236}">
                <a16:creationId xmlns:a16="http://schemas.microsoft.com/office/drawing/2014/main" id="{4D70221F-5A4F-4A85-B105-F0A5B2A5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695950"/>
            <a:ext cx="103917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9CB1"/>
          </a:solidFill>
          <a:ln xmlns:a="http://schemas.openxmlformats.org/drawingml/2006/main" w="0">
            <a:solidFill>
              <a:srgbClr val="E89CB1"/>
            </a:solidFill>
            <a:prstDash val="solid"/>
          </a:ln>
        </p:spPr>
      </p:sp>
      <p:sp>
        <p:nvSpPr>
          <p:cNvPr id="5" name="creative-close-tag-text">
            <a:extLst xmlns:a="http://schemas.openxmlformats.org/drawingml/2006/main">
              <a:ext uri="{FF2B5EF4-FFF2-40B4-BE49-F238E27FC236}">
                <a16:creationId xmlns:a16="http://schemas.microsoft.com/office/drawing/2014/main" id="{9CC3C74C-3B0D-4858-A4CA-CADBD557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0007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7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START SMALL · CONNECT PATCHES · MAINTAIN THE COMMONS</a:t>
            </a:r>
          </a:p>
        </p:txBody>
      </p:sp>
      <p:sp>
        <p:nvSpPr>
          <p:cNvPr id="6" name="creative-close-circle">
            <a:extLst xmlns:a="http://schemas.openxmlformats.org/drawingml/2006/main">
              <a:ext uri="{FF2B5EF4-FFF2-40B4-BE49-F238E27FC236}">
                <a16:creationId xmlns:a16="http://schemas.microsoft.com/office/drawing/2014/main" id="{B0F4BCE8-341E-4736-ACAF-10098F70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38175"/>
            <a:ext cx="838200" cy="838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9CB1"/>
            </a:solidFill>
            <a:prstDash val="solid"/>
          </a:ln>
        </p:spPr>
      </p:sp>
      <p:sp>
        <p:nvSpPr>
          <p:cNvPr id="7" name="creative-close-circle-text">
            <a:extLst xmlns:a="http://schemas.openxmlformats.org/drawingml/2006/main">
              <a:ext uri="{FF2B5EF4-FFF2-40B4-BE49-F238E27FC236}">
                <a16:creationId xmlns:a16="http://schemas.microsoft.com/office/drawing/2014/main" id="{5DAA4457-5877-47E0-A4DE-6865E94C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38175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10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08</a:t>
            </a:r>
          </a:p>
        </p:txBody>
      </p:sp>
      <p:sp>
        <p:nvSpPr>
          <p:cNvPr id="8" name="creative-close-attribution">
            <a:extLst xmlns:a="http://schemas.openxmlformats.org/drawingml/2006/main">
              <a:ext uri="{FF2B5EF4-FFF2-40B4-BE49-F238E27FC236}">
                <a16:creationId xmlns:a16="http://schemas.microsoft.com/office/drawing/2014/main" id="{961EC7B8-E560-4B20-89A2-A59F926E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000750"/>
            <a:ext cx="346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defRPr>
            </a:pPr>
            <a:r>
              <a:rPr sz="750" b="0" i="0">
                <a:solidFill>
                  <a:srgbClr val="E89CB1"/>
                </a:solidFill>
                <a:latin typeface="JetBrains Mono Medium"/>
                <a:ea typeface="JetBrains Mono Medium"/>
                <a:cs typeface="JetBrains Mono Medium"/>
              </a:rPr>
              <a:t>THE CITY AFTER ASPHALT · 2026</a:t>
            </a:r>
          </a:p>
        </p:txBody>
      </p:sp>
    </p:spTree>
    <p:extLst>
      <p:ext uri="{BB962C8B-B14F-4D97-AF65-F5344CB8AC3E}">
        <p14:creationId xmlns:p14="http://schemas.microsoft.com/office/powerpoint/2010/main" val="20385855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2026-08-25T03:57:45.2980000Z</dcterms:created>
  <dcterms:modified xsi:type="dcterms:W3CDTF">2026-08-25T03:57:45.2980000Z</dcterms:modified>
</coreProperties>
</file>