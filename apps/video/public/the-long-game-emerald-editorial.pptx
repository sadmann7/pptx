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874f259b7d6e413b" /><Relationship Type="http://schemas.openxmlformats.org/officeDocument/2006/relationships/extended-properties" Target="/docProps/app.xml" Id="Rcde397b44ed04f19" /><Relationship Type="http://schemas.openxmlformats.org/officeDocument/2006/relationships/officeDocument" Target="/ppt/presentation.xml" Id="Rdb3fbe0d1fec4244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d570fefe12d9435c"/>
  </p:sldMasterIdLst>
  <p:notesMasterIdLst>
    <p:notesMasterId xmlns:r="http://schemas.openxmlformats.org/officeDocument/2006/relationships" r:id="R1467cf241d3349fa"/>
  </p:notesMasterIdLst>
  <p:sldIdLst>
    <p:sldId xmlns:r="http://schemas.openxmlformats.org/officeDocument/2006/relationships" id="256" r:id="R4b1df16c9c8844f6"/>
    <p:sldId xmlns:r="http://schemas.openxmlformats.org/officeDocument/2006/relationships" id="257" r:id="R497b77066d34434c"/>
    <p:sldId xmlns:r="http://schemas.openxmlformats.org/officeDocument/2006/relationships" id="258" r:id="R4c8518c2ba514a62"/>
    <p:sldId xmlns:r="http://schemas.openxmlformats.org/officeDocument/2006/relationships" id="259" r:id="Rd28694b704494d55"/>
    <p:sldId xmlns:r="http://schemas.openxmlformats.org/officeDocument/2006/relationships" id="260" r:id="R5c8e496b6d8a45bd"/>
    <p:sldId xmlns:r="http://schemas.openxmlformats.org/officeDocument/2006/relationships" id="261" r:id="Rf5ce995c0b7b41be"/>
    <p:sldId xmlns:r="http://schemas.openxmlformats.org/officeDocument/2006/relationships" id="262" r:id="R1fe8e242033549e8"/>
    <p:sldId xmlns:r="http://schemas.openxmlformats.org/officeDocument/2006/relationships" id="263" r:id="Rc196023292814b2a"/>
  </p:sldIdLst>
  <p:sldSz cx="12192000" cy="6858000"/>
  <p:notesSz cx="6858000" cy="9144000"/>
  <p:embeddedFontLst>
    <p:embeddedFont>
      <p:font typeface="Bodoni Moda Emerald"/>
      <p:regular r:id="rId201314"/>
    </p:embeddedFont>
    <p:embeddedFont>
      <p:font typeface="Manrope Emerald"/>
      <p:regular r:id="rId201315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25e6a046ead34243"/><Relationship Type="http://schemas.openxmlformats.org/officeDocument/2006/relationships/slideMaster" Target="/ppt/slideMasters/slideMaster1.xml" Id="Rd570fefe12d9435c"/><Relationship Type="http://schemas.openxmlformats.org/officeDocument/2006/relationships/notesMaster" Target="/ppt/notesMasters/notesMaster1.xml" Id="R1467cf241d3349fa"/><Relationship Type="http://schemas.openxmlformats.org/officeDocument/2006/relationships/presProps" Target="/ppt/presProps.xml" Id="R9fcccf33f05f4eb5"/><Relationship Type="http://schemas.openxmlformats.org/officeDocument/2006/relationships/tableStyles" Target="/ppt/tableStyles.xml" Id="R71cc8173470d494b"/><Relationship Type="http://schemas.openxmlformats.org/officeDocument/2006/relationships/slide" Target="/ppt/slides/slide1.xml" Id="R4b1df16c9c8844f6"/><Relationship Type="http://schemas.openxmlformats.org/officeDocument/2006/relationships/slide" Target="/ppt/slides/slide2.xml" Id="R497b77066d34434c"/><Relationship Type="http://schemas.openxmlformats.org/officeDocument/2006/relationships/slide" Target="/ppt/slides/slide3.xml" Id="R4c8518c2ba514a62"/><Relationship Type="http://schemas.openxmlformats.org/officeDocument/2006/relationships/slide" Target="/ppt/slides/slide4.xml" Id="Rd28694b704494d55"/><Relationship Type="http://schemas.openxmlformats.org/officeDocument/2006/relationships/slide" Target="/ppt/slides/slide5.xml" Id="R5c8e496b6d8a45bd"/><Relationship Type="http://schemas.openxmlformats.org/officeDocument/2006/relationships/slide" Target="/ppt/slides/slide6.xml" Id="Rf5ce995c0b7b41be"/><Relationship Type="http://schemas.openxmlformats.org/officeDocument/2006/relationships/slide" Target="/ppt/slides/slide7.xml" Id="R1fe8e242033549e8"/><Relationship Type="http://schemas.openxmlformats.org/officeDocument/2006/relationships/slide" Target="/ppt/slides/slide8.xml" Id="Rc196023292814b2a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738560e2a0a7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817be01851774e94" /><Relationship Type="http://schemas.openxmlformats.org/officeDocument/2006/relationships/notesMaster" Target="/ppt/notesMasters/notesMaster1.xml" Id="R01be3abc8c824669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c0ed1c6eed034087" /><Relationship Type="http://schemas.openxmlformats.org/officeDocument/2006/relationships/notesMaster" Target="/ppt/notesMasters/notesMaster1.xml" Id="Ra45319b1f4444bff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539920e8e10a41bf" /><Relationship Type="http://schemas.openxmlformats.org/officeDocument/2006/relationships/notesMaster" Target="/ppt/notesMasters/notesMaster1.xml" Id="R1c7dab18cebe4f92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1738dee5c0e24461" /><Relationship Type="http://schemas.openxmlformats.org/officeDocument/2006/relationships/notesMaster" Target="/ppt/notesMasters/notesMaster1.xml" Id="R90e3cf36dbf545db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14b295f1b821460b" /><Relationship Type="http://schemas.openxmlformats.org/officeDocument/2006/relationships/notesMaster" Target="/ppt/notesMasters/notesMaster1.xml" Id="R9ea28ff2c0ec471e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afe7163970dc446a" /><Relationship Type="http://schemas.openxmlformats.org/officeDocument/2006/relationships/notesMaster" Target="/ppt/notesMasters/notesMaster1.xml" Id="R468b5f703e8743f8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e1c8df20d79541a5" /><Relationship Type="http://schemas.openxmlformats.org/officeDocument/2006/relationships/notesMaster" Target="/ppt/notesMasters/notesMaster1.xml" Id="Rc66df3404e4b42f8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9aabdd2883664f2c" /><Relationship Type="http://schemas.openxmlformats.org/officeDocument/2006/relationships/notesMaster" Target="/ppt/notesMasters/notesMaster1.xml" Id="R95401c374ac0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retention curves are illustrative and do not describe a real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recovery-test percentages are illustrative concept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The watch lines and operating roles are illustrative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https://github.com/zarazhangrui/beautiful-html-templates/tree/main/templates/emerald-editorial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charts, tables, products, programs, and measurements are illustrative demo content.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746075b9372940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157518a357004800" /><Relationship Type="http://schemas.openxmlformats.org/officeDocument/2006/relationships/slideLayout" Target="/ppt/slideLayouts/slideLayout1.xml" Id="Ra0151fa36fe7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51fa36fe7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69781b40b394e4f" /><Relationship Type="http://schemas.openxmlformats.org/officeDocument/2006/relationships/notesSlide" Target="/ppt/notesSlides/notesSlide1.xml" Id="R3fc8c9d860414e76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df6e8996d3f4ac7" /><Relationship Type="http://schemas.openxmlformats.org/officeDocument/2006/relationships/notesSlide" Target="/ppt/notesSlides/notesSlide2.xml" Id="Rfa9686dd0c764e21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bfa363b6b4740ac" /><Relationship Type="http://schemas.openxmlformats.org/officeDocument/2006/relationships/notesSlide" Target="/ppt/notesSlides/notesSlide3.xml" Id="Ra400b83deeb146e7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dda7ccfc8e9491f" /><Relationship Type="http://schemas.openxmlformats.org/officeDocument/2006/relationships/chart" Target="/ppt/slides/charts/chart1.xml" Id="R122f1ea6e6184a36" /><Relationship Type="http://schemas.openxmlformats.org/officeDocument/2006/relationships/notesSlide" Target="/ppt/notesSlides/notesSlide4.xml" Id="R1dff4e003b7a4698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8cc765451374d65" /><Relationship Type="http://schemas.openxmlformats.org/officeDocument/2006/relationships/notesSlide" Target="/ppt/notesSlides/notesSlide5.xml" Id="R635c3ce021124373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24769d5fd7942d0" /><Relationship Type="http://schemas.openxmlformats.org/officeDocument/2006/relationships/chart" Target="/ppt/slides/charts/chart2.xml" Id="R30f2046339114d62" /><Relationship Type="http://schemas.openxmlformats.org/officeDocument/2006/relationships/notesSlide" Target="/ppt/notesSlides/notesSlide6.xml" Id="Rece3de8a7bb04b6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bb97d4a883a486a" /><Relationship Type="http://schemas.openxmlformats.org/officeDocument/2006/relationships/notesSlide" Target="/ppt/notesSlides/notesSlide7.xml" Id="Rddfd89a833794045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b847fca9ec74452" /><Relationship Type="http://schemas.openxmlformats.org/officeDocument/2006/relationships/notesSlide" Target="/ppt/notesSlides/notesSlide8.xml" Id="Rf56d6efeb99f43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Novelty-first</c:v>
          </c:tx>
          <c:spPr>
            <a:solidFill xmlns:a="http://schemas.openxmlformats.org/drawingml/2006/main">
              <a:srgbClr val="F1E9D6"/>
            </a:solidFill>
            <a:ln xmlns:a="http://schemas.openxmlformats.org/drawingml/2006/main" w="38100">
              <a:solidFill>
                <a:srgbClr val="F1E9D6"/>
              </a:solidFill>
              <a:prstDash val="solid"/>
            </a:ln>
          </c:spPr>
          <c:marker>
            <c:symbol val="none"/>
          </c:marker>
          <c:cat>
            <c:strLit>
              <c:ptCount val="7"/>
              <c:pt idx="0">
                <c:v>W1</c:v>
              </c:pt>
              <c:pt idx="1">
                <c:v>W2</c:v>
              </c:pt>
              <c:pt idx="2">
                <c:v>W4</c:v>
              </c:pt>
              <c:pt idx="3">
                <c:v>W6</c:v>
              </c:pt>
              <c:pt idx="4">
                <c:v>W8</c:v>
              </c:pt>
              <c:pt idx="5">
                <c:v>W10</c:v>
              </c:pt>
              <c:pt idx="6">
                <c:v>W12</c:v>
              </c:pt>
            </c:strLit>
          </c:cat>
          <c:val>
            <c:numLit>
              <c:formatCode>General</c:formatCode>
              <c:ptCount val="7"/>
              <c:pt idx="0">
                <c:v>88</c:v>
              </c:pt>
              <c:pt idx="1">
                <c:v>72</c:v>
              </c:pt>
              <c:pt idx="2">
                <c:v>53</c:v>
              </c:pt>
              <c:pt idx="3">
                <c:v>41</c:v>
              </c:pt>
              <c:pt idx="4">
                <c:v>34</c:v>
              </c:pt>
              <c:pt idx="5">
                <c:v>29</c:v>
              </c:pt>
              <c:pt idx="6">
                <c:v>26</c:v>
              </c:pt>
            </c:numLit>
          </c:val>
        </c:ser>
        <c:ser>
          <c:idx val="1"/>
          <c:order val="1"/>
          <c:tx>
            <c:v>Utility-first</c:v>
          </c:tx>
          <c:spPr>
            <a:solidFill xmlns:a="http://schemas.openxmlformats.org/drawingml/2006/main">
              <a:srgbClr val="3CD896"/>
            </a:solidFill>
            <a:ln xmlns:a="http://schemas.openxmlformats.org/drawingml/2006/main" w="38100">
              <a:solidFill>
                <a:srgbClr val="3CD896"/>
              </a:solidFill>
              <a:prstDash val="solid"/>
            </a:ln>
          </c:spPr>
          <c:marker>
            <c:symbol val="none"/>
          </c:marker>
          <c:cat>
            <c:strLit>
              <c:ptCount val="7"/>
              <c:pt idx="0">
                <c:v>W1</c:v>
              </c:pt>
              <c:pt idx="1">
                <c:v>W2</c:v>
              </c:pt>
              <c:pt idx="2">
                <c:v>W4</c:v>
              </c:pt>
              <c:pt idx="3">
                <c:v>W6</c:v>
              </c:pt>
              <c:pt idx="4">
                <c:v>W8</c:v>
              </c:pt>
              <c:pt idx="5">
                <c:v>W10</c:v>
              </c:pt>
              <c:pt idx="6">
                <c:v>W12</c:v>
              </c:pt>
            </c:strLit>
          </c:cat>
          <c:val>
            <c:numLit>
              <c:formatCode>General</c:formatCode>
              <c:ptCount val="7"/>
              <c:pt idx="0">
                <c:v>76</c:v>
              </c:pt>
              <c:pt idx="1">
                <c:v>69</c:v>
              </c:pt>
              <c:pt idx="2">
                <c:v>61</c:v>
              </c:pt>
              <c:pt idx="3">
                <c:v>57</c:v>
              </c:pt>
              <c:pt idx="4">
                <c:v>54</c:v>
              </c:pt>
              <c:pt idx="5">
                <c:v>52</c:v>
              </c:pt>
              <c:pt idx="6">
                <c:v>50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0">
                <a:latin typeface="Manrope Emerald"/>
                <a:solidFill>
                  <a:srgbClr val="F1E9D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D5A9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0">
                <a:latin typeface="Manrope Emerald"/>
                <a:solidFill>
                  <a:srgbClr val="F1E9D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F1A5C"/>
        </a:solidFill>
        <a:ln xmlns:a="http://schemas.openxmlformats.org/drawingml/2006/main" w="0">
          <a:solidFill>
            <a:srgbClr val="0F1A5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Manrope Emerald"/>
              <a:solidFill>
                <a:srgbClr val="F1E9D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F1A5C"/>
    </a:solidFill>
    <a:ln xmlns:a="http://schemas.openxmlformats.org/drawingml/2006/main" w="0">
      <a:solidFill>
        <a:srgbClr val="0F1A5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Task completed</c:v>
          </c:tx>
          <c:spPr>
            <a:solidFill xmlns:a="http://schemas.openxmlformats.org/drawingml/2006/main">
              <a:srgbClr val="3CD896"/>
            </a:solidFill>
            <a:ln xmlns:a="http://schemas.openxmlformats.org/drawingml/2006/main" w="9525">
              <a:solidFill>
                <a:srgbClr val="3CD896"/>
              </a:solidFill>
              <a:prstDash val="solid"/>
            </a:ln>
          </c:spPr>
          <c:cat>
            <c:strLit>
              <c:ptCount val="3"/>
              <c:pt idx="0">
                <c:v>No guidance</c:v>
              </c:pt>
              <c:pt idx="1">
                <c:v>Generic error</c:v>
              </c:pt>
              <c:pt idx="2">
                <c:v>Clear recovery</c:v>
              </c:pt>
            </c:strLit>
          </c:cat>
          <c:val>
            <c:numLit>
              <c:formatCode>General</c:formatCode>
              <c:ptCount val="3"/>
              <c:pt idx="0">
                <c:v>34</c:v>
              </c:pt>
              <c:pt idx="1">
                <c:v>58</c:v>
              </c:pt>
              <c:pt idx="2">
                <c:v>86</c:v>
              </c:pt>
            </c:numLit>
          </c:val>
        </c:ser>
        <c:ser>
          <c:idx val="1"/>
          <c:order val="1"/>
          <c:tx>
            <c:v>Would return</c:v>
          </c:tx>
          <c:spPr>
            <a:solidFill xmlns:a="http://schemas.openxmlformats.org/drawingml/2006/main">
              <a:srgbClr val="F1E9D6"/>
            </a:solidFill>
            <a:ln xmlns:a="http://schemas.openxmlformats.org/drawingml/2006/main" w="9525">
              <a:solidFill>
                <a:srgbClr val="F1E9D6"/>
              </a:solidFill>
              <a:prstDash val="solid"/>
            </a:ln>
          </c:spPr>
          <c:cat>
            <c:strLit>
              <c:ptCount val="3"/>
              <c:pt idx="0">
                <c:v>No guidance</c:v>
              </c:pt>
              <c:pt idx="1">
                <c:v>Generic error</c:v>
              </c:pt>
              <c:pt idx="2">
                <c:v>Clear recovery</c:v>
              </c:pt>
            </c:strLit>
          </c:cat>
          <c:val>
            <c:numLit>
              <c:formatCode>General</c:formatCode>
              <c:ptCount val="3"/>
              <c:pt idx="0">
                <c:v>22</c:v>
              </c:pt>
              <c:pt idx="1">
                <c:v>47</c:v>
              </c:pt>
              <c:pt idx="2">
                <c:v>79</c:v>
              </c:pt>
            </c:numLit>
          </c:val>
        </c:ser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>
                <a:latin typeface="Manrope Emerald"/>
                <a:solidFill>
                  <a:srgbClr val="F1E9D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4D5A9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0">
                <a:latin typeface="Manrope Emerald"/>
                <a:solidFill>
                  <a:srgbClr val="F1E9D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F1A5C"/>
        </a:solidFill>
        <a:ln xmlns:a="http://schemas.openxmlformats.org/drawingml/2006/main" w="0">
          <a:solidFill>
            <a:srgbClr val="0F1A5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Manrope Emerald"/>
              <a:solidFill>
                <a:srgbClr val="F1E9D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F1A5C"/>
    </a:solidFill>
    <a:ln xmlns:a="http://schemas.openxmlformats.org/drawingml/2006/main" w="0">
      <a:solidFill>
        <a:srgbClr val="0F1A5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cover-masthead">
            <a:extLst xmlns:a="http://schemas.openxmlformats.org/drawingml/2006/main">
              <a:ext uri="{FF2B5EF4-FFF2-40B4-BE49-F238E27FC236}">
                <a16:creationId xmlns:a16="http://schemas.microsoft.com/office/drawing/2014/main" id="{8FF3197D-0AFA-4ED8-9A3E-9F4C8745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FIELD GUIDE NO. 10</a:t>
            </a:r>
          </a:p>
        </p:txBody>
      </p:sp>
      <p:sp>
        <p:nvSpPr>
          <p:cNvPr id="2" name="em-cover-issue">
            <a:extLst xmlns:a="http://schemas.openxmlformats.org/drawingml/2006/main">
              <a:ext uri="{FF2B5EF4-FFF2-40B4-BE49-F238E27FC236}">
                <a16:creationId xmlns:a16="http://schemas.microsoft.com/office/drawing/2014/main" id="{3538A3B5-2BCE-49E0-A0F1-F1ED953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2026 / PRODUCT EDITION</a:t>
            </a:r>
          </a:p>
        </p:txBody>
      </p:sp>
      <p:sp>
        <p:nvSpPr>
          <p:cNvPr id="3" name="em-cover-top-rule">
            <a:extLst xmlns:a="http://schemas.openxmlformats.org/drawingml/2006/main">
              <a:ext uri="{FF2B5EF4-FFF2-40B4-BE49-F238E27FC236}">
                <a16:creationId xmlns:a16="http://schemas.microsoft.com/office/drawing/2014/main" id="{B564AEFB-76E4-4EC8-92BA-9CB73C25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cover-title-a">
            <a:extLst xmlns:a="http://schemas.openxmlformats.org/drawingml/2006/main">
              <a:ext uri="{FF2B5EF4-FFF2-40B4-BE49-F238E27FC236}">
                <a16:creationId xmlns:a16="http://schemas.microsoft.com/office/drawing/2014/main" id="{216899B8-C75B-4D1C-91B8-50E32AF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58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THE</a:t>
            </a:r>
          </a:p>
        </p:txBody>
      </p:sp>
      <p:sp>
        <p:nvSpPr>
          <p:cNvPr id="5" name="em-cover-ornament-l1">
            <a:extLst xmlns:a="http://schemas.openxmlformats.org/drawingml/2006/main">
              <a:ext uri="{FF2B5EF4-FFF2-40B4-BE49-F238E27FC236}">
                <a16:creationId xmlns:a16="http://schemas.microsoft.com/office/drawing/2014/main" id="{DB3BFB53-745F-4622-BE4D-3266C01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m-cover-ornament-l2">
            <a:extLst xmlns:a="http://schemas.openxmlformats.org/drawingml/2006/main">
              <a:ext uri="{FF2B5EF4-FFF2-40B4-BE49-F238E27FC236}">
                <a16:creationId xmlns:a16="http://schemas.microsoft.com/office/drawing/2014/main" id="{330C3C34-593E-443D-99EB-BA428ED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m-cover-ornament-r1">
            <a:extLst xmlns:a="http://schemas.openxmlformats.org/drawingml/2006/main">
              <a:ext uri="{FF2B5EF4-FFF2-40B4-BE49-F238E27FC236}">
                <a16:creationId xmlns:a16="http://schemas.microsoft.com/office/drawing/2014/main" id="{8B6CEAF0-D63B-45AC-A4BD-D8AC143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-cover-ornament-r2">
            <a:extLst xmlns:a="http://schemas.openxmlformats.org/drawingml/2006/main">
              <a:ext uri="{FF2B5EF4-FFF2-40B4-BE49-F238E27FC236}">
                <a16:creationId xmlns:a16="http://schemas.microsoft.com/office/drawing/2014/main" id="{0E993B4B-C42A-4EE8-8BB4-C4DD1CB8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90775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m-cover-ornament-word">
            <a:extLst xmlns:a="http://schemas.openxmlformats.org/drawingml/2006/main">
              <a:ext uri="{FF2B5EF4-FFF2-40B4-BE49-F238E27FC236}">
                <a16:creationId xmlns:a16="http://schemas.microsoft.com/office/drawing/2014/main" id="{D30BE020-EAAD-455E-BE7F-C00C8A7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37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LONG</a:t>
            </a:r>
          </a:p>
        </p:txBody>
      </p:sp>
      <p:sp>
        <p:nvSpPr>
          <p:cNvPr id="10" name="em-cover-title-b">
            <a:extLst xmlns:a="http://schemas.openxmlformats.org/drawingml/2006/main">
              <a:ext uri="{FF2B5EF4-FFF2-40B4-BE49-F238E27FC236}">
                <a16:creationId xmlns:a16="http://schemas.microsoft.com/office/drawing/2014/main" id="{EA6914EE-10B3-4299-A38D-24B25B18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1125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4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94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GAME.</a:t>
            </a:r>
          </a:p>
        </p:txBody>
      </p:sp>
      <p:sp>
        <p:nvSpPr>
          <p:cNvPr id="11" name="em-cover-caption-bg">
            <a:extLst xmlns:a="http://schemas.openxmlformats.org/drawingml/2006/main">
              <a:ext uri="{FF2B5EF4-FFF2-40B4-BE49-F238E27FC236}">
                <a16:creationId xmlns:a16="http://schemas.microsoft.com/office/drawing/2014/main" id="{63CCB40A-E89F-4048-9B84-EB9BDBB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33950"/>
            <a:ext cx="4686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m-cover-caption">
            <a:extLst xmlns:a="http://schemas.openxmlformats.org/drawingml/2006/main">
              <a:ext uri="{FF2B5EF4-FFF2-40B4-BE49-F238E27FC236}">
                <a16:creationId xmlns:a16="http://schemas.microsoft.com/office/drawing/2014/main" id="{98918182-4E62-4374-AE65-7958F27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244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27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WHY ENDURING PRODUCTS GROW QUIETLY</a:t>
            </a:r>
          </a:p>
        </p:txBody>
      </p:sp>
      <p:sp>
        <p:nvSpPr>
          <p:cNvPr id="13" name="em-cover-bottom-rule">
            <a:extLst xmlns:a="http://schemas.openxmlformats.org/drawingml/2006/main">
              <a:ext uri="{FF2B5EF4-FFF2-40B4-BE49-F238E27FC236}">
                <a16:creationId xmlns:a16="http://schemas.microsoft.com/office/drawing/2014/main" id="{6F408A87-D070-431F-B180-12264277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m-cover-credit">
            <a:extLst xmlns:a="http://schemas.openxmlformats.org/drawingml/2006/main">
              <a:ext uri="{FF2B5EF4-FFF2-40B4-BE49-F238E27FC236}">
                <a16:creationId xmlns:a16="http://schemas.microsoft.com/office/drawing/2014/main" id="{C329ED7A-04C2-4B0D-8752-D19F7D48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7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EMERALD EDITORIAL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390530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2">
            <a:extLst xmlns:a="http://schemas.openxmlformats.org/drawingml/2006/main">
              <a:ext uri="{FF2B5EF4-FFF2-40B4-BE49-F238E27FC236}">
                <a16:creationId xmlns:a16="http://schemas.microsoft.com/office/drawing/2014/main" id="{247F8DE9-70DD-4411-8C47-CAAD0E6C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THE PREMISE</a:t>
            </a:r>
          </a:p>
        </p:txBody>
      </p:sp>
      <p:sp>
        <p:nvSpPr>
          <p:cNvPr id="2" name="em-page-2">
            <a:extLst xmlns:a="http://schemas.openxmlformats.org/drawingml/2006/main">
              <a:ext uri="{FF2B5EF4-FFF2-40B4-BE49-F238E27FC236}">
                <a16:creationId xmlns:a16="http://schemas.microsoft.com/office/drawing/2014/main" id="{B61E6D11-F134-412C-A123-B4D11AE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02 / 08</a:t>
            </a:r>
          </a:p>
        </p:txBody>
      </p:sp>
      <p:sp>
        <p:nvSpPr>
          <p:cNvPr id="3" name="em-top-rule-2">
            <a:extLst xmlns:a="http://schemas.openxmlformats.org/drawingml/2006/main">
              <a:ext uri="{FF2B5EF4-FFF2-40B4-BE49-F238E27FC236}">
                <a16:creationId xmlns:a16="http://schemas.microsoft.com/office/drawing/2014/main" id="{93413029-F04F-44F3-B16A-A56A51DC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2">
            <a:extLst xmlns:a="http://schemas.openxmlformats.org/drawingml/2006/main">
              <a:ext uri="{FF2B5EF4-FFF2-40B4-BE49-F238E27FC236}">
                <a16:creationId xmlns:a16="http://schemas.microsoft.com/office/drawing/2014/main" id="{7C6519F9-3BAD-4896-ABAF-86DB5910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2">
            <a:extLst xmlns:a="http://schemas.openxmlformats.org/drawingml/2006/main">
              <a:ext uri="{FF2B5EF4-FFF2-40B4-BE49-F238E27FC236}">
                <a16:creationId xmlns:a16="http://schemas.microsoft.com/office/drawing/2014/main" id="{435316B4-C810-4A76-93DB-980770E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premise-ten">
            <a:extLst xmlns:a="http://schemas.openxmlformats.org/drawingml/2006/main">
              <a:ext uri="{FF2B5EF4-FFF2-40B4-BE49-F238E27FC236}">
                <a16:creationId xmlns:a16="http://schemas.microsoft.com/office/drawing/2014/main" id="{10AE7E0F-302D-4616-9DD9-979E285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4762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325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10</a:t>
            </a:r>
          </a:p>
        </p:txBody>
      </p:sp>
      <p:sp>
        <p:nvSpPr>
          <p:cNvPr id="7" name="em-premise-divider">
            <a:extLst xmlns:a="http://schemas.openxmlformats.org/drawingml/2006/main">
              <a:ext uri="{FF2B5EF4-FFF2-40B4-BE49-F238E27FC236}">
                <a16:creationId xmlns:a16="http://schemas.microsoft.com/office/drawing/2014/main" id="{5BDACCFE-9EC0-4A5F-9630-ECF03AF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104900"/>
            <a:ext cx="381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-premise-title">
            <a:extLst xmlns:a="http://schemas.openxmlformats.org/drawingml/2006/main">
              <a:ext uri="{FF2B5EF4-FFF2-40B4-BE49-F238E27FC236}">
                <a16:creationId xmlns:a16="http://schemas.microsoft.com/office/drawing/2014/main" id="{B2CA59DA-3482-41DF-890B-32B11422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00150"/>
            <a:ext cx="5638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75" b="1" i="0">
                <a:solidFill>
                  <a:srgbClr val="F1E9D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4275" b="1" i="0">
                <a:solidFill>
                  <a:srgbClr val="F1E9D6"/>
                </a:solidFill>
                <a:latin typeface="Bodoni Moda Emerald"/>
                <a:ea typeface="Bodoni Moda Emerald"/>
                <a:cs typeface="Bodoni Moda Emerald"/>
              </a:rPr>
              <a:t>The tenth return matters more than the first click.</a:t>
            </a:r>
          </a:p>
        </p:txBody>
      </p:sp>
      <p:sp>
        <p:nvSpPr>
          <p:cNvPr id="9" name="em-premise-body">
            <a:extLst xmlns:a="http://schemas.openxmlformats.org/drawingml/2006/main">
              <a:ext uri="{FF2B5EF4-FFF2-40B4-BE49-F238E27FC236}">
                <a16:creationId xmlns:a16="http://schemas.microsoft.com/office/drawing/2014/main" id="{25AE9F4F-2587-4EA0-8574-82F8CBA5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576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650" b="0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Novelty can win a moment. Durable value earns a place in someone’s week.</a:t>
            </a:r>
          </a:p>
        </p:txBody>
      </p:sp>
    </p:spTree>
    <p:extLst>
      <p:ext uri="{BB962C8B-B14F-4D97-AF65-F5344CB8AC3E}">
        <p14:creationId xmlns:p14="http://schemas.microsoft.com/office/powerpoint/2010/main" val="635358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3">
            <a:extLst xmlns:a="http://schemas.openxmlformats.org/drawingml/2006/main">
              <a:ext uri="{FF2B5EF4-FFF2-40B4-BE49-F238E27FC236}">
                <a16:creationId xmlns:a16="http://schemas.microsoft.com/office/drawing/2014/main" id="{FC52FD55-A443-4476-95D8-21E271D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THREE SIGNALS</a:t>
            </a:r>
          </a:p>
        </p:txBody>
      </p:sp>
      <p:sp>
        <p:nvSpPr>
          <p:cNvPr id="2" name="em-page-3">
            <a:extLst xmlns:a="http://schemas.openxmlformats.org/drawingml/2006/main">
              <a:ext uri="{FF2B5EF4-FFF2-40B4-BE49-F238E27FC236}">
                <a16:creationId xmlns:a16="http://schemas.microsoft.com/office/drawing/2014/main" id="{F55C88BD-0308-48DA-B027-34D3FEC5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03 / 08</a:t>
            </a:r>
          </a:p>
        </p:txBody>
      </p:sp>
      <p:sp>
        <p:nvSpPr>
          <p:cNvPr id="3" name="em-top-rule-3">
            <a:extLst xmlns:a="http://schemas.openxmlformats.org/drawingml/2006/main">
              <a:ext uri="{FF2B5EF4-FFF2-40B4-BE49-F238E27FC236}">
                <a16:creationId xmlns:a16="http://schemas.microsoft.com/office/drawing/2014/main" id="{1C66DC91-E9A5-4B25-9084-AFF76DAA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3">
            <a:extLst xmlns:a="http://schemas.openxmlformats.org/drawingml/2006/main">
              <a:ext uri="{FF2B5EF4-FFF2-40B4-BE49-F238E27FC236}">
                <a16:creationId xmlns:a16="http://schemas.microsoft.com/office/drawing/2014/main" id="{5BA24305-72F3-42E3-9197-A379426E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3">
            <a:extLst xmlns:a="http://schemas.openxmlformats.org/drawingml/2006/main">
              <a:ext uri="{FF2B5EF4-FFF2-40B4-BE49-F238E27FC236}">
                <a16:creationId xmlns:a16="http://schemas.microsoft.com/office/drawing/2014/main" id="{310BA8C3-6A97-423B-9C03-CF7B88A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signals-title">
            <a:extLst xmlns:a="http://schemas.openxmlformats.org/drawingml/2006/main">
              <a:ext uri="{FF2B5EF4-FFF2-40B4-BE49-F238E27FC236}">
                <a16:creationId xmlns:a16="http://schemas.microsoft.com/office/drawing/2014/main" id="{30D7CB36-5D42-49FC-A1D9-A03D198E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66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53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42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Durability leaves three visible signals.</a:t>
            </a:r>
          </a:p>
        </p:txBody>
      </p:sp>
      <p:sp>
        <p:nvSpPr>
          <p:cNvPr id="7" name="em-signal-0">
            <a:extLst xmlns:a="http://schemas.openxmlformats.org/drawingml/2006/main">
              <a:ext uri="{FF2B5EF4-FFF2-40B4-BE49-F238E27FC236}">
                <a16:creationId xmlns:a16="http://schemas.microsoft.com/office/drawing/2014/main" id="{47826540-33E5-42CF-8C3B-C34BB0C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-signal-num-0">
            <a:extLst xmlns:a="http://schemas.openxmlformats.org/drawingml/2006/main">
              <a:ext uri="{FF2B5EF4-FFF2-40B4-BE49-F238E27FC236}">
                <a16:creationId xmlns:a16="http://schemas.microsoft.com/office/drawing/2014/main" id="{349044BB-EF97-483A-98F1-CEC6D90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9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01</a:t>
            </a:r>
          </a:p>
        </p:txBody>
      </p:sp>
      <p:sp>
        <p:nvSpPr>
          <p:cNvPr id="9" name="em-signal-rule-0">
            <a:extLst xmlns:a="http://schemas.openxmlformats.org/drawingml/2006/main">
              <a:ext uri="{FF2B5EF4-FFF2-40B4-BE49-F238E27FC236}">
                <a16:creationId xmlns:a16="http://schemas.microsoft.com/office/drawing/2014/main" id="{A4FEA810-7EEA-4237-AFA4-3E6F1B5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m-signal-title-0">
            <a:extLst xmlns:a="http://schemas.openxmlformats.org/drawingml/2006/main">
              <a:ext uri="{FF2B5EF4-FFF2-40B4-BE49-F238E27FC236}">
                <a16:creationId xmlns:a16="http://schemas.microsoft.com/office/drawing/2014/main" id="{320E89C4-8C7F-4056-B068-2569518F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6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RETURN</a:t>
            </a:r>
          </a:p>
        </p:txBody>
      </p:sp>
      <p:sp>
        <p:nvSpPr>
          <p:cNvPr id="11" name="em-signal-body-0">
            <a:extLst xmlns:a="http://schemas.openxmlformats.org/drawingml/2006/main">
              <a:ext uri="{FF2B5EF4-FFF2-40B4-BE49-F238E27FC236}">
                <a16:creationId xmlns:a16="http://schemas.microsoft.com/office/drawing/2014/main" id="{0B820E58-FA8E-439B-9E66-749F506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1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People come back without a notification.</a:t>
            </a:r>
          </a:p>
        </p:txBody>
      </p:sp>
      <p:sp>
        <p:nvSpPr>
          <p:cNvPr id="12" name="em-signal-1">
            <a:extLst xmlns:a="http://schemas.openxmlformats.org/drawingml/2006/main">
              <a:ext uri="{FF2B5EF4-FFF2-40B4-BE49-F238E27FC236}">
                <a16:creationId xmlns:a16="http://schemas.microsoft.com/office/drawing/2014/main" id="{BC279580-6C93-415D-9E07-1DE253C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m-signal-num-1">
            <a:extLst xmlns:a="http://schemas.openxmlformats.org/drawingml/2006/main">
              <a:ext uri="{FF2B5EF4-FFF2-40B4-BE49-F238E27FC236}">
                <a16:creationId xmlns:a16="http://schemas.microsoft.com/office/drawing/2014/main" id="{9153E9CD-1A19-4F2F-9B2A-3D583F7F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9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02</a:t>
            </a:r>
          </a:p>
        </p:txBody>
      </p:sp>
      <p:sp>
        <p:nvSpPr>
          <p:cNvPr id="14" name="em-signal-rule-1">
            <a:extLst xmlns:a="http://schemas.openxmlformats.org/drawingml/2006/main">
              <a:ext uri="{FF2B5EF4-FFF2-40B4-BE49-F238E27FC236}">
                <a16:creationId xmlns:a16="http://schemas.microsoft.com/office/drawing/2014/main" id="{6A8C8B4E-D8E7-45A8-827A-A4D49572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86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m-signal-title-1">
            <a:extLst xmlns:a="http://schemas.openxmlformats.org/drawingml/2006/main">
              <a:ext uri="{FF2B5EF4-FFF2-40B4-BE49-F238E27FC236}">
                <a16:creationId xmlns:a16="http://schemas.microsoft.com/office/drawing/2014/main" id="{707F622E-8AE8-40F9-BF28-7A0C9ED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6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RECOVER</a:t>
            </a:r>
          </a:p>
        </p:txBody>
      </p:sp>
      <p:sp>
        <p:nvSpPr>
          <p:cNvPr id="16" name="em-signal-body-1">
            <a:extLst xmlns:a="http://schemas.openxmlformats.org/drawingml/2006/main">
              <a:ext uri="{FF2B5EF4-FFF2-40B4-BE49-F238E27FC236}">
                <a16:creationId xmlns:a16="http://schemas.microsoft.com/office/drawing/2014/main" id="{1901EF2D-67ED-4309-85A8-1B1FB06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17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A mistake becomes repairable, not terminal.</a:t>
            </a:r>
          </a:p>
        </p:txBody>
      </p:sp>
      <p:sp>
        <p:nvSpPr>
          <p:cNvPr id="17" name="em-signal-2">
            <a:extLst xmlns:a="http://schemas.openxmlformats.org/drawingml/2006/main">
              <a:ext uri="{FF2B5EF4-FFF2-40B4-BE49-F238E27FC236}">
                <a16:creationId xmlns:a16="http://schemas.microsoft.com/office/drawing/2014/main" id="{562A5E3E-728D-4B8A-901B-2F69F8C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m-signal-num-2">
            <a:extLst xmlns:a="http://schemas.openxmlformats.org/drawingml/2006/main">
              <a:ext uri="{FF2B5EF4-FFF2-40B4-BE49-F238E27FC236}">
                <a16:creationId xmlns:a16="http://schemas.microsoft.com/office/drawing/2014/main" id="{4216B84C-E750-4591-BB11-D47F3137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9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03</a:t>
            </a:r>
          </a:p>
        </p:txBody>
      </p:sp>
      <p:sp>
        <p:nvSpPr>
          <p:cNvPr id="19" name="em-signal-rule-2">
            <a:extLst xmlns:a="http://schemas.openxmlformats.org/drawingml/2006/main">
              <a:ext uri="{FF2B5EF4-FFF2-40B4-BE49-F238E27FC236}">
                <a16:creationId xmlns:a16="http://schemas.microsoft.com/office/drawing/2014/main" id="{3A629754-E5AD-4371-8AB1-057424A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m-signal-title-2">
            <a:extLst xmlns:a="http://schemas.openxmlformats.org/drawingml/2006/main">
              <a:ext uri="{FF2B5EF4-FFF2-40B4-BE49-F238E27FC236}">
                <a16:creationId xmlns:a16="http://schemas.microsoft.com/office/drawing/2014/main" id="{D1A22C07-BBAB-460C-BCFC-AAC38EB2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6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RESTRAIN</a:t>
            </a:r>
          </a:p>
        </p:txBody>
      </p:sp>
      <p:sp>
        <p:nvSpPr>
          <p:cNvPr id="21" name="em-signal-body-2">
            <a:extLst xmlns:a="http://schemas.openxmlformats.org/drawingml/2006/main">
              <a:ext uri="{FF2B5EF4-FFF2-40B4-BE49-F238E27FC236}">
                <a16:creationId xmlns:a16="http://schemas.microsoft.com/office/drawing/2014/main" id="{AE23E817-3CB6-4060-8D24-E97AEE7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71950"/>
            <a:ext cx="2800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1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The product knows what it should not become.</a:t>
            </a:r>
          </a:p>
        </p:txBody>
      </p:sp>
    </p:spTree>
    <p:extLst>
      <p:ext uri="{BB962C8B-B14F-4D97-AF65-F5344CB8AC3E}">
        <p14:creationId xmlns:p14="http://schemas.microsoft.com/office/powerpoint/2010/main" val="1408950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4">
            <a:extLst xmlns:a="http://schemas.openxmlformats.org/drawingml/2006/main">
              <a:ext uri="{FF2B5EF4-FFF2-40B4-BE49-F238E27FC236}">
                <a16:creationId xmlns:a16="http://schemas.microsoft.com/office/drawing/2014/main" id="{01F3FB59-7BCD-4962-A568-9F88756B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RETURN CURVE</a:t>
            </a:r>
          </a:p>
        </p:txBody>
      </p:sp>
      <p:sp>
        <p:nvSpPr>
          <p:cNvPr id="2" name="em-page-4">
            <a:extLst xmlns:a="http://schemas.openxmlformats.org/drawingml/2006/main">
              <a:ext uri="{FF2B5EF4-FFF2-40B4-BE49-F238E27FC236}">
                <a16:creationId xmlns:a16="http://schemas.microsoft.com/office/drawing/2014/main" id="{E8854D87-62C6-41C6-9D87-470DB7C5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04 / 08</a:t>
            </a:r>
          </a:p>
        </p:txBody>
      </p:sp>
      <p:sp>
        <p:nvSpPr>
          <p:cNvPr id="3" name="em-top-rule-4">
            <a:extLst xmlns:a="http://schemas.openxmlformats.org/drawingml/2006/main">
              <a:ext uri="{FF2B5EF4-FFF2-40B4-BE49-F238E27FC236}">
                <a16:creationId xmlns:a16="http://schemas.microsoft.com/office/drawing/2014/main" id="{41B24D49-9367-42E1-BDB6-71550800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4">
            <a:extLst xmlns:a="http://schemas.openxmlformats.org/drawingml/2006/main">
              <a:ext uri="{FF2B5EF4-FFF2-40B4-BE49-F238E27FC236}">
                <a16:creationId xmlns:a16="http://schemas.microsoft.com/office/drawing/2014/main" id="{28B61C11-6AB6-432F-B43E-70AEA797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4">
            <a:extLst xmlns:a="http://schemas.openxmlformats.org/drawingml/2006/main">
              <a:ext uri="{FF2B5EF4-FFF2-40B4-BE49-F238E27FC236}">
                <a16:creationId xmlns:a16="http://schemas.microsoft.com/office/drawing/2014/main" id="{E25DB305-C7C4-41BB-B5F9-C8B84A5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retention-title">
            <a:extLst xmlns:a="http://schemas.openxmlformats.org/drawingml/2006/main">
              <a:ext uri="{FF2B5EF4-FFF2-40B4-BE49-F238E27FC236}">
                <a16:creationId xmlns:a16="http://schemas.microsoft.com/office/drawing/2014/main" id="{09B9CED8-5B59-462E-B7A3-5451817E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40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Utility outlasts novelty.</a:t>
            </a:r>
          </a:p>
        </p:txBody>
      </p:sp>
      <p:sp>
        <p:nvSpPr>
          <p:cNvPr id="7" name="em-retention-copy">
            <a:extLst xmlns:a="http://schemas.openxmlformats.org/drawingml/2006/main">
              <a:ext uri="{FF2B5EF4-FFF2-40B4-BE49-F238E27FC236}">
                <a16:creationId xmlns:a16="http://schemas.microsoft.com/office/drawing/2014/main" id="{4544C340-859E-465F-94EA-E3DFE214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790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500" b="0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useful cohort starts lower, then keeps more of the people who found a real weekly job.</a:t>
            </a:r>
          </a:p>
        </p:txBody>
      </p:sp>
      <p:sp>
        <p:nvSpPr>
          <p:cNvPr id="8" name="em-retention-label">
            <a:extLst xmlns:a="http://schemas.openxmlformats.org/drawingml/2006/main">
              <a:ext uri="{FF2B5EF4-FFF2-40B4-BE49-F238E27FC236}">
                <a16:creationId xmlns:a16="http://schemas.microsoft.com/office/drawing/2014/main" id="{8D3AAE73-4561-4C79-86D6-D9A8ED26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306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m-retention-label-text">
            <a:extLst xmlns:a="http://schemas.openxmlformats.org/drawingml/2006/main">
              <a:ext uri="{FF2B5EF4-FFF2-40B4-BE49-F238E27FC236}">
                <a16:creationId xmlns:a16="http://schemas.microsoft.com/office/drawing/2014/main" id="{39C2E005-9140-4FE0-A773-3E1F9780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97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ILLUSTRATIVE 12-WEEK COHORT</a:t>
            </a:r>
          </a:p>
        </p:txBody>
      </p:sp>
      <p:sp>
        <p:nvSpPr>
          <p:cNvPr id="10" name="em-retention-chart-bg">
            <a:extLst xmlns:a="http://schemas.openxmlformats.org/drawingml/2006/main">
              <a:ext uri="{FF2B5EF4-FFF2-40B4-BE49-F238E27FC236}">
                <a16:creationId xmlns:a16="http://schemas.microsoft.com/office/drawing/2014/main" id="{1A811994-928C-49DE-94E9-54144C7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68961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em-retention-chart"/>
          <p:cNvGraphicFramePr/>
          <p:nvPr/>
        </p:nvGraphicFramePr>
        <p:xfrm>
          <a:off xmlns:a="http://schemas.openxmlformats.org/drawingml/2006/main" x="5105400" y="1295400"/>
          <a:ext xmlns:a="http://schemas.openxmlformats.org/drawingml/2006/main" cx="6210300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2f1ea6e6184a36"/>
          </a:graphicData>
        </a:graphic>
      </p:graphicFrame>
    </p:spTree>
    <p:extLst>
      <p:ext uri="{BB962C8B-B14F-4D97-AF65-F5344CB8AC3E}">
        <p14:creationId xmlns:p14="http://schemas.microsoft.com/office/powerpoint/2010/main" val="1887285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5">
            <a:extLst xmlns:a="http://schemas.openxmlformats.org/drawingml/2006/main">
              <a:ext uri="{FF2B5EF4-FFF2-40B4-BE49-F238E27FC236}">
                <a16:creationId xmlns:a16="http://schemas.microsoft.com/office/drawing/2014/main" id="{09C61DCB-DC22-4659-B2C2-531B237F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VALUE LOOP</a:t>
            </a:r>
          </a:p>
        </p:txBody>
      </p:sp>
      <p:sp>
        <p:nvSpPr>
          <p:cNvPr id="2" name="em-page-5">
            <a:extLst xmlns:a="http://schemas.openxmlformats.org/drawingml/2006/main">
              <a:ext uri="{FF2B5EF4-FFF2-40B4-BE49-F238E27FC236}">
                <a16:creationId xmlns:a16="http://schemas.microsoft.com/office/drawing/2014/main" id="{EE71F0EC-1737-444A-9292-AC7D6D6F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05 / 08</a:t>
            </a:r>
          </a:p>
        </p:txBody>
      </p:sp>
      <p:sp>
        <p:nvSpPr>
          <p:cNvPr id="3" name="em-top-rule-5">
            <a:extLst xmlns:a="http://schemas.openxmlformats.org/drawingml/2006/main">
              <a:ext uri="{FF2B5EF4-FFF2-40B4-BE49-F238E27FC236}">
                <a16:creationId xmlns:a16="http://schemas.microsoft.com/office/drawing/2014/main" id="{80BBBF98-C2A1-4ABF-B411-62C45DF4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5">
            <a:extLst xmlns:a="http://schemas.openxmlformats.org/drawingml/2006/main">
              <a:ext uri="{FF2B5EF4-FFF2-40B4-BE49-F238E27FC236}">
                <a16:creationId xmlns:a16="http://schemas.microsoft.com/office/drawing/2014/main" id="{58A89DDD-6076-426B-BB1F-4A7270E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5">
            <a:extLst xmlns:a="http://schemas.openxmlformats.org/drawingml/2006/main">
              <a:ext uri="{FF2B5EF4-FFF2-40B4-BE49-F238E27FC236}">
                <a16:creationId xmlns:a16="http://schemas.microsoft.com/office/drawing/2014/main" id="{E05629D1-4004-41D2-A385-5BC27A66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loop-title">
            <a:extLst xmlns:a="http://schemas.openxmlformats.org/drawingml/2006/main">
              <a:ext uri="{FF2B5EF4-FFF2-40B4-BE49-F238E27FC236}">
                <a16:creationId xmlns:a16="http://schemas.microsoft.com/office/drawing/2014/main" id="{874952C2-F6E6-4873-8935-76E9570F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87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43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Trust grows in a four-beat loop.</a:t>
            </a:r>
          </a:p>
        </p:txBody>
      </p:sp>
      <p:sp>
        <p:nvSpPr>
          <p:cNvPr id="7" name="em-loop-step-0">
            <a:extLst xmlns:a="http://schemas.openxmlformats.org/drawingml/2006/main">
              <a:ext uri="{FF2B5EF4-FFF2-40B4-BE49-F238E27FC236}">
                <a16:creationId xmlns:a16="http://schemas.microsoft.com/office/drawing/2014/main" id="{18E7DEF9-1124-44CF-9D5A-2FD746BB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5146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-loop-num-0">
            <a:extLst xmlns:a="http://schemas.openxmlformats.org/drawingml/2006/main">
              <a:ext uri="{FF2B5EF4-FFF2-40B4-BE49-F238E27FC236}">
                <a16:creationId xmlns:a16="http://schemas.microsoft.com/office/drawing/2014/main" id="{02680EF7-073F-4119-8425-644C9B6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0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01</a:t>
            </a:r>
          </a:p>
        </p:txBody>
      </p:sp>
      <p:sp>
        <p:nvSpPr>
          <p:cNvPr id="9" name="em-loop-rule-0">
            <a:extLst xmlns:a="http://schemas.openxmlformats.org/drawingml/2006/main">
              <a:ext uri="{FF2B5EF4-FFF2-40B4-BE49-F238E27FC236}">
                <a16:creationId xmlns:a16="http://schemas.microsoft.com/office/drawing/2014/main" id="{5610A278-D5B2-4B9C-9F61-0BCAA16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m-loop-title-0">
            <a:extLst xmlns:a="http://schemas.openxmlformats.org/drawingml/2006/main">
              <a:ext uri="{FF2B5EF4-FFF2-40B4-BE49-F238E27FC236}">
                <a16:creationId xmlns:a16="http://schemas.microsoft.com/office/drawing/2014/main" id="{E5A7DC76-9C5C-4C30-B1F9-BC29723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4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PROMISE</a:t>
            </a:r>
          </a:p>
        </p:txBody>
      </p:sp>
      <p:sp>
        <p:nvSpPr>
          <p:cNvPr id="11" name="em-loop-body-0">
            <a:extLst xmlns:a="http://schemas.openxmlformats.org/drawingml/2006/main">
              <a:ext uri="{FF2B5EF4-FFF2-40B4-BE49-F238E27FC236}">
                <a16:creationId xmlns:a16="http://schemas.microsoft.com/office/drawing/2014/main" id="{BE017AE5-56D9-43D8-BCB1-92F297B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02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Say one useful thing clearly.</a:t>
            </a:r>
          </a:p>
        </p:txBody>
      </p:sp>
      <p:sp>
        <p:nvSpPr>
          <p:cNvPr id="12" name="em-loop-step-1">
            <a:extLst xmlns:a="http://schemas.openxmlformats.org/drawingml/2006/main">
              <a:ext uri="{FF2B5EF4-FFF2-40B4-BE49-F238E27FC236}">
                <a16:creationId xmlns:a16="http://schemas.microsoft.com/office/drawing/2014/main" id="{51EFC44C-F151-4794-BF35-0F00B0E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5146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m-loop-num-1">
            <a:extLst xmlns:a="http://schemas.openxmlformats.org/drawingml/2006/main">
              <a:ext uri="{FF2B5EF4-FFF2-40B4-BE49-F238E27FC236}">
                <a16:creationId xmlns:a16="http://schemas.microsoft.com/office/drawing/2014/main" id="{80085333-27EC-42BB-8242-A246EFF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0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02</a:t>
            </a:r>
          </a:p>
        </p:txBody>
      </p:sp>
      <p:sp>
        <p:nvSpPr>
          <p:cNvPr id="14" name="em-loop-rule-1">
            <a:extLst xmlns:a="http://schemas.openxmlformats.org/drawingml/2006/main">
              <a:ext uri="{FF2B5EF4-FFF2-40B4-BE49-F238E27FC236}">
                <a16:creationId xmlns:a16="http://schemas.microsoft.com/office/drawing/2014/main" id="{9DC8637C-7198-42B5-8C7F-9152DB54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m-loop-title-1">
            <a:extLst xmlns:a="http://schemas.openxmlformats.org/drawingml/2006/main">
              <a:ext uri="{FF2B5EF4-FFF2-40B4-BE49-F238E27FC236}">
                <a16:creationId xmlns:a16="http://schemas.microsoft.com/office/drawing/2014/main" id="{A657163E-FF39-4BAE-B150-B13DB31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4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WIN</a:t>
            </a:r>
          </a:p>
        </p:txBody>
      </p:sp>
      <p:sp>
        <p:nvSpPr>
          <p:cNvPr id="16" name="em-loop-body-1">
            <a:extLst xmlns:a="http://schemas.openxmlformats.org/drawingml/2006/main">
              <a:ext uri="{FF2B5EF4-FFF2-40B4-BE49-F238E27FC236}">
                <a16:creationId xmlns:a16="http://schemas.microsoft.com/office/drawing/2014/main" id="{9DE90A14-BCAB-426D-8B94-E6CFEE9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02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Deliver value before setup becomes work.</a:t>
            </a:r>
          </a:p>
        </p:txBody>
      </p:sp>
      <p:sp>
        <p:nvSpPr>
          <p:cNvPr id="17" name="em-loop-step-2">
            <a:extLst xmlns:a="http://schemas.openxmlformats.org/drawingml/2006/main">
              <a:ext uri="{FF2B5EF4-FFF2-40B4-BE49-F238E27FC236}">
                <a16:creationId xmlns:a16="http://schemas.microsoft.com/office/drawing/2014/main" id="{787CFABA-08C4-482C-930B-BF3A192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5146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m-loop-num-2">
            <a:extLst xmlns:a="http://schemas.openxmlformats.org/drawingml/2006/main">
              <a:ext uri="{FF2B5EF4-FFF2-40B4-BE49-F238E27FC236}">
                <a16:creationId xmlns:a16="http://schemas.microsoft.com/office/drawing/2014/main" id="{5F8864C4-03AC-4B26-A94B-A063A9B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0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03</a:t>
            </a:r>
          </a:p>
        </p:txBody>
      </p:sp>
      <p:sp>
        <p:nvSpPr>
          <p:cNvPr id="19" name="em-loop-rule-2">
            <a:extLst xmlns:a="http://schemas.openxmlformats.org/drawingml/2006/main">
              <a:ext uri="{FF2B5EF4-FFF2-40B4-BE49-F238E27FC236}">
                <a16:creationId xmlns:a16="http://schemas.microsoft.com/office/drawing/2014/main" id="{E769C66C-6895-47B2-B8CF-53B2BE52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m-loop-title-2">
            <a:extLst xmlns:a="http://schemas.openxmlformats.org/drawingml/2006/main">
              <a:ext uri="{FF2B5EF4-FFF2-40B4-BE49-F238E27FC236}">
                <a16:creationId xmlns:a16="http://schemas.microsoft.com/office/drawing/2014/main" id="{9FDC02F2-0361-4E49-8F77-77921E5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4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REPAIR</a:t>
            </a:r>
          </a:p>
        </p:txBody>
      </p:sp>
      <p:sp>
        <p:nvSpPr>
          <p:cNvPr id="21" name="em-loop-body-2">
            <a:extLst xmlns:a="http://schemas.openxmlformats.org/drawingml/2006/main">
              <a:ext uri="{FF2B5EF4-FFF2-40B4-BE49-F238E27FC236}">
                <a16:creationId xmlns:a16="http://schemas.microsoft.com/office/drawing/2014/main" id="{C2828E19-8BD1-45DD-ADB3-A0464B5C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02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Make the second chance obvious.</a:t>
            </a:r>
          </a:p>
        </p:txBody>
      </p:sp>
      <p:sp>
        <p:nvSpPr>
          <p:cNvPr id="22" name="em-loop-step-3">
            <a:extLst xmlns:a="http://schemas.openxmlformats.org/drawingml/2006/main">
              <a:ext uri="{FF2B5EF4-FFF2-40B4-BE49-F238E27FC236}">
                <a16:creationId xmlns:a16="http://schemas.microsoft.com/office/drawing/2014/main" id="{6259E8D0-AB2B-47D0-8272-152F564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5146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m-loop-num-3">
            <a:extLst xmlns:a="http://schemas.openxmlformats.org/drawingml/2006/main">
              <a:ext uri="{FF2B5EF4-FFF2-40B4-BE49-F238E27FC236}">
                <a16:creationId xmlns:a16="http://schemas.microsoft.com/office/drawing/2014/main" id="{BE70CF7D-1A90-4C56-8619-3D05DC3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0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04</a:t>
            </a:r>
          </a:p>
        </p:txBody>
      </p:sp>
      <p:sp>
        <p:nvSpPr>
          <p:cNvPr id="24" name="em-loop-rule-3">
            <a:extLst xmlns:a="http://schemas.openxmlformats.org/drawingml/2006/main">
              <a:ext uri="{FF2B5EF4-FFF2-40B4-BE49-F238E27FC236}">
                <a16:creationId xmlns:a16="http://schemas.microsoft.com/office/drawing/2014/main" id="{E0AEDA27-FD86-4E4D-B98D-F527583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m-loop-title-3">
            <a:extLst xmlns:a="http://schemas.openxmlformats.org/drawingml/2006/main">
              <a:ext uri="{FF2B5EF4-FFF2-40B4-BE49-F238E27FC236}">
                <a16:creationId xmlns:a16="http://schemas.microsoft.com/office/drawing/2014/main" id="{EF2173E3-06F3-4D55-AE83-1746C132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4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HABIT</a:t>
            </a:r>
          </a:p>
        </p:txBody>
      </p:sp>
      <p:sp>
        <p:nvSpPr>
          <p:cNvPr id="26" name="em-loop-body-3">
            <a:extLst xmlns:a="http://schemas.openxmlformats.org/drawingml/2006/main">
              <a:ext uri="{FF2B5EF4-FFF2-40B4-BE49-F238E27FC236}">
                <a16:creationId xmlns:a16="http://schemas.microsoft.com/office/drawing/2014/main" id="{D388A807-6278-483A-8B8A-FCDFA578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025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Leave a reason to return next week.</a:t>
            </a:r>
          </a:p>
        </p:txBody>
      </p:sp>
    </p:spTree>
    <p:extLst>
      <p:ext uri="{BB962C8B-B14F-4D97-AF65-F5344CB8AC3E}">
        <p14:creationId xmlns:p14="http://schemas.microsoft.com/office/powerpoint/2010/main" val="1921172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6">
            <a:extLst xmlns:a="http://schemas.openxmlformats.org/drawingml/2006/main">
              <a:ext uri="{FF2B5EF4-FFF2-40B4-BE49-F238E27FC236}">
                <a16:creationId xmlns:a16="http://schemas.microsoft.com/office/drawing/2014/main" id="{7037CAB7-1A09-420B-BA07-E7381066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RECOVERY EARNS TRUST</a:t>
            </a:r>
          </a:p>
        </p:txBody>
      </p:sp>
      <p:sp>
        <p:nvSpPr>
          <p:cNvPr id="2" name="em-page-6">
            <a:extLst xmlns:a="http://schemas.openxmlformats.org/drawingml/2006/main">
              <a:ext uri="{FF2B5EF4-FFF2-40B4-BE49-F238E27FC236}">
                <a16:creationId xmlns:a16="http://schemas.microsoft.com/office/drawing/2014/main" id="{B5AE273E-8AE3-4B8D-9D87-6E01119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06 / 08</a:t>
            </a:r>
          </a:p>
        </p:txBody>
      </p:sp>
      <p:sp>
        <p:nvSpPr>
          <p:cNvPr id="3" name="em-top-rule-6">
            <a:extLst xmlns:a="http://schemas.openxmlformats.org/drawingml/2006/main">
              <a:ext uri="{FF2B5EF4-FFF2-40B4-BE49-F238E27FC236}">
                <a16:creationId xmlns:a16="http://schemas.microsoft.com/office/drawing/2014/main" id="{EF47520F-7B75-471B-80FD-2CDC3609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6">
            <a:extLst xmlns:a="http://schemas.openxmlformats.org/drawingml/2006/main">
              <a:ext uri="{FF2B5EF4-FFF2-40B4-BE49-F238E27FC236}">
                <a16:creationId xmlns:a16="http://schemas.microsoft.com/office/drawing/2014/main" id="{08003E15-F07A-4A19-8270-01EACEAD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6">
            <a:extLst xmlns:a="http://schemas.openxmlformats.org/drawingml/2006/main">
              <a:ext uri="{FF2B5EF4-FFF2-40B4-BE49-F238E27FC236}">
                <a16:creationId xmlns:a16="http://schemas.microsoft.com/office/drawing/2014/main" id="{F919A2F7-C40F-413F-9A12-33EE4946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recovery-title">
            <a:extLst xmlns:a="http://schemas.openxmlformats.org/drawingml/2006/main">
              <a:ext uri="{FF2B5EF4-FFF2-40B4-BE49-F238E27FC236}">
                <a16:creationId xmlns:a16="http://schemas.microsoft.com/office/drawing/2014/main" id="{9880E94F-B2E5-4F89-AAA3-6B79779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031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75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The repair moment becomes the memory.</a:t>
            </a:r>
          </a:p>
        </p:txBody>
      </p:sp>
      <p:sp>
        <p:nvSpPr>
          <p:cNvPr id="7" name="em-recovery-chart-bg">
            <a:extLst xmlns:a="http://schemas.openxmlformats.org/drawingml/2006/main">
              <a:ext uri="{FF2B5EF4-FFF2-40B4-BE49-F238E27FC236}">
                <a16:creationId xmlns:a16="http://schemas.microsoft.com/office/drawing/2014/main" id="{19C39253-9F1A-4D18-A99E-1F659E44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8867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em-recovery-chart"/>
          <p:cNvGraphicFramePr/>
          <p:nvPr/>
        </p:nvGraphicFramePr>
        <p:xfrm>
          <a:off xmlns:a="http://schemas.openxmlformats.org/drawingml/2006/main" x="838200" y="2247900"/>
          <a:ext xmlns:a="http://schemas.openxmlformats.org/drawingml/2006/main" cx="72961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f2046339114d62"/>
          </a:graphicData>
        </a:graphic>
      </p:graphicFrame>
      <p:sp>
        <p:nvSpPr>
          <p:cNvPr id="9" name="em-recovery-callout">
            <a:extLst xmlns:a="http://schemas.openxmlformats.org/drawingml/2006/main">
              <a:ext uri="{FF2B5EF4-FFF2-40B4-BE49-F238E27FC236}">
                <a16:creationId xmlns:a16="http://schemas.microsoft.com/office/drawing/2014/main" id="{AE655059-49B3-4A26-999D-9876741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9527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m-recovery-num">
            <a:extLst xmlns:a="http://schemas.openxmlformats.org/drawingml/2006/main">
              <a:ext uri="{FF2B5EF4-FFF2-40B4-BE49-F238E27FC236}">
                <a16:creationId xmlns:a16="http://schemas.microsoft.com/office/drawing/2014/main" id="{A32297F0-AE44-4D1F-8FBA-F8178AE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66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79</a:t>
            </a:r>
          </a:p>
        </p:txBody>
      </p:sp>
      <p:sp>
        <p:nvSpPr>
          <p:cNvPr id="11" name="em-recovery-unit">
            <a:extLst xmlns:a="http://schemas.openxmlformats.org/drawingml/2006/main">
              <a:ext uri="{FF2B5EF4-FFF2-40B4-BE49-F238E27FC236}">
                <a16:creationId xmlns:a16="http://schemas.microsoft.com/office/drawing/2014/main" id="{EB2F0DE8-450A-48A3-AFE9-9ED31D5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1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% WOULD RETURN</a:t>
            </a:r>
          </a:p>
        </p:txBody>
      </p:sp>
      <p:sp>
        <p:nvSpPr>
          <p:cNvPr id="12" name="em-recovery-callout-rule">
            <a:extLst xmlns:a="http://schemas.openxmlformats.org/drawingml/2006/main">
              <a:ext uri="{FF2B5EF4-FFF2-40B4-BE49-F238E27FC236}">
                <a16:creationId xmlns:a16="http://schemas.microsoft.com/office/drawing/2014/main" id="{EF74102A-7929-48CB-8F9B-F65FB5DF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m-recovery-callout-copy">
            <a:extLst xmlns:a="http://schemas.openxmlformats.org/drawingml/2006/main">
              <a:ext uri="{FF2B5EF4-FFF2-40B4-BE49-F238E27FC236}">
                <a16:creationId xmlns:a16="http://schemas.microsoft.com/office/drawing/2014/main" id="{CB2E11BC-37D4-41B9-8D23-BF370C6A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05300"/>
            <a:ext cx="2266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1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21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Clear recovery preserved intent even after a visible failure.</a:t>
            </a:r>
          </a:p>
        </p:txBody>
      </p:sp>
    </p:spTree>
    <p:extLst>
      <p:ext uri="{BB962C8B-B14F-4D97-AF65-F5344CB8AC3E}">
        <p14:creationId xmlns:p14="http://schemas.microsoft.com/office/powerpoint/2010/main" val="839132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CD89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7">
            <a:extLst xmlns:a="http://schemas.openxmlformats.org/drawingml/2006/main">
              <a:ext uri="{FF2B5EF4-FFF2-40B4-BE49-F238E27FC236}">
                <a16:creationId xmlns:a16="http://schemas.microsoft.com/office/drawing/2014/main" id="{8EB706F9-33C1-4EBF-B09E-85D0B9F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OPERATING LEDGER</a:t>
            </a:r>
          </a:p>
        </p:txBody>
      </p:sp>
      <p:sp>
        <p:nvSpPr>
          <p:cNvPr id="2" name="em-page-7">
            <a:extLst xmlns:a="http://schemas.openxmlformats.org/drawingml/2006/main">
              <a:ext uri="{FF2B5EF4-FFF2-40B4-BE49-F238E27FC236}">
                <a16:creationId xmlns:a16="http://schemas.microsoft.com/office/drawing/2014/main" id="{5F0713A3-EC00-49C8-9C9A-D8C75E2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07 / 08</a:t>
            </a:r>
          </a:p>
        </p:txBody>
      </p:sp>
      <p:sp>
        <p:nvSpPr>
          <p:cNvPr id="3" name="em-top-rule-7">
            <a:extLst xmlns:a="http://schemas.openxmlformats.org/drawingml/2006/main">
              <a:ext uri="{FF2B5EF4-FFF2-40B4-BE49-F238E27FC236}">
                <a16:creationId xmlns:a16="http://schemas.microsoft.com/office/drawing/2014/main" id="{43EB1804-2B9F-40CE-854D-6B7AB872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7">
            <a:extLst xmlns:a="http://schemas.openxmlformats.org/drawingml/2006/main">
              <a:ext uri="{FF2B5EF4-FFF2-40B4-BE49-F238E27FC236}">
                <a16:creationId xmlns:a16="http://schemas.microsoft.com/office/drawing/2014/main" id="{2EF8E93B-0763-4137-A5E1-24C35DD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7">
            <a:extLst xmlns:a="http://schemas.openxmlformats.org/drawingml/2006/main">
              <a:ext uri="{FF2B5EF4-FFF2-40B4-BE49-F238E27FC236}">
                <a16:creationId xmlns:a16="http://schemas.microsoft.com/office/drawing/2014/main" id="{8C588F6E-EECF-445D-8DD7-58CDFBD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0F1A5C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ledger-title">
            <a:extLst xmlns:a="http://schemas.openxmlformats.org/drawingml/2006/main">
              <a:ext uri="{FF2B5EF4-FFF2-40B4-BE49-F238E27FC236}">
                <a16:creationId xmlns:a16="http://schemas.microsoft.com/office/drawing/2014/main" id="{CECEF828-C91A-4714-9874-21692AC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17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4200" b="1" i="0">
                <a:solidFill>
                  <a:srgbClr val="0F1A5C"/>
                </a:solidFill>
                <a:latin typeface="Bodoni Moda Emerald"/>
                <a:ea typeface="Bodoni Moda Emerald"/>
                <a:cs typeface="Bodoni Moda Emerald"/>
              </a:rPr>
              <a:t>Run the week around return, not reach.</a:t>
            </a:r>
          </a:p>
        </p:txBody>
      </p:sp>
      <p:graphicFrame>
        <p:nvGraphicFramePr>
          <p:cNvPr id="14" name="em-operating-ledger"/>
          <p:cNvGraphicFramePr/>
          <p:nvPr/>
        </p:nvGraphicFramePr>
        <p:xfrm>
          <a:off xmlns:a="http://schemas.openxmlformats.org/drawingml/2006/main" x="533400" y="1924050"/>
          <a:ext xmlns:a="http://schemas.openxmlformats.org/drawingml/2006/main" cx="111252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3408"/>
                <a:gridCol w="5027735"/>
                <a:gridCol w="1925515"/>
                <a:gridCol w="1818542"/>
              </a:tblGrid>
              <a:tr h="78105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350" b="1">
                          <a:solidFill>
                            <a:srgbClr val="3CD896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Signal</a:t>
                      </a:r>
                    </a:p>
                  </a:txBody>
                  <a:tcPr marL="91440" marR="91440" marT="45720" marB="45720">
                    <a:solidFill>
                      <a:srgbClr val="0F1A5C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350" b="1">
                          <a:solidFill>
                            <a:srgbClr val="3CD896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Weekly question</a:t>
                      </a:r>
                    </a:p>
                  </a:txBody>
                  <a:tcPr marL="91440" marR="91440" marT="45720" marB="45720">
                    <a:solidFill>
                      <a:srgbClr val="0F1A5C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350" b="1">
                          <a:solidFill>
                            <a:srgbClr val="3CD896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Watch line</a:t>
                      </a:r>
                    </a:p>
                  </a:txBody>
                  <a:tcPr marL="91440" marR="91440" marT="45720" marB="45720">
                    <a:solidFill>
                      <a:srgbClr val="0F1A5C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350" b="1">
                          <a:solidFill>
                            <a:srgbClr val="3CD896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F1A5C"/>
                    </a:solidFill>
                  </a:tcPr>
                </a:tc>
              </a:tr>
              <a:tr h="78105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F1A5C"/>
                          </a:solidFill>
                          <a:latin typeface="Bodoni Moda Emerald"/>
                          <a:ea typeface="Bodoni Moda Emerald"/>
                          <a:cs typeface="Bodoni Moda Emerald"/>
                        </a:rPr>
                        <a:t>Return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Did people come back unprompted?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≥ 48%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Product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</a:tr>
              <a:tr h="78105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F1A5C"/>
                          </a:solidFill>
                          <a:latin typeface="Bodoni Moda Emerald"/>
                          <a:ea typeface="Bodoni Moda Emerald"/>
                          <a:cs typeface="Bodoni Moda Emerald"/>
                        </a:rPr>
                        <a:t>Recovery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Could a failed task be repaired?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≥ 80%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Design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</a:tr>
              <a:tr h="78105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F1A5C"/>
                          </a:solidFill>
                          <a:latin typeface="Bodoni Moda Emerald"/>
                          <a:ea typeface="Bodoni Moda Emerald"/>
                          <a:cs typeface="Bodoni Moda Emerald"/>
                        </a:rPr>
                        <a:t>Restraint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What did we deliberately not add?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1 choice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Team</a:t>
                      </a:r>
                    </a:p>
                  </a:txBody>
                  <a:tcPr marL="91440" marR="91440" marT="45720" marB="45720">
                    <a:solidFill>
                      <a:srgbClr val="F1E9D6"/>
                    </a:solidFill>
                  </a:tcPr>
                </a:tc>
              </a:tr>
              <a:tr h="781050">
                <a:tc>
                  <a:txBody>
                    <a:bodyPr lIns="95250" tIns="57150" rIns="95250" bIns="57150" anchor="ctr"/>
                    <a:lstStyle/>
                    <a:p>
                      <a:pPr algn="l"/>
                      <a:r>
                        <a:rPr sz="1800" b="1">
                          <a:solidFill>
                            <a:srgbClr val="0F1A5C"/>
                          </a:solidFill>
                          <a:latin typeface="Bodoni Moda Emerald"/>
                          <a:ea typeface="Bodoni Moda Emerald"/>
                          <a:cs typeface="Bodoni Moda Emerald"/>
                        </a:rPr>
                        <a:t>Habit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Did the job recur in week four?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≥ 42%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  <a:tc>
                  <a:txBody>
                    <a:bodyPr lIns="95250" tIns="57150" rIns="95250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0F1A5C"/>
                          </a:solidFill>
                          <a:latin typeface="Manrope Emerald"/>
                          <a:ea typeface="Manrope Emerald"/>
                          <a:cs typeface="Manrope Emerald"/>
                        </a:rPr>
                        <a:t>Research</a:t>
                      </a:r>
                    </a:p>
                  </a:txBody>
                  <a:tcPr marL="91440" marR="91440" marT="45720" marB="45720">
                    <a:solidFill>
                      <a:srgbClr val="2DC68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230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A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m-section-8">
            <a:extLst xmlns:a="http://schemas.openxmlformats.org/drawingml/2006/main">
              <a:ext uri="{FF2B5EF4-FFF2-40B4-BE49-F238E27FC236}">
                <a16:creationId xmlns:a16="http://schemas.microsoft.com/office/drawing/2014/main" id="{0C8F6D4F-663B-4E17-9793-0E99429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A CLOSING RULE</a:t>
            </a:r>
          </a:p>
        </p:txBody>
      </p:sp>
      <p:sp>
        <p:nvSpPr>
          <p:cNvPr id="2" name="em-page-8">
            <a:extLst xmlns:a="http://schemas.openxmlformats.org/drawingml/2006/main">
              <a:ext uri="{FF2B5EF4-FFF2-40B4-BE49-F238E27FC236}">
                <a16:creationId xmlns:a16="http://schemas.microsoft.com/office/drawing/2014/main" id="{FA8AD455-F1B7-425A-9BFA-4252B250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050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08 / 08</a:t>
            </a:r>
          </a:p>
        </p:txBody>
      </p:sp>
      <p:sp>
        <p:nvSpPr>
          <p:cNvPr id="3" name="em-top-rule-8">
            <a:extLst xmlns:a="http://schemas.openxmlformats.org/drawingml/2006/main">
              <a:ext uri="{FF2B5EF4-FFF2-40B4-BE49-F238E27FC236}">
                <a16:creationId xmlns:a16="http://schemas.microsoft.com/office/drawing/2014/main" id="{9E617F75-8EC0-4FDE-AF8B-80876B2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-bottom-rule-8">
            <a:extLst xmlns:a="http://schemas.openxmlformats.org/drawingml/2006/main">
              <a:ext uri="{FF2B5EF4-FFF2-40B4-BE49-F238E27FC236}">
                <a16:creationId xmlns:a16="http://schemas.microsoft.com/office/drawing/2014/main" id="{33F76C4E-C1D5-4684-B999-6DE088DA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m-footer-8">
            <a:extLst xmlns:a="http://schemas.openxmlformats.org/drawingml/2006/main">
              <a:ext uri="{FF2B5EF4-FFF2-40B4-BE49-F238E27FC236}">
                <a16:creationId xmlns:a16="http://schemas.microsoft.com/office/drawing/2014/main" id="{26F03E88-E4B6-474B-9EBF-04EC15C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825" b="1" i="0">
                <a:solidFill>
                  <a:srgbClr val="3CD896"/>
                </a:solidFill>
                <a:latin typeface="Manrope Emerald"/>
                <a:ea typeface="Manrope Emerald"/>
                <a:cs typeface="Manrope Emerald"/>
              </a:rPr>
              <a:t>THE LONG GAME · AN ILLUSTRATIVE PRODUCT FIELD GUIDE</a:t>
            </a:r>
          </a:p>
        </p:txBody>
      </p:sp>
      <p:sp>
        <p:nvSpPr>
          <p:cNvPr id="6" name="em-close-title-a">
            <a:extLst xmlns:a="http://schemas.openxmlformats.org/drawingml/2006/main">
              <a:ext uri="{FF2B5EF4-FFF2-40B4-BE49-F238E27FC236}">
                <a16:creationId xmlns:a16="http://schemas.microsoft.com/office/drawing/2014/main" id="{05F8808E-D465-4FFB-BB2E-1F65DEB8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F1E9D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5850" b="1" i="0">
                <a:solidFill>
                  <a:srgbClr val="F1E9D6"/>
                </a:solidFill>
                <a:latin typeface="Bodoni Moda Emerald"/>
                <a:ea typeface="Bodoni Moda Emerald"/>
                <a:cs typeface="Bodoni Moda Emerald"/>
              </a:rPr>
              <a:t>BUILD FOR</a:t>
            </a:r>
          </a:p>
        </p:txBody>
      </p:sp>
      <p:sp>
        <p:nvSpPr>
          <p:cNvPr id="7" name="em-close-ornament-l1">
            <a:extLst xmlns:a="http://schemas.openxmlformats.org/drawingml/2006/main">
              <a:ext uri="{FF2B5EF4-FFF2-40B4-BE49-F238E27FC236}">
                <a16:creationId xmlns:a16="http://schemas.microsoft.com/office/drawing/2014/main" id="{89BD57D7-7100-43DB-B63A-40C997E4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-close-ornament-l2">
            <a:extLst xmlns:a="http://schemas.openxmlformats.org/drawingml/2006/main">
              <a:ext uri="{FF2B5EF4-FFF2-40B4-BE49-F238E27FC236}">
                <a16:creationId xmlns:a16="http://schemas.microsoft.com/office/drawing/2014/main" id="{EA1D2ADE-BFFC-46C2-8964-E0E6D3A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m-close-ornament-r1">
            <a:extLst xmlns:a="http://schemas.openxmlformats.org/drawingml/2006/main">
              <a:ext uri="{FF2B5EF4-FFF2-40B4-BE49-F238E27FC236}">
                <a16:creationId xmlns:a16="http://schemas.microsoft.com/office/drawing/2014/main" id="{FFC8F9DF-273D-45DC-9E50-4E8DBB76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m-close-ornament-r2">
            <a:extLst xmlns:a="http://schemas.openxmlformats.org/drawingml/2006/main">
              <a:ext uri="{FF2B5EF4-FFF2-40B4-BE49-F238E27FC236}">
                <a16:creationId xmlns:a16="http://schemas.microsoft.com/office/drawing/2014/main" id="{B2EB43B0-2DA3-44B8-9315-8F2EFE4E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m-close-ornament-word">
            <a:extLst xmlns:a="http://schemas.openxmlformats.org/drawingml/2006/main">
              <a:ext uri="{FF2B5EF4-FFF2-40B4-BE49-F238E27FC236}">
                <a16:creationId xmlns:a16="http://schemas.microsoft.com/office/drawing/2014/main" id="{94814707-BB3E-4B4B-966E-CA5BD43F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50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3375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THE TENTH</a:t>
            </a:r>
          </a:p>
        </p:txBody>
      </p:sp>
      <p:sp>
        <p:nvSpPr>
          <p:cNvPr id="12" name="em-close-title-b">
            <a:extLst xmlns:a="http://schemas.openxmlformats.org/drawingml/2006/main">
              <a:ext uri="{FF2B5EF4-FFF2-40B4-BE49-F238E27FC236}">
                <a16:creationId xmlns:a16="http://schemas.microsoft.com/office/drawing/2014/main" id="{52438DCC-C176-4AB9-B5DA-E7F3AD0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defRPr>
            </a:pPr>
            <a:r>
              <a:rPr sz="8400" b="1" i="0">
                <a:solidFill>
                  <a:srgbClr val="3CD896"/>
                </a:solidFill>
                <a:latin typeface="Bodoni Moda Emerald"/>
                <a:ea typeface="Bodoni Moda Emerald"/>
                <a:cs typeface="Bodoni Moda Emerald"/>
              </a:rPr>
              <a:t>RETURN.</a:t>
            </a:r>
          </a:p>
        </p:txBody>
      </p:sp>
      <p:sp>
        <p:nvSpPr>
          <p:cNvPr id="13" name="em-close-copy">
            <a:extLst xmlns:a="http://schemas.openxmlformats.org/drawingml/2006/main">
              <a:ext uri="{FF2B5EF4-FFF2-40B4-BE49-F238E27FC236}">
                <a16:creationId xmlns:a16="http://schemas.microsoft.com/office/drawing/2014/main" id="{D42ADACC-71E1-45CB-ABC1-40135F4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75" b="0" i="0">
                <a:solidFill>
                  <a:srgbClr val="F1E9D6"/>
                </a:solidFill>
                <a:latin typeface="Manrope Emerald"/>
                <a:ea typeface="Manrope Emerald"/>
                <a:cs typeface="Manrope Emerald"/>
              </a:defRPr>
            </a:pPr>
            <a:r>
              <a:rPr sz="1575" b="0" i="0">
                <a:solidFill>
                  <a:srgbClr val="F1E9D6"/>
                </a:solidFill>
                <a:latin typeface="Manrope Emerald"/>
                <a:ea typeface="Manrope Emerald"/>
                <a:cs typeface="Manrope Emerald"/>
              </a:rPr>
              <a:t>The first impression opens the door. The return habit builds the product.</a:t>
            </a:r>
          </a:p>
        </p:txBody>
      </p:sp>
    </p:spTree>
    <p:extLst>
      <p:ext uri="{BB962C8B-B14F-4D97-AF65-F5344CB8AC3E}">
        <p14:creationId xmlns:p14="http://schemas.microsoft.com/office/powerpoint/2010/main" val="610757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2026-07-27T12:35:19.8970000Z</dcterms:created>
  <dcterms:modified xsi:type="dcterms:W3CDTF">2026-07-27T12:35:19.8980000Z</dcterms:modified>
</coreProperties>
</file>