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dd35b17bd7b3479a" /><Relationship Type="http://schemas.openxmlformats.org/officeDocument/2006/relationships/extended-properties" Target="/docProps/app.xml" Id="Rd031e727e0d44173" /><Relationship Type="http://schemas.openxmlformats.org/officeDocument/2006/relationships/officeDocument" Target="/ppt/presentation.xml" Id="R7d2bc1a4956748db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fa2a823c3a524a40"/>
  </p:sldMasterIdLst>
  <p:notesMasterIdLst>
    <p:notesMasterId xmlns:r="http://schemas.openxmlformats.org/officeDocument/2006/relationships" r:id="Reab133b4ff334124"/>
  </p:notesMasterIdLst>
  <p:sldIdLst>
    <p:sldId xmlns:r="http://schemas.openxmlformats.org/officeDocument/2006/relationships" id="256" r:id="Ra61eb8a1c0c44263"/>
    <p:sldId xmlns:r="http://schemas.openxmlformats.org/officeDocument/2006/relationships" id="257" r:id="R240eabf90bfd4c32"/>
    <p:sldId xmlns:r="http://schemas.openxmlformats.org/officeDocument/2006/relationships" id="258" r:id="R39b1ce97f0a94e4a"/>
    <p:sldId xmlns:r="http://schemas.openxmlformats.org/officeDocument/2006/relationships" id="259" r:id="Re5e0aa3dfcfa4e25"/>
    <p:sldId xmlns:r="http://schemas.openxmlformats.org/officeDocument/2006/relationships" id="260" r:id="R4cba46df669d425c"/>
    <p:sldId xmlns:r="http://schemas.openxmlformats.org/officeDocument/2006/relationships" id="261" r:id="R002b624af7d34bd3"/>
    <p:sldId xmlns:r="http://schemas.openxmlformats.org/officeDocument/2006/relationships" id="262" r:id="R875feab5165c4580"/>
    <p:sldId xmlns:r="http://schemas.openxmlformats.org/officeDocument/2006/relationships" id="263" r:id="R6b980947478444e9"/>
  </p:sldIdLst>
  <p:sldSz cx="12192000" cy="6858000"/>
  <p:notesSz cx="6858000" cy="9144000"/>
  <p:embeddedFontLst>
    <p:embeddedFont>
      <p:font typeface="Big Shoulders Sakura"/>
      <p:regular r:id="rId201314"/>
    </p:embeddedFont>
    <p:embeddedFont>
      <p:font typeface="Albert Sans Sakura"/>
      <p:regular r:id="rId201315"/>
    </p:embeddedFont>
    <p:embeddedFont>
      <p:font typeface="JetBrains Mono"/>
      <p:regular r:id="rId201316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610b2cefce6c461d"/><Relationship Type="http://schemas.openxmlformats.org/officeDocument/2006/relationships/slideMaster" Target="/ppt/slideMasters/slideMaster1.xml" Id="Rfa2a823c3a524a40"/><Relationship Type="http://schemas.openxmlformats.org/officeDocument/2006/relationships/notesMaster" Target="/ppt/notesMasters/notesMaster1.xml" Id="Reab133b4ff334124"/><Relationship Type="http://schemas.openxmlformats.org/officeDocument/2006/relationships/presProps" Target="/ppt/presProps.xml" Id="Rac64d242c419469d"/><Relationship Type="http://schemas.openxmlformats.org/officeDocument/2006/relationships/tableStyles" Target="/ppt/tableStyles.xml" Id="R2a84b245a8db4420"/><Relationship Type="http://schemas.openxmlformats.org/officeDocument/2006/relationships/slide" Target="/ppt/slides/slide1.xml" Id="Ra61eb8a1c0c44263"/><Relationship Type="http://schemas.openxmlformats.org/officeDocument/2006/relationships/slide" Target="/ppt/slides/slide2.xml" Id="R240eabf90bfd4c32"/><Relationship Type="http://schemas.openxmlformats.org/officeDocument/2006/relationships/slide" Target="/ppt/slides/slide3.xml" Id="R39b1ce97f0a94e4a"/><Relationship Type="http://schemas.openxmlformats.org/officeDocument/2006/relationships/slide" Target="/ppt/slides/slide4.xml" Id="Re5e0aa3dfcfa4e25"/><Relationship Type="http://schemas.openxmlformats.org/officeDocument/2006/relationships/slide" Target="/ppt/slides/slide5.xml" Id="R4cba46df669d425c"/><Relationship Type="http://schemas.openxmlformats.org/officeDocument/2006/relationships/slide" Target="/ppt/slides/slide6.xml" Id="R002b624af7d34bd3"/><Relationship Type="http://schemas.openxmlformats.org/officeDocument/2006/relationships/slide" Target="/ppt/slides/slide7.xml" Id="R875feab5165c4580"/><Relationship Type="http://schemas.openxmlformats.org/officeDocument/2006/relationships/slide" Target="/ppt/slides/slide8.xml" Id="R6b980947478444e9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210e954dac2846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dbcead6f8dbf44b7" /><Relationship Type="http://schemas.openxmlformats.org/officeDocument/2006/relationships/notesMaster" Target="/ppt/notesMasters/notesMaster1.xml" Id="R12f196ce55364eff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51605b99fdbb4d89" /><Relationship Type="http://schemas.openxmlformats.org/officeDocument/2006/relationships/notesMaster" Target="/ppt/notesMasters/notesMaster1.xml" Id="R79b9f8535900427b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bead49ffea6240ba" /><Relationship Type="http://schemas.openxmlformats.org/officeDocument/2006/relationships/notesMaster" Target="/ppt/notesMasters/notesMaster1.xml" Id="Ra5732dc289654d0d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df40b0abe846403d" /><Relationship Type="http://schemas.openxmlformats.org/officeDocument/2006/relationships/notesMaster" Target="/ppt/notesMasters/notesMaster1.xml" Id="Rcaf529a8d575468e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8361526ed2724fcc" /><Relationship Type="http://schemas.openxmlformats.org/officeDocument/2006/relationships/notesMaster" Target="/ppt/notesMasters/notesMaster1.xml" Id="R7449d6a1ebc9429a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6f2722f5c2c343cf" /><Relationship Type="http://schemas.openxmlformats.org/officeDocument/2006/relationships/notesMaster" Target="/ppt/notesMasters/notesMaster1.xml" Id="R137d1caafcb24741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27d3b56e11dc4cb7" /><Relationship Type="http://schemas.openxmlformats.org/officeDocument/2006/relationships/notesMaster" Target="/ppt/notesMasters/notesMaster1.xml" Id="Re3a6886dbb494084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eab2e6fb38314a57" /><Relationship Type="http://schemas.openxmlformats.org/officeDocument/2006/relationships/notesMaster" Target="/ppt/notesMasters/notesMaster1.xml" Id="Rf54cafaf2cbf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https://github.com/zarazhangrui/beautiful-html-templates/tree/main/templates/sakura-chroma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https://github.com/zarazhangrui/beautiful-html-templates/tree/main/templates/sakura-chroma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https://github.com/zarazhangrui/beautiful-html-templates/tree/main/templates/sakura-chroma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The devices and specifications are fictional demo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https://github.com/zarazhangrui/beautiful-html-templates/tree/main/templates/sakura-chroma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The signal-test percentages are illustrative concept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https://github.com/zarazhangrui/beautiful-html-templates/tree/main/templates/sakura-chroma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https://github.com/zarazhangrui/beautiful-html-templates/tree/main/templates/sakura-chroma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The weekly reuse series is illustrative concept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https://github.com/zarazhangrui/beautiful-html-templates/tree/main/templates/sakura-chroma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https://github.com/zarazhangrui/beautiful-html-templates/tree/main/templates/sakura-chroma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and table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9aa0a448cbd04b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86a362e43365407c" /><Relationship Type="http://schemas.openxmlformats.org/officeDocument/2006/relationships/slideLayout" Target="/ppt/slideLayouts/slideLayout1.xml" Id="Ra159b00172de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59b00172de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9e3646fcbb94053" /><Relationship Type="http://schemas.openxmlformats.org/officeDocument/2006/relationships/notesSlide" Target="/ppt/notesSlides/notesSlide1.xml" Id="Rc2e3fb1d9bca4359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3320ef0efff48f0" /><Relationship Type="http://schemas.openxmlformats.org/officeDocument/2006/relationships/notesSlide" Target="/ppt/notesSlides/notesSlide2.xml" Id="Rcd5fc94edcb24f64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3754e99bdb348c3" /><Relationship Type="http://schemas.openxmlformats.org/officeDocument/2006/relationships/notesSlide" Target="/ppt/notesSlides/notesSlide3.xml" Id="R8d276f9b3c0145d7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2874b647cef463d" /><Relationship Type="http://schemas.openxmlformats.org/officeDocument/2006/relationships/chart" Target="/ppt/slides/charts/chart1.xml" Id="R5ed94ec2d2404ec2" /><Relationship Type="http://schemas.openxmlformats.org/officeDocument/2006/relationships/notesSlide" Target="/ppt/notesSlides/notesSlide4.xml" Id="R2458d78e45b44d44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b2504e616de4436" /><Relationship Type="http://schemas.openxmlformats.org/officeDocument/2006/relationships/notesSlide" Target="/ppt/notesSlides/notesSlide5.xml" Id="Rcdb2161a09c64ee2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f60d614839f49a3" /><Relationship Type="http://schemas.openxmlformats.org/officeDocument/2006/relationships/chart" Target="/ppt/slides/charts/chart2.xml" Id="R739250bff90c48f8" /><Relationship Type="http://schemas.openxmlformats.org/officeDocument/2006/relationships/notesSlide" Target="/ppt/notesSlides/notesSlide6.xml" Id="R68015712fabb4941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5c636ec13ca46f0" /><Relationship Type="http://schemas.openxmlformats.org/officeDocument/2006/relationships/notesSlide" Target="/ppt/notesSlides/notesSlide7.xml" Id="R72beb98512f242df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012722741bc4223" /><Relationship Type="http://schemas.openxmlformats.org/officeDocument/2006/relationships/notesSlide" Target="/ppt/notesSlides/notesSlide8.xml" Id="R4cabea59746c49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Completed</c:v>
          </c:tx>
          <c:spPr>
            <a:solidFill xmlns:a="http://schemas.openxmlformats.org/drawingml/2006/main">
              <a:srgbClr val="3F8BC4"/>
            </a:solidFill>
            <a:ln xmlns:a="http://schemas.openxmlformats.org/drawingml/2006/main" w="9525">
              <a:solidFill>
                <a:srgbClr val="3F8BC4"/>
              </a:solidFill>
              <a:prstDash val="solid"/>
            </a:ln>
          </c:spPr>
          <c:cat>
            <c:strLit>
              <c:ptCount val="4"/>
              <c:pt idx="0">
                <c:v>Recorder</c:v>
              </c:pt>
              <c:pt idx="1">
                <c:v>Printer</c:v>
              </c:pt>
              <c:pt idx="2">
                <c:v>Radio</c:v>
              </c:pt>
              <c:pt idx="3">
                <c:v>Timer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85</c:v>
              </c:pt>
              <c:pt idx="2">
                <c:v>96</c:v>
              </c:pt>
              <c:pt idx="3">
                <c:v>98</c:v>
              </c:pt>
            </c:numLit>
          </c:val>
        </c:ser>
        <c:ser>
          <c:idx val="1"/>
          <c:order val="1"/>
          <c:tx>
            <c:v>Use again</c:v>
          </c:tx>
          <c:spPr>
            <a:solidFill xmlns:a="http://schemas.openxmlformats.org/drawingml/2006/main">
              <a:srgbClr val="E5392A"/>
            </a:solidFill>
            <a:ln xmlns:a="http://schemas.openxmlformats.org/drawingml/2006/main" w="9525">
              <a:solidFill>
                <a:srgbClr val="E5392A"/>
              </a:solidFill>
              <a:prstDash val="solid"/>
            </a:ln>
          </c:spPr>
          <c:cat>
            <c:strLit>
              <c:ptCount val="4"/>
              <c:pt idx="0">
                <c:v>Recorder</c:v>
              </c:pt>
              <c:pt idx="1">
                <c:v>Printer</c:v>
              </c:pt>
              <c:pt idx="2">
                <c:v>Radio</c:v>
              </c:pt>
              <c:pt idx="3">
                <c:v>Timer</c:v>
              </c:pt>
            </c:strLit>
          </c:cat>
          <c:val>
            <c:numLit>
              <c:formatCode>General</c:formatCode>
              <c:ptCount val="4"/>
              <c:pt idx="0">
                <c:v>78</c:v>
              </c:pt>
              <c:pt idx="1">
                <c:v>81</c:v>
              </c:pt>
              <c:pt idx="2">
                <c:v>68</c:v>
              </c:pt>
              <c:pt idx="3">
                <c:v>86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3B49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latin typeface="Albert Sans Sakura"/>
                <a:solidFill>
                  <a:srgbClr val="3A251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3B49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latin typeface="Albert Sans Sakura"/>
                <a:solidFill>
                  <a:srgbClr val="3A251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1E6CB"/>
        </a:solidFill>
        <a:ln xmlns:a="http://schemas.openxmlformats.org/drawingml/2006/main" w="9525">
          <a:solidFill>
            <a:srgbClr val="C3B49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Albert Sans Sakura"/>
              <a:solidFill>
                <a:srgbClr val="3A251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1E6CB"/>
    </a:solidFill>
    <a:ln xmlns:a="http://schemas.openxmlformats.org/drawingml/2006/main" w="0">
      <a:solidFill>
        <a:srgbClr val="F1E6CB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Recorder</c:v>
          </c:tx>
          <c:spPr>
            <a:solidFill xmlns:a="http://schemas.openxmlformats.org/drawingml/2006/main">
              <a:srgbClr val="E5392A"/>
            </a:solidFill>
            <a:ln xmlns:a="http://schemas.openxmlformats.org/drawingml/2006/main" w="28575">
              <a:solidFill>
                <a:srgbClr val="E5392A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Week 1</c:v>
              </c:pt>
              <c:pt idx="1">
                <c:v>Week 2</c:v>
              </c:pt>
              <c:pt idx="2">
                <c:v>Week 3</c:v>
              </c:pt>
              <c:pt idx="3">
                <c:v>Week 4</c:v>
              </c:pt>
            </c:strLit>
          </c:cat>
          <c:val>
            <c:numLit>
              <c:formatCode>General</c:formatCode>
              <c:ptCount val="4"/>
              <c:pt idx="0">
                <c:v>78</c:v>
              </c:pt>
              <c:pt idx="1">
                <c:v>71</c:v>
              </c:pt>
              <c:pt idx="2">
                <c:v>65</c:v>
              </c:pt>
              <c:pt idx="3">
                <c:v>61</c:v>
              </c:pt>
            </c:numLit>
          </c:val>
        </c:ser>
        <c:ser>
          <c:idx val="1"/>
          <c:order val="1"/>
          <c:tx>
            <c:v>Printer</c:v>
          </c:tx>
          <c:spPr>
            <a:solidFill xmlns:a="http://schemas.openxmlformats.org/drawingml/2006/main">
              <a:srgbClr val="E54489"/>
            </a:solidFill>
            <a:ln xmlns:a="http://schemas.openxmlformats.org/drawingml/2006/main" w="28575">
              <a:solidFill>
                <a:srgbClr val="E54489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Week 1</c:v>
              </c:pt>
              <c:pt idx="1">
                <c:v>Week 2</c:v>
              </c:pt>
              <c:pt idx="2">
                <c:v>Week 3</c:v>
              </c:pt>
              <c:pt idx="3">
                <c:v>Week 4</c:v>
              </c:pt>
            </c:strLit>
          </c:cat>
          <c:val>
            <c:numLit>
              <c:formatCode>General</c:formatCode>
              <c:ptCount val="4"/>
              <c:pt idx="0">
                <c:v>81</c:v>
              </c:pt>
              <c:pt idx="1">
                <c:v>72</c:v>
              </c:pt>
              <c:pt idx="2">
                <c:v>64</c:v>
              </c:pt>
              <c:pt idx="3">
                <c:v>58</c:v>
              </c:pt>
            </c:numLit>
          </c:val>
        </c:ser>
        <c:ser>
          <c:idx val="2"/>
          <c:order val="2"/>
          <c:tx>
            <c:v>Timer</c:v>
          </c:tx>
          <c:spPr>
            <a:solidFill xmlns:a="http://schemas.openxmlformats.org/drawingml/2006/main">
              <a:srgbClr val="3F8BC4"/>
            </a:solidFill>
            <a:ln xmlns:a="http://schemas.openxmlformats.org/drawingml/2006/main" w="28575">
              <a:solidFill>
                <a:srgbClr val="3F8BC4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Week 1</c:v>
              </c:pt>
              <c:pt idx="1">
                <c:v>Week 2</c:v>
              </c:pt>
              <c:pt idx="2">
                <c:v>Week 3</c:v>
              </c:pt>
              <c:pt idx="3">
                <c:v>Week 4</c:v>
              </c:pt>
            </c:strLit>
          </c:cat>
          <c:val>
            <c:numLit>
              <c:formatCode>General</c:formatCode>
              <c:ptCount val="4"/>
              <c:pt idx="0">
                <c:v>86</c:v>
              </c:pt>
              <c:pt idx="1">
                <c:v>82</c:v>
              </c:pt>
              <c:pt idx="2">
                <c:v>79</c:v>
              </c:pt>
              <c:pt idx="3">
                <c:v>75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latin typeface="Albert Sans Sakura"/>
                <a:solidFill>
                  <a:srgbClr val="3A251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3B49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latin typeface="Albert Sans Sakura"/>
                <a:solidFill>
                  <a:srgbClr val="3A251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1E6CB"/>
        </a:solidFill>
        <a:ln xmlns:a="http://schemas.openxmlformats.org/drawingml/2006/main" w="9525">
          <a:solidFill>
            <a:srgbClr val="C3B49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Albert Sans Sakura"/>
              <a:solidFill>
                <a:srgbClr val="3A251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1E6CB"/>
    </a:solidFill>
    <a:ln xmlns:a="http://schemas.openxmlformats.org/drawingml/2006/main" w="0">
      <a:solidFill>
        <a:srgbClr val="F1E6CB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akura-cover-petal-0">
            <a:extLst xmlns:a="http://schemas.openxmlformats.org/drawingml/2006/main">
              <a:ext uri="{FF2B5EF4-FFF2-40B4-BE49-F238E27FC236}">
                <a16:creationId xmlns:a16="http://schemas.microsoft.com/office/drawing/2014/main" id="{0DE48770-D171-4EF0-9FD0-BB335E73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66700"/>
            <a:ext cx="617220" cy="6172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akura-cover-petal-1">
            <a:extLst xmlns:a="http://schemas.openxmlformats.org/drawingml/2006/main">
              <a:ext uri="{FF2B5EF4-FFF2-40B4-BE49-F238E27FC236}">
                <a16:creationId xmlns:a16="http://schemas.microsoft.com/office/drawing/2014/main" id="{CBCA627E-730F-4078-8872-6F173957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703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39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kura-cover-petal-2">
            <a:extLst xmlns:a="http://schemas.openxmlformats.org/drawingml/2006/main">
              <a:ext uri="{FF2B5EF4-FFF2-40B4-BE49-F238E27FC236}">
                <a16:creationId xmlns:a16="http://schemas.microsoft.com/office/drawing/2014/main" id="{2A5C4DE0-A470-408E-8E14-80EDE24F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" y="691896"/>
            <a:ext cx="589788" cy="5897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kura-cover-petal-3">
            <a:extLst xmlns:a="http://schemas.openxmlformats.org/drawingml/2006/main">
              <a:ext uri="{FF2B5EF4-FFF2-40B4-BE49-F238E27FC236}">
                <a16:creationId xmlns:a16="http://schemas.microsoft.com/office/drawing/2014/main" id="{A9052ADB-DF3B-4B5D-950E-8278FF16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16" y="527304"/>
            <a:ext cx="672084" cy="672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9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akura-cover-petal-4">
            <a:extLst xmlns:a="http://schemas.openxmlformats.org/drawingml/2006/main">
              <a:ext uri="{FF2B5EF4-FFF2-40B4-BE49-F238E27FC236}">
                <a16:creationId xmlns:a16="http://schemas.microsoft.com/office/drawing/2014/main" id="{19C913DF-DC33-4A52-8EF6-0DA256F0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24" y="84277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akura-cover-brand">
            <a:extLst xmlns:a="http://schemas.openxmlformats.org/drawingml/2006/main">
              <a:ext uri="{FF2B5EF4-FFF2-40B4-BE49-F238E27FC236}">
                <a16:creationId xmlns:a16="http://schemas.microsoft.com/office/drawing/2014/main" id="{8A4728D7-7C19-43D5-9B3C-1277A5B8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86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37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37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pocket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37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37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machines</a:t>
            </a:r>
          </a:p>
        </p:txBody>
      </p:sp>
      <p:sp>
        <p:nvSpPr>
          <p:cNvPr id="7" name="sakura-cover-catalogue">
            <a:extLst xmlns:a="http://schemas.openxmlformats.org/drawingml/2006/main">
              <a:ext uri="{FF2B5EF4-FFF2-40B4-BE49-F238E27FC236}">
                <a16:creationId xmlns:a16="http://schemas.microsoft.com/office/drawing/2014/main" id="{3CAFD297-FB7C-4C8D-9258-B9A36398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CATALOGUE NO. 08</a:t>
            </a:r>
          </a:p>
        </p:txBody>
      </p:sp>
      <p:sp>
        <p:nvSpPr>
          <p:cNvPr id="8" name="sakura-cover-code">
            <a:extLst xmlns:a="http://schemas.openxmlformats.org/drawingml/2006/main">
              <a:ext uri="{FF2B5EF4-FFF2-40B4-BE49-F238E27FC236}">
                <a16:creationId xmlns:a16="http://schemas.microsoft.com/office/drawing/2014/main" id="{D672FA27-FED8-4684-B05D-5505579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0"/>
            <a:ext cx="4191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97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PM-26</a:t>
            </a:r>
          </a:p>
        </p:txBody>
      </p:sp>
      <p:sp>
        <p:nvSpPr>
          <p:cNvPr id="9" name="sakura-cover-band">
            <a:extLst xmlns:a="http://schemas.openxmlformats.org/drawingml/2006/main">
              <a:ext uri="{FF2B5EF4-FFF2-40B4-BE49-F238E27FC236}">
                <a16:creationId xmlns:a16="http://schemas.microsoft.com/office/drawing/2014/main" id="{C53FEBCC-4801-4A60-A0C0-4788B9F2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958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akura-cover-title">
            <a:extLst xmlns:a="http://schemas.openxmlformats.org/drawingml/2006/main">
              <a:ext uri="{FF2B5EF4-FFF2-40B4-BE49-F238E27FC236}">
                <a16:creationId xmlns:a16="http://schemas.microsoft.com/office/drawing/2014/main" id="{6B4D3E55-2053-4F0B-AFD4-4B2A4A1F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4950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rPr>
              <a:t>OFFLINE CLUB</a:t>
            </a:r>
          </a:p>
        </p:txBody>
      </p:sp>
      <p:sp>
        <p:nvSpPr>
          <p:cNvPr id="11" name="sakura-cover-ribbon-0">
            <a:extLst xmlns:a="http://schemas.openxmlformats.org/drawingml/2006/main">
              <a:ext uri="{FF2B5EF4-FFF2-40B4-BE49-F238E27FC236}">
                <a16:creationId xmlns:a16="http://schemas.microsoft.com/office/drawing/2014/main" id="{6D3D9460-0F3F-4E3F-8D8B-0A82E2DF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5715000" y="15240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akura-cover-ribbon-1">
            <a:extLst xmlns:a="http://schemas.openxmlformats.org/drawingml/2006/main">
              <a:ext uri="{FF2B5EF4-FFF2-40B4-BE49-F238E27FC236}">
                <a16:creationId xmlns:a16="http://schemas.microsoft.com/office/drawing/2014/main" id="{3C84D03B-82C9-47FE-B8A5-7DBE1B06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5715000" y="19812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akura-cover-ribbon-2">
            <a:extLst xmlns:a="http://schemas.openxmlformats.org/drawingml/2006/main">
              <a:ext uri="{FF2B5EF4-FFF2-40B4-BE49-F238E27FC236}">
                <a16:creationId xmlns:a16="http://schemas.microsoft.com/office/drawing/2014/main" id="{027C1AA5-E16E-4BE9-9C28-7440F175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5715000" y="24384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akura-cover-ribbon-3">
            <a:extLst xmlns:a="http://schemas.openxmlformats.org/drawingml/2006/main">
              <a:ext uri="{FF2B5EF4-FFF2-40B4-BE49-F238E27FC236}">
                <a16:creationId xmlns:a16="http://schemas.microsoft.com/office/drawing/2014/main" id="{83CF17C0-591A-4A5A-89BB-D12C3029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5715000" y="28956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9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akura-cover-ribbon-4">
            <a:extLst xmlns:a="http://schemas.openxmlformats.org/drawingml/2006/main">
              <a:ext uri="{FF2B5EF4-FFF2-40B4-BE49-F238E27FC236}">
                <a16:creationId xmlns:a16="http://schemas.microsoft.com/office/drawing/2014/main" id="{A5299666-C75B-45B3-B26C-9DD35ED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5715000" y="33528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akura-cover-check-0">
            <a:extLst xmlns:a="http://schemas.openxmlformats.org/drawingml/2006/main">
              <a:ext uri="{FF2B5EF4-FFF2-40B4-BE49-F238E27FC236}">
                <a16:creationId xmlns:a16="http://schemas.microsoft.com/office/drawing/2014/main" id="{6122290A-D34D-4E60-9B9A-C1A89C05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90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19050">
            <a:solidFill>
              <a:srgbClr val="3A2516"/>
            </a:solidFill>
            <a:prstDash val="solid"/>
          </a:ln>
        </p:spPr>
      </p:sp>
      <p:sp>
        <p:nvSpPr>
          <p:cNvPr id="17" name="sakura-cover-mark-0">
            <a:extLst xmlns:a="http://schemas.openxmlformats.org/drawingml/2006/main">
              <a:ext uri="{FF2B5EF4-FFF2-40B4-BE49-F238E27FC236}">
                <a16:creationId xmlns:a16="http://schemas.microsoft.com/office/drawing/2014/main" id="{9CCF11A7-94A5-47B9-A51A-3D480F3F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812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1275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rPr>
              <a:t>×</a:t>
            </a:r>
          </a:p>
        </p:txBody>
      </p:sp>
      <p:sp>
        <p:nvSpPr>
          <p:cNvPr id="18" name="sakura-cover-check-label-0">
            <a:extLst xmlns:a="http://schemas.openxmlformats.org/drawingml/2006/main">
              <a:ext uri="{FF2B5EF4-FFF2-40B4-BE49-F238E27FC236}">
                <a16:creationId xmlns:a16="http://schemas.microsoft.com/office/drawing/2014/main" id="{69671114-F0A2-45DE-BA64-40514870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81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20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ONE JOB</a:t>
            </a:r>
          </a:p>
        </p:txBody>
      </p:sp>
      <p:sp>
        <p:nvSpPr>
          <p:cNvPr id="19" name="sakura-cover-check-1">
            <a:extLst xmlns:a="http://schemas.openxmlformats.org/drawingml/2006/main">
              <a:ext uri="{FF2B5EF4-FFF2-40B4-BE49-F238E27FC236}">
                <a16:creationId xmlns:a16="http://schemas.microsoft.com/office/drawing/2014/main" id="{61C35331-89D9-4856-BD7D-059FE8C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62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19050">
            <a:solidFill>
              <a:srgbClr val="3A2516"/>
            </a:solidFill>
            <a:prstDash val="solid"/>
          </a:ln>
        </p:spPr>
      </p:sp>
      <p:sp>
        <p:nvSpPr>
          <p:cNvPr id="20" name="sakura-cover-mark-1">
            <a:extLst xmlns:a="http://schemas.openxmlformats.org/drawingml/2006/main">
              <a:ext uri="{FF2B5EF4-FFF2-40B4-BE49-F238E27FC236}">
                <a16:creationId xmlns:a16="http://schemas.microsoft.com/office/drawing/2014/main" id="{80547BE6-FC7A-4850-8A14-6B934E7F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1527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1275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rPr>
              <a:t>×</a:t>
            </a:r>
          </a:p>
        </p:txBody>
      </p:sp>
      <p:sp>
        <p:nvSpPr>
          <p:cNvPr id="21" name="sakura-cover-check-label-1">
            <a:extLst xmlns:a="http://schemas.openxmlformats.org/drawingml/2006/main">
              <a:ext uri="{FF2B5EF4-FFF2-40B4-BE49-F238E27FC236}">
                <a16:creationId xmlns:a16="http://schemas.microsoft.com/office/drawing/2014/main" id="{E1442424-05D8-4E5F-AF98-6DAB4624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52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20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LOW FRICTION</a:t>
            </a:r>
          </a:p>
        </p:txBody>
      </p:sp>
      <p:sp>
        <p:nvSpPr>
          <p:cNvPr id="22" name="sakura-cover-check-2">
            <a:extLst xmlns:a="http://schemas.openxmlformats.org/drawingml/2006/main">
              <a:ext uri="{FF2B5EF4-FFF2-40B4-BE49-F238E27FC236}">
                <a16:creationId xmlns:a16="http://schemas.microsoft.com/office/drawing/2014/main" id="{63F0DC3B-0BC6-4BDF-A08A-3DC633C4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9050">
            <a:solidFill>
              <a:srgbClr val="3A2516"/>
            </a:solidFill>
            <a:prstDash val="solid"/>
          </a:ln>
        </p:spPr>
      </p:sp>
      <p:sp>
        <p:nvSpPr>
          <p:cNvPr id="23" name="sakura-cover-check-label-2">
            <a:extLst xmlns:a="http://schemas.openxmlformats.org/drawingml/2006/main">
              <a:ext uri="{FF2B5EF4-FFF2-40B4-BE49-F238E27FC236}">
                <a16:creationId xmlns:a16="http://schemas.microsoft.com/office/drawing/2014/main" id="{17AA4D2D-8C2F-4C2F-8D93-DF069210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24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20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CLOUD</a:t>
            </a:r>
          </a:p>
        </p:txBody>
      </p:sp>
      <p:sp>
        <p:nvSpPr>
          <p:cNvPr id="24" name="sakura-cover-check-3">
            <a:extLst xmlns:a="http://schemas.openxmlformats.org/drawingml/2006/main">
              <a:ext uri="{FF2B5EF4-FFF2-40B4-BE49-F238E27FC236}">
                <a16:creationId xmlns:a16="http://schemas.microsoft.com/office/drawing/2014/main" id="{6B19D340-7A51-4855-A7C1-683A5405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9050">
            <a:solidFill>
              <a:srgbClr val="3A2516"/>
            </a:solidFill>
            <a:prstDash val="solid"/>
          </a:ln>
        </p:spPr>
      </p:sp>
      <p:sp>
        <p:nvSpPr>
          <p:cNvPr id="25" name="sakura-cover-check-label-3">
            <a:extLst xmlns:a="http://schemas.openxmlformats.org/drawingml/2006/main">
              <a:ext uri="{FF2B5EF4-FFF2-40B4-BE49-F238E27FC236}">
                <a16:creationId xmlns:a16="http://schemas.microsoft.com/office/drawing/2014/main" id="{B117D96F-C419-4F3A-BA89-CC4B4051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295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20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FEED</a:t>
            </a:r>
          </a:p>
        </p:txBody>
      </p:sp>
      <p:sp>
        <p:nvSpPr>
          <p:cNvPr id="26" name="sakura-cover-footer-rule">
            <a:extLst xmlns:a="http://schemas.openxmlformats.org/drawingml/2006/main">
              <a:ext uri="{FF2B5EF4-FFF2-40B4-BE49-F238E27FC236}">
                <a16:creationId xmlns:a16="http://schemas.microsoft.com/office/drawing/2014/main" id="{83023FA3-5F87-4D07-BDD0-2F50AB12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2455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akura-cover-footer">
            <a:extLst xmlns:a="http://schemas.openxmlformats.org/drawingml/2006/main">
              <a:ext uri="{FF2B5EF4-FFF2-40B4-BE49-F238E27FC236}">
                <a16:creationId xmlns:a16="http://schemas.microsoft.com/office/drawing/2014/main" id="{C96E8230-5D37-42E7-A9C8-3A247F83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LIMITED RUN · FOUR POCKET-SIZED IDEAS · ILLUSTRATIVE CATALOGUE</a:t>
            </a:r>
          </a:p>
        </p:txBody>
      </p:sp>
      <p:sp>
        <p:nvSpPr>
          <p:cNvPr id="28" name="sakura-cover-page">
            <a:extLst xmlns:a="http://schemas.openxmlformats.org/drawingml/2006/main">
              <a:ext uri="{FF2B5EF4-FFF2-40B4-BE49-F238E27FC236}">
                <a16:creationId xmlns:a16="http://schemas.microsoft.com/office/drawing/2014/main" id="{D54DE08D-F159-42E2-B0E6-E36647CD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788696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akura-top-2">
            <a:extLst xmlns:a="http://schemas.openxmlformats.org/drawingml/2006/main">
              <a:ext uri="{FF2B5EF4-FFF2-40B4-BE49-F238E27FC236}">
                <a16:creationId xmlns:a16="http://schemas.microsoft.com/office/drawing/2014/main" id="{BE9E946C-4D88-4987-8685-D106ADF0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A NOTE ABOVE THE WORKBENCH</a:t>
            </a:r>
          </a:p>
        </p:txBody>
      </p:sp>
      <p:sp>
        <p:nvSpPr>
          <p:cNvPr id="2" name="sakura-top-rule-2">
            <a:extLst xmlns:a="http://schemas.openxmlformats.org/drawingml/2006/main">
              <a:ext uri="{FF2B5EF4-FFF2-40B4-BE49-F238E27FC236}">
                <a16:creationId xmlns:a16="http://schemas.microsoft.com/office/drawing/2014/main" id="{2C23C466-0C92-4759-A450-AAE0456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kura-page-2">
            <a:extLst xmlns:a="http://schemas.openxmlformats.org/drawingml/2006/main">
              <a:ext uri="{FF2B5EF4-FFF2-40B4-BE49-F238E27FC236}">
                <a16:creationId xmlns:a16="http://schemas.microsoft.com/office/drawing/2014/main" id="{29817F10-E4BE-4A4C-B700-37CA3966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02 / 08</a:t>
            </a:r>
          </a:p>
        </p:txBody>
      </p:sp>
      <p:sp>
        <p:nvSpPr>
          <p:cNvPr id="4" name="sakura-manifesto-ribbon-0">
            <a:extLst xmlns:a="http://schemas.openxmlformats.org/drawingml/2006/main">
              <a:ext uri="{FF2B5EF4-FFF2-40B4-BE49-F238E27FC236}">
                <a16:creationId xmlns:a16="http://schemas.microsoft.com/office/drawing/2014/main" id="{51C877DC-4821-4D54-B00E-98895106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1143000" y="18478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akura-manifesto-ribbon-1">
            <a:extLst xmlns:a="http://schemas.openxmlformats.org/drawingml/2006/main">
              <a:ext uri="{FF2B5EF4-FFF2-40B4-BE49-F238E27FC236}">
                <a16:creationId xmlns:a16="http://schemas.microsoft.com/office/drawing/2014/main" id="{1FE5B7B8-B3B4-4616-9111-0CBC038D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1143000" y="23050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akura-manifesto-ribbon-2">
            <a:extLst xmlns:a="http://schemas.openxmlformats.org/drawingml/2006/main">
              <a:ext uri="{FF2B5EF4-FFF2-40B4-BE49-F238E27FC236}">
                <a16:creationId xmlns:a16="http://schemas.microsoft.com/office/drawing/2014/main" id="{07C2F5FC-5765-4FB2-903D-CC2906B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1143000" y="2762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kura-manifesto-ribbon-3">
            <a:extLst xmlns:a="http://schemas.openxmlformats.org/drawingml/2006/main">
              <a:ext uri="{FF2B5EF4-FFF2-40B4-BE49-F238E27FC236}">
                <a16:creationId xmlns:a16="http://schemas.microsoft.com/office/drawing/2014/main" id="{7E188D1F-0629-451B-B860-685B3C29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1143000" y="32194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9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kura-manifesto-ribbon-4">
            <a:extLst xmlns:a="http://schemas.openxmlformats.org/drawingml/2006/main">
              <a:ext uri="{FF2B5EF4-FFF2-40B4-BE49-F238E27FC236}">
                <a16:creationId xmlns:a16="http://schemas.microsoft.com/office/drawing/2014/main" id="{27819FB3-D4C2-4F4C-A853-1ACF995B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1143000" y="36766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akura-manifesto-shadow">
            <a:extLst xmlns:a="http://schemas.openxmlformats.org/drawingml/2006/main">
              <a:ext uri="{FF2B5EF4-FFF2-40B4-BE49-F238E27FC236}">
                <a16:creationId xmlns:a16="http://schemas.microsoft.com/office/drawing/2014/main" id="{B2637AC5-B84F-4E4F-B217-054E23F5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114550"/>
            <a:ext cx="9334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akura-manifesto-box">
            <a:extLst xmlns:a="http://schemas.openxmlformats.org/drawingml/2006/main">
              <a:ext uri="{FF2B5EF4-FFF2-40B4-BE49-F238E27FC236}">
                <a16:creationId xmlns:a16="http://schemas.microsoft.com/office/drawing/2014/main" id="{E0C241AA-84B7-4E0B-AE06-CEF3CC79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9334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4288">
            <a:solidFill>
              <a:srgbClr val="3A2516"/>
            </a:solidFill>
            <a:prstDash val="solid"/>
          </a:ln>
        </p:spPr>
      </p:sp>
      <p:sp>
        <p:nvSpPr>
          <p:cNvPr id="11" name="sakura-manifesto-copy">
            <a:extLst xmlns:a="http://schemas.openxmlformats.org/drawingml/2006/main">
              <a:ext uri="{FF2B5EF4-FFF2-40B4-BE49-F238E27FC236}">
                <a16:creationId xmlns:a16="http://schemas.microsoft.com/office/drawing/2014/main" id="{A928177C-C5A1-45DC-A40B-EA277CA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8667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72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472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The best little machines do one thing beautifully.</a:t>
            </a:r>
          </a:p>
        </p:txBody>
      </p:sp>
      <p:sp>
        <p:nvSpPr>
          <p:cNvPr id="12" name="sakura-manifesto-tag">
            <a:extLst xmlns:a="http://schemas.openxmlformats.org/drawingml/2006/main">
              <a:ext uri="{FF2B5EF4-FFF2-40B4-BE49-F238E27FC236}">
                <a16:creationId xmlns:a16="http://schemas.microsoft.com/office/drawing/2014/main" id="{034052CE-AE35-4E46-BA0B-BBA17239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akura-manifesto-tag-text">
            <a:extLst xmlns:a="http://schemas.openxmlformats.org/drawingml/2006/main">
              <a:ext uri="{FF2B5EF4-FFF2-40B4-BE49-F238E27FC236}">
                <a16:creationId xmlns:a16="http://schemas.microsoft.com/office/drawing/2014/main" id="{4F17A4B6-FC1C-47BC-A855-C6AABDFD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1E6C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F1E6CB"/>
                </a:solidFill>
                <a:latin typeface="JetBrains Mono"/>
                <a:ea typeface="JetBrains Mono"/>
                <a:cs typeface="JetBrains Mono"/>
              </a:rPr>
              <a:t>— workshop rule · edition 2026</a:t>
            </a:r>
          </a:p>
        </p:txBody>
      </p:sp>
    </p:spTree>
    <p:extLst>
      <p:ext uri="{BB962C8B-B14F-4D97-AF65-F5344CB8AC3E}">
        <p14:creationId xmlns:p14="http://schemas.microsoft.com/office/powerpoint/2010/main" val="506935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E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akura-top-3">
            <a:extLst xmlns:a="http://schemas.openxmlformats.org/drawingml/2006/main">
              <a:ext uri="{FF2B5EF4-FFF2-40B4-BE49-F238E27FC236}">
                <a16:creationId xmlns:a16="http://schemas.microsoft.com/office/drawing/2014/main" id="{21C579B3-D74B-4FB8-8EEC-0728756C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THE 2026 POCKET CATALOGUE</a:t>
            </a:r>
          </a:p>
        </p:txBody>
      </p:sp>
      <p:sp>
        <p:nvSpPr>
          <p:cNvPr id="2" name="sakura-top-rule-3">
            <a:extLst xmlns:a="http://schemas.openxmlformats.org/drawingml/2006/main">
              <a:ext uri="{FF2B5EF4-FFF2-40B4-BE49-F238E27FC236}">
                <a16:creationId xmlns:a16="http://schemas.microsoft.com/office/drawing/2014/main" id="{D138FC43-0D5F-474A-96F6-1171BA5A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kura-page-3">
            <a:extLst xmlns:a="http://schemas.openxmlformats.org/drawingml/2006/main">
              <a:ext uri="{FF2B5EF4-FFF2-40B4-BE49-F238E27FC236}">
                <a16:creationId xmlns:a16="http://schemas.microsoft.com/office/drawing/2014/main" id="{2DC65AE7-D8A1-44B4-84A0-E75A91D2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03 / 08</a:t>
            </a:r>
          </a:p>
        </p:txBody>
      </p:sp>
      <p:sp>
        <p:nvSpPr>
          <p:cNvPr id="4" name="sakura-cards-meta">
            <a:extLst xmlns:a="http://schemas.openxmlformats.org/drawingml/2006/main">
              <a:ext uri="{FF2B5EF4-FFF2-40B4-BE49-F238E27FC236}">
                <a16:creationId xmlns:a16="http://schemas.microsoft.com/office/drawing/2014/main" id="{F7C3A5CD-F9B5-404A-8F81-9BAFC2DF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050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FOUR MACHINES · ONE CLEAR JOB</a:t>
            </a:r>
          </a:p>
        </p:txBody>
      </p:sp>
      <p:sp>
        <p:nvSpPr>
          <p:cNvPr id="5" name="sakura-product-0">
            <a:extLst xmlns:a="http://schemas.openxmlformats.org/drawingml/2006/main">
              <a:ext uri="{FF2B5EF4-FFF2-40B4-BE49-F238E27FC236}">
                <a16:creationId xmlns:a16="http://schemas.microsoft.com/office/drawing/2014/main" id="{ECACC651-994E-4AB8-B8ED-CF5C4DAE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260985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4288">
            <a:solidFill>
              <a:srgbClr val="3A2516"/>
            </a:solidFill>
            <a:prstDash val="solid"/>
          </a:ln>
        </p:spPr>
      </p:sp>
      <p:sp>
        <p:nvSpPr>
          <p:cNvPr id="6" name="sakura-product-strip-0">
            <a:extLst xmlns:a="http://schemas.openxmlformats.org/drawingml/2006/main">
              <a:ext uri="{FF2B5EF4-FFF2-40B4-BE49-F238E27FC236}">
                <a16:creationId xmlns:a16="http://schemas.microsoft.com/office/drawing/2014/main" id="{33529347-F22F-4235-8B7F-994E979F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kura-product-code-0">
            <a:extLst xmlns:a="http://schemas.openxmlformats.org/drawingml/2006/main">
              <a:ext uri="{FF2B5EF4-FFF2-40B4-BE49-F238E27FC236}">
                <a16:creationId xmlns:a16="http://schemas.microsoft.com/office/drawing/2014/main" id="{2389D945-396F-468F-91C5-22B3CF7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4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PM-01</a:t>
            </a:r>
          </a:p>
        </p:txBody>
      </p:sp>
      <p:sp>
        <p:nvSpPr>
          <p:cNvPr id="8" name="sakura-product-title-0">
            <a:extLst xmlns:a="http://schemas.openxmlformats.org/drawingml/2006/main">
              <a:ext uri="{FF2B5EF4-FFF2-40B4-BE49-F238E27FC236}">
                <a16:creationId xmlns:a16="http://schemas.microsoft.com/office/drawing/2014/main" id="{871B5B1D-C2A8-4CBD-B8AE-0400C8D9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5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5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LOOP RECORDER</a:t>
            </a:r>
          </a:p>
        </p:txBody>
      </p:sp>
      <p:sp>
        <p:nvSpPr>
          <p:cNvPr id="9" name="sakura-product-body-0">
            <a:extLst xmlns:a="http://schemas.openxmlformats.org/drawingml/2006/main">
              <a:ext uri="{FF2B5EF4-FFF2-40B4-BE49-F238E27FC236}">
                <a16:creationId xmlns:a16="http://schemas.microsoft.com/office/drawing/2014/main" id="{DA95FE6D-92AA-4FDA-9590-972F937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27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Capture one idea before it escapes.</a:t>
            </a:r>
          </a:p>
        </p:txBody>
      </p:sp>
      <p:sp>
        <p:nvSpPr>
          <p:cNvPr id="10" name="sakura-product-rule-0">
            <a:extLst xmlns:a="http://schemas.openxmlformats.org/drawingml/2006/main">
              <a:ext uri="{FF2B5EF4-FFF2-40B4-BE49-F238E27FC236}">
                <a16:creationId xmlns:a16="http://schemas.microsoft.com/office/drawing/2014/main" id="{5EBFCA16-8B3C-48C1-9A98-A5FEF4DF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4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akura-product-spec-0">
            <a:extLst xmlns:a="http://schemas.openxmlformats.org/drawingml/2006/main">
              <a:ext uri="{FF2B5EF4-FFF2-40B4-BE49-F238E27FC236}">
                <a16:creationId xmlns:a16="http://schemas.microsoft.com/office/drawing/2014/main" id="{1C8294B9-8699-4986-92C4-1ACD9095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209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WEIGHT          72 g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BATTERY         12 h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FORMAT          POCKET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STATUS          CONCEPT</a:t>
            </a:r>
          </a:p>
        </p:txBody>
      </p:sp>
      <p:sp>
        <p:nvSpPr>
          <p:cNvPr id="12" name="sakura-product-1">
            <a:extLst xmlns:a="http://schemas.openxmlformats.org/drawingml/2006/main">
              <a:ext uri="{FF2B5EF4-FFF2-40B4-BE49-F238E27FC236}">
                <a16:creationId xmlns:a16="http://schemas.microsoft.com/office/drawing/2014/main" id="{6FF93A3B-93F2-4347-8A85-36D3475A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971550"/>
            <a:ext cx="260985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4288">
            <a:solidFill>
              <a:srgbClr val="3A2516"/>
            </a:solidFill>
            <a:prstDash val="solid"/>
          </a:ln>
        </p:spPr>
      </p:sp>
      <p:sp>
        <p:nvSpPr>
          <p:cNvPr id="13" name="sakura-product-strip-1">
            <a:extLst xmlns:a="http://schemas.openxmlformats.org/drawingml/2006/main">
              <a:ext uri="{FF2B5EF4-FFF2-40B4-BE49-F238E27FC236}">
                <a16:creationId xmlns:a16="http://schemas.microsoft.com/office/drawing/2014/main" id="{25C99CA9-256E-4627-8775-D243F36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9715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akura-product-code-1">
            <a:extLst xmlns:a="http://schemas.openxmlformats.org/drawingml/2006/main">
              <a:ext uri="{FF2B5EF4-FFF2-40B4-BE49-F238E27FC236}">
                <a16:creationId xmlns:a16="http://schemas.microsoft.com/office/drawing/2014/main" id="{8DCFCBE4-94B9-4F29-9E87-FAED64B1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3525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4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PM-02</a:t>
            </a:r>
          </a:p>
        </p:txBody>
      </p:sp>
      <p:sp>
        <p:nvSpPr>
          <p:cNvPr id="15" name="sakura-product-title-1">
            <a:extLst xmlns:a="http://schemas.openxmlformats.org/drawingml/2006/main">
              <a:ext uri="{FF2B5EF4-FFF2-40B4-BE49-F238E27FC236}">
                <a16:creationId xmlns:a16="http://schemas.microsoft.com/office/drawing/2014/main" id="{769DD786-8E6D-43F6-84BD-DCB5C13C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716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5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5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POCKET PRINTER</a:t>
            </a:r>
          </a:p>
        </p:txBody>
      </p:sp>
      <p:sp>
        <p:nvSpPr>
          <p:cNvPr id="16" name="sakura-product-body-1">
            <a:extLst xmlns:a="http://schemas.openxmlformats.org/drawingml/2006/main">
              <a:ext uri="{FF2B5EF4-FFF2-40B4-BE49-F238E27FC236}">
                <a16:creationId xmlns:a16="http://schemas.microsoft.com/office/drawing/2014/main" id="{91E0D5DB-6D41-4279-B598-D8D01ED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860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27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Turn a note into something you can hand over.</a:t>
            </a:r>
          </a:p>
        </p:txBody>
      </p:sp>
      <p:sp>
        <p:nvSpPr>
          <p:cNvPr id="17" name="sakura-product-rule-1">
            <a:extLst xmlns:a="http://schemas.openxmlformats.org/drawingml/2006/main">
              <a:ext uri="{FF2B5EF4-FFF2-40B4-BE49-F238E27FC236}">
                <a16:creationId xmlns:a16="http://schemas.microsoft.com/office/drawing/2014/main" id="{41BB0CFE-D705-415D-93E5-44583099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719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4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akura-product-spec-1">
            <a:extLst xmlns:a="http://schemas.openxmlformats.org/drawingml/2006/main">
              <a:ext uri="{FF2B5EF4-FFF2-40B4-BE49-F238E27FC236}">
                <a16:creationId xmlns:a16="http://schemas.microsoft.com/office/drawing/2014/main" id="{415BDE0A-EEC9-440C-82EE-59A6F30D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38650"/>
            <a:ext cx="2209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WEIGHT          186 g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BATTERY         USB-C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FORMAT          POCKET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STATUS          CONCEPT</a:t>
            </a:r>
          </a:p>
        </p:txBody>
      </p:sp>
      <p:sp>
        <p:nvSpPr>
          <p:cNvPr id="19" name="sakura-product-2">
            <a:extLst xmlns:a="http://schemas.openxmlformats.org/drawingml/2006/main">
              <a:ext uri="{FF2B5EF4-FFF2-40B4-BE49-F238E27FC236}">
                <a16:creationId xmlns:a16="http://schemas.microsoft.com/office/drawing/2014/main" id="{C5A33F5B-535A-42AC-94A1-59709688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971550"/>
            <a:ext cx="260985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4288">
            <a:solidFill>
              <a:srgbClr val="3A2516"/>
            </a:solidFill>
            <a:prstDash val="solid"/>
          </a:ln>
        </p:spPr>
      </p:sp>
      <p:sp>
        <p:nvSpPr>
          <p:cNvPr id="20" name="sakura-product-strip-2">
            <a:extLst xmlns:a="http://schemas.openxmlformats.org/drawingml/2006/main">
              <a:ext uri="{FF2B5EF4-FFF2-40B4-BE49-F238E27FC236}">
                <a16:creationId xmlns:a16="http://schemas.microsoft.com/office/drawing/2014/main" id="{A2FA64FC-74B8-414D-B3B6-5ED6F32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9715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akura-product-code-2">
            <a:extLst xmlns:a="http://schemas.openxmlformats.org/drawingml/2006/main">
              <a:ext uri="{FF2B5EF4-FFF2-40B4-BE49-F238E27FC236}">
                <a16:creationId xmlns:a16="http://schemas.microsoft.com/office/drawing/2014/main" id="{863404B7-D20D-4433-945B-71DE7C58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525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4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PM-03</a:t>
            </a:r>
          </a:p>
        </p:txBody>
      </p:sp>
      <p:sp>
        <p:nvSpPr>
          <p:cNvPr id="22" name="sakura-product-title-2">
            <a:extLst xmlns:a="http://schemas.openxmlformats.org/drawingml/2006/main">
              <a:ext uri="{FF2B5EF4-FFF2-40B4-BE49-F238E27FC236}">
                <a16:creationId xmlns:a16="http://schemas.microsoft.com/office/drawing/2014/main" id="{FC7C31CD-85F5-4AB3-848F-372B6C02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5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5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FIELD RADIO</a:t>
            </a:r>
          </a:p>
        </p:txBody>
      </p:sp>
      <p:sp>
        <p:nvSpPr>
          <p:cNvPr id="23" name="sakura-product-body-2">
            <a:extLst xmlns:a="http://schemas.openxmlformats.org/drawingml/2006/main">
              <a:ext uri="{FF2B5EF4-FFF2-40B4-BE49-F238E27FC236}">
                <a16:creationId xmlns:a16="http://schemas.microsoft.com/office/drawing/2014/main" id="{1E283F2E-EE0E-46F5-A2A4-B57716EB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27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Find a station without finding a feed.</a:t>
            </a:r>
          </a:p>
        </p:txBody>
      </p:sp>
      <p:sp>
        <p:nvSpPr>
          <p:cNvPr id="24" name="sakura-product-rule-2">
            <a:extLst xmlns:a="http://schemas.openxmlformats.org/drawingml/2006/main">
              <a:ext uri="{FF2B5EF4-FFF2-40B4-BE49-F238E27FC236}">
                <a16:creationId xmlns:a16="http://schemas.microsoft.com/office/drawing/2014/main" id="{D72EB5A9-D1C1-4613-8784-7370331C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4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akura-product-spec-2">
            <a:extLst xmlns:a="http://schemas.openxmlformats.org/drawingml/2006/main">
              <a:ext uri="{FF2B5EF4-FFF2-40B4-BE49-F238E27FC236}">
                <a16:creationId xmlns:a16="http://schemas.microsoft.com/office/drawing/2014/main" id="{D203EC37-E883-4757-AEB0-0529722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2209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WEIGHT          142 g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BATTERY         18 h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FORMAT          POCKET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STATUS          CONCEPT</a:t>
            </a:r>
          </a:p>
        </p:txBody>
      </p:sp>
      <p:sp>
        <p:nvSpPr>
          <p:cNvPr id="26" name="sakura-product-3">
            <a:extLst xmlns:a="http://schemas.openxmlformats.org/drawingml/2006/main">
              <a:ext uri="{FF2B5EF4-FFF2-40B4-BE49-F238E27FC236}">
                <a16:creationId xmlns:a16="http://schemas.microsoft.com/office/drawing/2014/main" id="{FE7FFC6D-FE5D-4412-91CA-B844DFE6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971550"/>
            <a:ext cx="260985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4288">
            <a:solidFill>
              <a:srgbClr val="3A2516"/>
            </a:solidFill>
            <a:prstDash val="solid"/>
          </a:ln>
        </p:spPr>
      </p:sp>
      <p:sp>
        <p:nvSpPr>
          <p:cNvPr id="27" name="sakura-product-strip-3">
            <a:extLst xmlns:a="http://schemas.openxmlformats.org/drawingml/2006/main">
              <a:ext uri="{FF2B5EF4-FFF2-40B4-BE49-F238E27FC236}">
                <a16:creationId xmlns:a16="http://schemas.microsoft.com/office/drawing/2014/main" id="{B0EA9462-C38A-49BD-8CD0-CCE2B56E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9715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akura-product-code-3">
            <a:extLst xmlns:a="http://schemas.openxmlformats.org/drawingml/2006/main">
              <a:ext uri="{FF2B5EF4-FFF2-40B4-BE49-F238E27FC236}">
                <a16:creationId xmlns:a16="http://schemas.microsoft.com/office/drawing/2014/main" id="{7CAEB592-2132-4261-AC34-C9551EC2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3525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4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PM-04</a:t>
            </a:r>
          </a:p>
        </p:txBody>
      </p:sp>
      <p:sp>
        <p:nvSpPr>
          <p:cNvPr id="29" name="sakura-product-title-3">
            <a:extLst xmlns:a="http://schemas.openxmlformats.org/drawingml/2006/main">
              <a:ext uri="{FF2B5EF4-FFF2-40B4-BE49-F238E27FC236}">
                <a16:creationId xmlns:a16="http://schemas.microsoft.com/office/drawing/2014/main" id="{5E2ED765-2C2C-4DDE-99EE-D3E25822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716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5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5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FOCUS TIMER</a:t>
            </a:r>
          </a:p>
        </p:txBody>
      </p:sp>
      <p:sp>
        <p:nvSpPr>
          <p:cNvPr id="30" name="sakura-product-body-3">
            <a:extLst xmlns:a="http://schemas.openxmlformats.org/drawingml/2006/main">
              <a:ext uri="{FF2B5EF4-FFF2-40B4-BE49-F238E27FC236}">
                <a16:creationId xmlns:a16="http://schemas.microsoft.com/office/drawing/2014/main" id="{13F867CE-286C-46F0-9113-D6832FB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86050"/>
            <a:ext cx="2209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27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Give one task a visible ending.</a:t>
            </a:r>
          </a:p>
        </p:txBody>
      </p:sp>
      <p:sp>
        <p:nvSpPr>
          <p:cNvPr id="31" name="sakura-product-rule-3">
            <a:extLst xmlns:a="http://schemas.openxmlformats.org/drawingml/2006/main">
              <a:ext uri="{FF2B5EF4-FFF2-40B4-BE49-F238E27FC236}">
                <a16:creationId xmlns:a16="http://schemas.microsoft.com/office/drawing/2014/main" id="{A6488B67-46B4-4B24-9480-04A96909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719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4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akura-product-spec-3">
            <a:extLst xmlns:a="http://schemas.openxmlformats.org/drawingml/2006/main">
              <a:ext uri="{FF2B5EF4-FFF2-40B4-BE49-F238E27FC236}">
                <a16:creationId xmlns:a16="http://schemas.microsoft.com/office/drawing/2014/main" id="{BCCA6222-20DD-4755-95B2-08FB5AB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38650"/>
            <a:ext cx="2209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WEIGHT          96 g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BATTERY         30 days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FORMAT          POCKET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STATUS          CONCEPT</a:t>
            </a:r>
          </a:p>
        </p:txBody>
      </p:sp>
    </p:spTree>
    <p:extLst>
      <p:ext uri="{BB962C8B-B14F-4D97-AF65-F5344CB8AC3E}">
        <p14:creationId xmlns:p14="http://schemas.microsoft.com/office/powerpoint/2010/main" val="759897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akura-top-4">
            <a:extLst xmlns:a="http://schemas.openxmlformats.org/drawingml/2006/main">
              <a:ext uri="{FF2B5EF4-FFF2-40B4-BE49-F238E27FC236}">
                <a16:creationId xmlns:a16="http://schemas.microsoft.com/office/drawing/2014/main" id="{3CBDCD89-D6ED-4947-A842-43AEDF4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SIGNAL TEST / 40 ILLUSTRATIVE SESSIONS</a:t>
            </a:r>
          </a:p>
        </p:txBody>
      </p:sp>
      <p:sp>
        <p:nvSpPr>
          <p:cNvPr id="2" name="sakura-top-rule-4">
            <a:extLst xmlns:a="http://schemas.openxmlformats.org/drawingml/2006/main">
              <a:ext uri="{FF2B5EF4-FFF2-40B4-BE49-F238E27FC236}">
                <a16:creationId xmlns:a16="http://schemas.microsoft.com/office/drawing/2014/main" id="{64335ED5-0934-4D5D-861B-C790967B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kura-page-4">
            <a:extLst xmlns:a="http://schemas.openxmlformats.org/drawingml/2006/main">
              <a:ext uri="{FF2B5EF4-FFF2-40B4-BE49-F238E27FC236}">
                <a16:creationId xmlns:a16="http://schemas.microsoft.com/office/drawing/2014/main" id="{6236EBF2-D864-4BF5-A981-1CCECEB5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04 / 08</a:t>
            </a:r>
          </a:p>
        </p:txBody>
      </p:sp>
      <p:sp>
        <p:nvSpPr>
          <p:cNvPr id="4" name="sakura-signal-title">
            <a:extLst xmlns:a="http://schemas.openxmlformats.org/drawingml/2006/main">
              <a:ext uri="{FF2B5EF4-FFF2-40B4-BE49-F238E27FC236}">
                <a16:creationId xmlns:a16="http://schemas.microsoft.com/office/drawing/2014/main" id="{580A132E-38AE-4F24-B15F-0090C7DA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0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405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Small jobs reward clear controls.</a:t>
            </a:r>
          </a:p>
        </p:txBody>
      </p:sp>
      <p:sp>
        <p:nvSpPr>
          <p:cNvPr id="5" name="sakura-signal-copy">
            <a:extLst xmlns:a="http://schemas.openxmlformats.org/drawingml/2006/main">
              <a:ext uri="{FF2B5EF4-FFF2-40B4-BE49-F238E27FC236}">
                <a16:creationId xmlns:a16="http://schemas.microsoft.com/office/drawing/2014/main" id="{BD5BCDFB-71F3-40C3-B8F3-D1ADFFB8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962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350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350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Completion stayed high across every concept. Repeat intent separated the useful rituals from the merely charming objects.</a:t>
            </a:r>
          </a:p>
        </p:txBody>
      </p:sp>
      <p:sp>
        <p:nvSpPr>
          <p:cNvPr id="6" name="sakura-signal-stamp">
            <a:extLst xmlns:a="http://schemas.openxmlformats.org/drawingml/2006/main">
              <a:ext uri="{FF2B5EF4-FFF2-40B4-BE49-F238E27FC236}">
                <a16:creationId xmlns:a16="http://schemas.microsoft.com/office/drawing/2014/main" id="{5DF0C1BB-5A14-4411-8E75-04DEE5C5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457200" y="41529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kura-signal-stamp-text">
            <a:extLst xmlns:a="http://schemas.openxmlformats.org/drawingml/2006/main">
              <a:ext uri="{FF2B5EF4-FFF2-40B4-BE49-F238E27FC236}">
                <a16:creationId xmlns:a16="http://schemas.microsoft.com/office/drawing/2014/main" id="{A0063378-DDEE-4A7A-8616-FA17F513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1350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rPr>
              <a:t>FIELD TEST</a:t>
            </a:r>
          </a:p>
        </p:txBody>
      </p:sp>
      <p:sp>
        <p:nvSpPr>
          <p:cNvPr id="8" name="sakura-signal-chart-frame">
            <a:extLst xmlns:a="http://schemas.openxmlformats.org/drawingml/2006/main">
              <a:ext uri="{FF2B5EF4-FFF2-40B4-BE49-F238E27FC236}">
                <a16:creationId xmlns:a16="http://schemas.microsoft.com/office/drawing/2014/main" id="{34ED1AC1-06BC-4218-A1E0-343DBDD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952500"/>
            <a:ext cx="6953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4288">
            <a:solidFill>
              <a:srgbClr val="3A2516"/>
            </a:solidFill>
            <a:prstDash val="solid"/>
          </a:ln>
        </p:spPr>
      </p:sp>
      <p:graphicFrame>
        <p:nvGraphicFramePr>
          <p:cNvPr id="18" name="sakura-signal-chart"/>
          <p:cNvGraphicFramePr/>
          <p:nvPr/>
        </p:nvGraphicFramePr>
        <p:xfrm>
          <a:off xmlns:a="http://schemas.openxmlformats.org/drawingml/2006/main" x="5105400" y="1295400"/>
          <a:ext xmlns:a="http://schemas.openxmlformats.org/drawingml/2006/main" cx="63436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d94ec2d2404ec2"/>
          </a:graphicData>
        </a:graphic>
      </p:graphicFrame>
    </p:spTree>
    <p:extLst>
      <p:ext uri="{BB962C8B-B14F-4D97-AF65-F5344CB8AC3E}">
        <p14:creationId xmlns:p14="http://schemas.microsoft.com/office/powerpoint/2010/main" val="1414331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akura-top-5">
            <a:extLst xmlns:a="http://schemas.openxmlformats.org/drawingml/2006/main">
              <a:ext uri="{FF2B5EF4-FFF2-40B4-BE49-F238E27FC236}">
                <a16:creationId xmlns:a16="http://schemas.microsoft.com/office/drawing/2014/main" id="{CF97021A-FA70-4B5F-AF12-74F75956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THE SPEC SHEET</a:t>
            </a:r>
          </a:p>
        </p:txBody>
      </p:sp>
      <p:sp>
        <p:nvSpPr>
          <p:cNvPr id="2" name="sakura-top-rule-5">
            <a:extLst xmlns:a="http://schemas.openxmlformats.org/drawingml/2006/main">
              <a:ext uri="{FF2B5EF4-FFF2-40B4-BE49-F238E27FC236}">
                <a16:creationId xmlns:a16="http://schemas.microsoft.com/office/drawing/2014/main" id="{A3A9ADF6-DDFD-4A70-8112-5767E9CA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kura-page-5">
            <a:extLst xmlns:a="http://schemas.openxmlformats.org/drawingml/2006/main">
              <a:ext uri="{FF2B5EF4-FFF2-40B4-BE49-F238E27FC236}">
                <a16:creationId xmlns:a16="http://schemas.microsoft.com/office/drawing/2014/main" id="{85C0423E-F860-4DC5-A17E-553F357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05 / 08</a:t>
            </a:r>
          </a:p>
        </p:txBody>
      </p:sp>
      <p:sp>
        <p:nvSpPr>
          <p:cNvPr id="4" name="sakura-spec-title">
            <a:extLst xmlns:a="http://schemas.openxmlformats.org/drawingml/2006/main">
              <a:ext uri="{FF2B5EF4-FFF2-40B4-BE49-F238E27FC236}">
                <a16:creationId xmlns:a16="http://schemas.microsoft.com/office/drawing/2014/main" id="{BAEA15B1-032B-4D8E-B599-BF5B51A2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334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420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Four machines, one honest constraint.</a:t>
            </a:r>
          </a:p>
        </p:txBody>
      </p:sp>
      <p:graphicFrame>
        <p:nvGraphicFramePr>
          <p:cNvPr id="11" name="sakura-spec-table"/>
          <p:cNvGraphicFramePr/>
          <p:nvPr/>
        </p:nvGraphicFramePr>
        <p:xfrm>
          <a:off xmlns:a="http://schemas.openxmlformats.org/drawingml/2006/main" x="438150" y="1943100"/>
          <a:ext xmlns:a="http://schemas.openxmlformats.org/drawingml/2006/main" cx="113157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2228"/>
                <a:gridCol w="2081048"/>
                <a:gridCol w="2471245"/>
                <a:gridCol w="2341179"/>
              </a:tblGrid>
              <a:tr h="74295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875" b="1">
                          <a:solidFill>
                            <a:srgbClr val="F1E6CB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Machine</a:t>
                      </a:r>
                    </a:p>
                  </a:txBody>
                  <a:tcPr marL="91440" marR="91440" marT="45720" marB="45720">
                    <a:solidFill>
                      <a:srgbClr val="E5392A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75" b="1">
                          <a:solidFill>
                            <a:srgbClr val="F1E6CB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E5392A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75" b="1">
                          <a:solidFill>
                            <a:srgbClr val="F1E6CB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Battery</a:t>
                      </a:r>
                    </a:p>
                  </a:txBody>
                  <a:tcPr marL="91440" marR="91440" marT="45720" marB="45720">
                    <a:solidFill>
                      <a:srgbClr val="E5392A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75" b="1">
                          <a:solidFill>
                            <a:srgbClr val="F1E6CB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Setup</a:t>
                      </a:r>
                    </a:p>
                  </a:txBody>
                  <a:tcPr marL="91440" marR="91440" marT="45720" marB="45720">
                    <a:solidFill>
                      <a:srgbClr val="E5392A"/>
                    </a:solidFill>
                  </a:tcPr>
                </a:tc>
              </a:tr>
              <a:tr h="74295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950" b="0">
                          <a:solidFill>
                            <a:srgbClr val="3A2516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Loop recorder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72 g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12 h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18 sec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</a:tr>
              <a:tr h="74295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950" b="0">
                          <a:solidFill>
                            <a:srgbClr val="3A2516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Pocket printer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186 g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USB-C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42 sec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</a:tr>
              <a:tr h="74295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950" b="0">
                          <a:solidFill>
                            <a:srgbClr val="3A2516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Field radio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142 g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18 h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11 sec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</a:tr>
              <a:tr h="74295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950" b="0">
                          <a:solidFill>
                            <a:srgbClr val="3A2516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Focus timer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96 g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30 days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8 sec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</a:tr>
            </a:tbl>
          </a:graphicData>
        </a:graphic>
      </p:graphicFrame>
      <p:sp>
        <p:nvSpPr>
          <p:cNvPr id="6" name="sakura-spec-note">
            <a:extLst xmlns:a="http://schemas.openxmlformats.org/drawingml/2006/main">
              <a:ext uri="{FF2B5EF4-FFF2-40B4-BE49-F238E27FC236}">
                <a16:creationId xmlns:a16="http://schemas.microsoft.com/office/drawing/2014/main" id="{FE05349E-733F-4969-8521-44C6D3E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Fictional product specifications / designed for editable presentation testing</a:t>
            </a:r>
          </a:p>
        </p:txBody>
      </p:sp>
    </p:spTree>
    <p:extLst>
      <p:ext uri="{BB962C8B-B14F-4D97-AF65-F5344CB8AC3E}">
        <p14:creationId xmlns:p14="http://schemas.microsoft.com/office/powerpoint/2010/main" val="348917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E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akura-top-6">
            <a:extLst xmlns:a="http://schemas.openxmlformats.org/drawingml/2006/main">
              <a:ext uri="{FF2B5EF4-FFF2-40B4-BE49-F238E27FC236}">
                <a16:creationId xmlns:a16="http://schemas.microsoft.com/office/drawing/2014/main" id="{CD8A06C7-746F-4442-8F8F-09873101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RETURN SIGNAL / WEEKLY REUSE</a:t>
            </a:r>
          </a:p>
        </p:txBody>
      </p:sp>
      <p:sp>
        <p:nvSpPr>
          <p:cNvPr id="2" name="sakura-top-rule-6">
            <a:extLst xmlns:a="http://schemas.openxmlformats.org/drawingml/2006/main">
              <a:ext uri="{FF2B5EF4-FFF2-40B4-BE49-F238E27FC236}">
                <a16:creationId xmlns:a16="http://schemas.microsoft.com/office/drawing/2014/main" id="{D647DC99-571E-4341-BA87-E0CAEA48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kura-page-6">
            <a:extLst xmlns:a="http://schemas.openxmlformats.org/drawingml/2006/main">
              <a:ext uri="{FF2B5EF4-FFF2-40B4-BE49-F238E27FC236}">
                <a16:creationId xmlns:a16="http://schemas.microsoft.com/office/drawing/2014/main" id="{26BFF790-62B6-4FF5-86B3-A2FED82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06 / 08</a:t>
            </a:r>
          </a:p>
        </p:txBody>
      </p:sp>
      <p:sp>
        <p:nvSpPr>
          <p:cNvPr id="4" name="sakura-return-title">
            <a:extLst xmlns:a="http://schemas.openxmlformats.org/drawingml/2006/main">
              <a:ext uri="{FF2B5EF4-FFF2-40B4-BE49-F238E27FC236}">
                <a16:creationId xmlns:a16="http://schemas.microsoft.com/office/drawing/2014/main" id="{EB155DF0-6A46-471A-9287-58D841E3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3345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255"/>
          </a:bodyPr>
          <a:lstStyle xmlns:a="http://schemas.openxmlformats.org/drawingml/2006/main"/>
          <a:p xmlns:a="http://schemas.openxmlformats.org/drawingml/2006/main">
            <a:pPr algn="l">
              <a:defRPr sz="412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412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The quietest object came back most often.</a:t>
            </a:r>
          </a:p>
        </p:txBody>
      </p:sp>
      <p:sp>
        <p:nvSpPr>
          <p:cNvPr id="5" name="sakura-return-chart-frame">
            <a:extLst xmlns:a="http://schemas.openxmlformats.org/drawingml/2006/main">
              <a:ext uri="{FF2B5EF4-FFF2-40B4-BE49-F238E27FC236}">
                <a16:creationId xmlns:a16="http://schemas.microsoft.com/office/drawing/2014/main" id="{84EAB722-469A-4174-9CF7-9407811D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838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6CB"/>
          </a:solidFill>
          <a:ln xmlns:a="http://schemas.openxmlformats.org/drawingml/2006/main" w="14288">
            <a:solidFill>
              <a:srgbClr val="3A2516"/>
            </a:solidFill>
            <a:prstDash val="solid"/>
          </a:ln>
        </p:spPr>
      </p:sp>
      <p:graphicFrame>
        <p:nvGraphicFramePr>
          <p:cNvPr id="17" name="sakura-return-chart"/>
          <p:cNvGraphicFramePr/>
          <p:nvPr/>
        </p:nvGraphicFramePr>
        <p:xfrm>
          <a:off xmlns:a="http://schemas.openxmlformats.org/drawingml/2006/main" x="742950" y="2209800"/>
          <a:ext xmlns:a="http://schemas.openxmlformats.org/drawingml/2006/main" cx="77724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9250bff90c48f8"/>
          </a:graphicData>
        </a:graphic>
      </p:graphicFrame>
      <p:sp>
        <p:nvSpPr>
          <p:cNvPr id="7" name="sakura-return-callout">
            <a:extLst xmlns:a="http://schemas.openxmlformats.org/drawingml/2006/main">
              <a:ext uri="{FF2B5EF4-FFF2-40B4-BE49-F238E27FC236}">
                <a16:creationId xmlns:a16="http://schemas.microsoft.com/office/drawing/2014/main" id="{364F7A1C-8BE7-4060-83E6-9682F29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26289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C2A"/>
          </a:solidFill>
          <a:ln xmlns:a="http://schemas.openxmlformats.org/drawingml/2006/main" w="14288">
            <a:solidFill>
              <a:srgbClr val="3A2516"/>
            </a:solidFill>
            <a:prstDash val="solid"/>
          </a:ln>
        </p:spPr>
      </p:sp>
      <p:sp>
        <p:nvSpPr>
          <p:cNvPr id="8" name="sakura-return-num">
            <a:extLst xmlns:a="http://schemas.openxmlformats.org/drawingml/2006/main">
              <a:ext uri="{FF2B5EF4-FFF2-40B4-BE49-F238E27FC236}">
                <a16:creationId xmlns:a16="http://schemas.microsoft.com/office/drawing/2014/main" id="{D65B0DF2-64A8-42AE-8FEE-F00F7ACE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8600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2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562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75%</a:t>
            </a:r>
          </a:p>
        </p:txBody>
      </p:sp>
      <p:sp>
        <p:nvSpPr>
          <p:cNvPr id="9" name="sakura-return-callout-copy">
            <a:extLst xmlns:a="http://schemas.openxmlformats.org/drawingml/2006/main">
              <a:ext uri="{FF2B5EF4-FFF2-40B4-BE49-F238E27FC236}">
                <a16:creationId xmlns:a16="http://schemas.microsoft.com/office/drawing/2014/main" id="{8DA62A87-5BEC-4E38-A034-59E23920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425" b="0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of timer testers still reached for it in week four.</a:t>
            </a:r>
          </a:p>
        </p:txBody>
      </p:sp>
      <p:sp>
        <p:nvSpPr>
          <p:cNvPr id="10" name="sakura-return-stamp">
            <a:extLst xmlns:a="http://schemas.openxmlformats.org/drawingml/2006/main">
              <a:ext uri="{FF2B5EF4-FFF2-40B4-BE49-F238E27FC236}">
                <a16:creationId xmlns:a16="http://schemas.microsoft.com/office/drawing/2014/main" id="{21E2BEB5-AED9-4619-979A-DA762DD2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9429750" y="49530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akura-return-stamp-text">
            <a:extLst xmlns:a="http://schemas.openxmlformats.org/drawingml/2006/main">
              <a:ext uri="{FF2B5EF4-FFF2-40B4-BE49-F238E27FC236}">
                <a16:creationId xmlns:a16="http://schemas.microsoft.com/office/drawing/2014/main" id="{B97F0EB3-4587-49EA-A953-CEBB6B51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292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1350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rPr>
              <a:t>NO FEED</a:t>
            </a:r>
          </a:p>
        </p:txBody>
      </p:sp>
    </p:spTree>
    <p:extLst>
      <p:ext uri="{BB962C8B-B14F-4D97-AF65-F5344CB8AC3E}">
        <p14:creationId xmlns:p14="http://schemas.microsoft.com/office/powerpoint/2010/main" val="549967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akura-top-7">
            <a:extLst xmlns:a="http://schemas.openxmlformats.org/drawingml/2006/main">
              <a:ext uri="{FF2B5EF4-FFF2-40B4-BE49-F238E27FC236}">
                <a16:creationId xmlns:a16="http://schemas.microsoft.com/office/drawing/2014/main" id="{7C42847C-8827-412F-8A10-13089428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RELEASE LEDGER / SMALL BATCHES</a:t>
            </a:r>
          </a:p>
        </p:txBody>
      </p:sp>
      <p:sp>
        <p:nvSpPr>
          <p:cNvPr id="2" name="sakura-top-rule-7">
            <a:extLst xmlns:a="http://schemas.openxmlformats.org/drawingml/2006/main">
              <a:ext uri="{FF2B5EF4-FFF2-40B4-BE49-F238E27FC236}">
                <a16:creationId xmlns:a16="http://schemas.microsoft.com/office/drawing/2014/main" id="{DADD66FD-8854-4D3F-8F13-8220DDF7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kura-page-7">
            <a:extLst xmlns:a="http://schemas.openxmlformats.org/drawingml/2006/main">
              <a:ext uri="{FF2B5EF4-FFF2-40B4-BE49-F238E27FC236}">
                <a16:creationId xmlns:a16="http://schemas.microsoft.com/office/drawing/2014/main" id="{A06E27A0-3C3F-4471-8EBC-34870108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07 / 08</a:t>
            </a:r>
          </a:p>
        </p:txBody>
      </p:sp>
      <p:sp>
        <p:nvSpPr>
          <p:cNvPr id="4" name="sakura-ledger-title">
            <a:extLst xmlns:a="http://schemas.openxmlformats.org/drawingml/2006/main">
              <a:ext uri="{FF2B5EF4-FFF2-40B4-BE49-F238E27FC236}">
                <a16:creationId xmlns:a16="http://schemas.microsoft.com/office/drawing/2014/main" id="{A52A1A2B-3663-423D-8014-D6CFDCD9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334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4275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Release slowly enough to learn.</a:t>
            </a:r>
          </a:p>
        </p:txBody>
      </p:sp>
      <p:graphicFrame>
        <p:nvGraphicFramePr>
          <p:cNvPr id="11" name="sakura-release-ledger"/>
          <p:cNvGraphicFramePr/>
          <p:nvPr/>
        </p:nvGraphicFramePr>
        <p:xfrm>
          <a:off xmlns:a="http://schemas.openxmlformats.org/drawingml/2006/main" x="438150" y="1924050"/>
          <a:ext xmlns:a="http://schemas.openxmlformats.org/drawingml/2006/main" cx="11315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93154"/>
                <a:gridCol w="2263140"/>
                <a:gridCol w="2263140"/>
                <a:gridCol w="2396266"/>
              </a:tblGrid>
              <a:tr h="72771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875" b="1">
                          <a:solidFill>
                            <a:srgbClr val="F1E6CB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Batch</a:t>
                      </a:r>
                    </a:p>
                  </a:txBody>
                  <a:tcPr marL="91440" marR="91440" marT="45720" marB="45720">
                    <a:solidFill>
                      <a:srgbClr val="3F8BC4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75" b="1">
                          <a:solidFill>
                            <a:srgbClr val="F1E6CB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3F8BC4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75" b="1">
                          <a:solidFill>
                            <a:srgbClr val="F1E6CB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3F8BC4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875" b="1">
                          <a:solidFill>
                            <a:srgbClr val="F1E6CB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3F8BC4"/>
                    </a:solidFill>
                  </a:tcPr>
                </a:tc>
              </a:tr>
              <a:tr h="72771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950" b="0">
                          <a:solidFill>
                            <a:srgbClr val="3A2516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Recorder / A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18 Sep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READY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</a:tr>
              <a:tr h="72771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950" b="0">
                          <a:solidFill>
                            <a:srgbClr val="3A2516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Printer / B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02 Oct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</a:tr>
              <a:tr h="72771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950" b="0">
                          <a:solidFill>
                            <a:srgbClr val="3A2516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Radio / C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23 Oct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READY</a:t>
                      </a:r>
                    </a:p>
                  </a:txBody>
                  <a:tcPr marL="91440" marR="91440" marT="45720" marB="45720">
                    <a:solidFill>
                      <a:srgbClr val="F1E6CB"/>
                    </a:solidFill>
                  </a:tcPr>
                </a:tc>
              </a:tr>
              <a:tr h="727710">
                <a:tc>
                  <a:txBody>
                    <a:bodyPr lIns="76200" tIns="57150" rIns="76200" bIns="57150" anchor="ctr"/>
                    <a:lstStyle/>
                    <a:p>
                      <a:pPr algn="l"/>
                      <a:r>
                        <a:rPr sz="1950" b="0">
                          <a:solidFill>
                            <a:srgbClr val="3A2516"/>
                          </a:solidFill>
                          <a:latin typeface="Big Shoulders Sakura"/>
                          <a:ea typeface="Big Shoulders Sakura"/>
                          <a:cs typeface="Big Shoulders Sakura"/>
                        </a:rPr>
                        <a:t>Timer / D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06 Nov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  <a:tc>
                  <a:txBody>
                    <a:bodyPr lIns="76200" tIns="57150" rIns="76200" bIns="57150" anchor="ctr"/>
                    <a:lstStyle/>
                    <a:p>
                      <a:pPr algn="ctr"/>
                      <a:r>
                        <a:rPr sz="1200" b="0">
                          <a:solidFill>
                            <a:srgbClr val="3A251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WAIT</a:t>
                      </a:r>
                    </a:p>
                  </a:txBody>
                  <a:tcPr marL="91440" marR="91440" marT="45720" marB="45720">
                    <a:solidFill>
                      <a:srgbClr val="E5D6B0"/>
                    </a:solidFill>
                  </a:tcPr>
                </a:tc>
              </a:tr>
            </a:tbl>
          </a:graphicData>
        </a:graphic>
      </p:graphicFrame>
      <p:sp>
        <p:nvSpPr>
          <p:cNvPr id="6" name="sakura-ledger-note">
            <a:extLst xmlns:a="http://schemas.openxmlformats.org/drawingml/2006/main">
              <a:ext uri="{FF2B5EF4-FFF2-40B4-BE49-F238E27FC236}">
                <a16:creationId xmlns:a16="http://schemas.microsoft.com/office/drawing/2014/main" id="{9B7C6855-D535-461D-B161-42A3C79F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674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Fictional release ledger / quantities are catalogue concept data</a:t>
            </a:r>
          </a:p>
        </p:txBody>
      </p:sp>
    </p:spTree>
    <p:extLst>
      <p:ext uri="{BB962C8B-B14F-4D97-AF65-F5344CB8AC3E}">
        <p14:creationId xmlns:p14="http://schemas.microsoft.com/office/powerpoint/2010/main" val="1540887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akura-close-petal-0">
            <a:extLst xmlns:a="http://schemas.openxmlformats.org/drawingml/2006/main">
              <a:ext uri="{FF2B5EF4-FFF2-40B4-BE49-F238E27FC236}">
                <a16:creationId xmlns:a16="http://schemas.microsoft.com/office/drawing/2014/main" id="{193E8612-5404-40B2-A2BA-ABB7BB1F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010" y="552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akura-close-petal-1">
            <a:extLst xmlns:a="http://schemas.openxmlformats.org/drawingml/2006/main">
              <a:ext uri="{FF2B5EF4-FFF2-40B4-BE49-F238E27FC236}">
                <a16:creationId xmlns:a16="http://schemas.microsoft.com/office/drawing/2014/main" id="{D81655B4-5477-44C0-A9FF-CB8ABC74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6967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39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akura-close-petal-2">
            <a:extLst xmlns:a="http://schemas.openxmlformats.org/drawingml/2006/main">
              <a:ext uri="{FF2B5EF4-FFF2-40B4-BE49-F238E27FC236}">
                <a16:creationId xmlns:a16="http://schemas.microsoft.com/office/drawing/2014/main" id="{5760A815-5F91-4409-A25F-B0F9FDE9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1261110"/>
            <a:ext cx="982980" cy="9829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kura-close-petal-3">
            <a:extLst xmlns:a="http://schemas.openxmlformats.org/drawingml/2006/main">
              <a:ext uri="{FF2B5EF4-FFF2-40B4-BE49-F238E27FC236}">
                <a16:creationId xmlns:a16="http://schemas.microsoft.com/office/drawing/2014/main" id="{E8A66E84-0A73-4F0F-9B0C-A688C785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510" y="986790"/>
            <a:ext cx="1120140" cy="11201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9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akura-close-petal-4">
            <a:extLst xmlns:a="http://schemas.openxmlformats.org/drawingml/2006/main">
              <a:ext uri="{FF2B5EF4-FFF2-40B4-BE49-F238E27FC236}">
                <a16:creationId xmlns:a16="http://schemas.microsoft.com/office/drawing/2014/main" id="{EA322879-26F4-41FE-BC18-83D0B114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51257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akura-close-ribbon-0">
            <a:extLst xmlns:a="http://schemas.openxmlformats.org/drawingml/2006/main">
              <a:ext uri="{FF2B5EF4-FFF2-40B4-BE49-F238E27FC236}">
                <a16:creationId xmlns:a16="http://schemas.microsoft.com/office/drawing/2014/main" id="{78068084-B2B2-49E0-9F47-17A1FADA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4000500" y="33337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kura-close-ribbon-1">
            <a:extLst xmlns:a="http://schemas.openxmlformats.org/drawingml/2006/main">
              <a:ext uri="{FF2B5EF4-FFF2-40B4-BE49-F238E27FC236}">
                <a16:creationId xmlns:a16="http://schemas.microsoft.com/office/drawing/2014/main" id="{C260F329-79FF-448B-B8A8-C969960B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4000500" y="3790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kura-close-ribbon-2">
            <a:extLst xmlns:a="http://schemas.openxmlformats.org/drawingml/2006/main">
              <a:ext uri="{FF2B5EF4-FFF2-40B4-BE49-F238E27FC236}">
                <a16:creationId xmlns:a16="http://schemas.microsoft.com/office/drawing/2014/main" id="{CD6E74FC-886A-45EE-A6F0-FA839130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4000500" y="42481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akura-close-ribbon-3">
            <a:extLst xmlns:a="http://schemas.openxmlformats.org/drawingml/2006/main">
              <a:ext uri="{FF2B5EF4-FFF2-40B4-BE49-F238E27FC236}">
                <a16:creationId xmlns:a16="http://schemas.microsoft.com/office/drawing/2014/main" id="{8E5F67CA-19BD-4BFD-A870-BEA7101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4000500" y="47053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9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akura-close-ribbon-4">
            <a:extLst xmlns:a="http://schemas.openxmlformats.org/drawingml/2006/main">
              <a:ext uri="{FF2B5EF4-FFF2-40B4-BE49-F238E27FC236}">
                <a16:creationId xmlns:a16="http://schemas.microsoft.com/office/drawing/2014/main" id="{368CC064-1239-4A28-9248-CAFC3E4D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4000500" y="51625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akura-close-kicker">
            <a:extLst xmlns:a="http://schemas.openxmlformats.org/drawingml/2006/main">
              <a:ext uri="{FF2B5EF4-FFF2-40B4-BE49-F238E27FC236}">
                <a16:creationId xmlns:a16="http://schemas.microsoft.com/office/drawing/2014/main" id="{B95979ED-28E7-441D-BCA8-E315908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defRPr>
            </a:pPr>
            <a:r>
              <a:rPr sz="1125" b="1" i="0">
                <a:solidFill>
                  <a:srgbClr val="3A2516"/>
                </a:solidFill>
                <a:latin typeface="Albert Sans Sakura"/>
                <a:ea typeface="Albert Sans Sakura"/>
                <a:cs typeface="Albert Sans Sakura"/>
              </a:rPr>
              <a:t>WORKSHOP RULE / NO. 08</a:t>
            </a:r>
          </a:p>
        </p:txBody>
      </p:sp>
      <p:sp>
        <p:nvSpPr>
          <p:cNvPr id="12" name="sakura-close-title">
            <a:extLst xmlns:a="http://schemas.openxmlformats.org/drawingml/2006/main">
              <a:ext uri="{FF2B5EF4-FFF2-40B4-BE49-F238E27FC236}">
                <a16:creationId xmlns:a16="http://schemas.microsoft.com/office/drawing/2014/main" id="{1841091A-56D4-4575-B472-7BFBF88B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9055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600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600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KEEP ONE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600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600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BUTTON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600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6000" b="0" i="0">
                <a:solidFill>
                  <a:srgbClr val="3A2516"/>
                </a:solidFill>
                <a:latin typeface="Big Shoulders Sakura"/>
                <a:ea typeface="Big Shoulders Sakura"/>
                <a:cs typeface="Big Shoulders Sakura"/>
              </a:rPr>
              <a:t>HONEST.</a:t>
            </a:r>
          </a:p>
        </p:txBody>
      </p:sp>
      <p:sp>
        <p:nvSpPr>
          <p:cNvPr id="13" name="sakura-close-note">
            <a:extLst xmlns:a="http://schemas.openxmlformats.org/drawingml/2006/main">
              <a:ext uri="{FF2B5EF4-FFF2-40B4-BE49-F238E27FC236}">
                <a16:creationId xmlns:a16="http://schemas.microsoft.com/office/drawing/2014/main" id="{D9C969A2-2305-49FC-935C-DAFE4F3C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akura-close-note-text">
            <a:extLst xmlns:a="http://schemas.openxmlformats.org/drawingml/2006/main">
              <a:ext uri="{FF2B5EF4-FFF2-40B4-BE49-F238E27FC236}">
                <a16:creationId xmlns:a16="http://schemas.microsoft.com/office/drawing/2014/main" id="{A725F408-6E92-4268-A65E-33D3A6F9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2175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rPr>
              <a:t>THE REST OF THE MACHINE CAN DISAPPEAR.</a:t>
            </a:r>
          </a:p>
        </p:txBody>
      </p:sp>
      <p:sp>
        <p:nvSpPr>
          <p:cNvPr id="15" name="sakura-close-stamp">
            <a:extLst xmlns:a="http://schemas.openxmlformats.org/drawingml/2006/main">
              <a:ext uri="{FF2B5EF4-FFF2-40B4-BE49-F238E27FC236}">
                <a16:creationId xmlns:a16="http://schemas.microsoft.com/office/drawing/2014/main" id="{B8516251-1CE3-47C2-A872-6C4F8632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0477500" y="5943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akura-close-stamp-text">
            <a:extLst xmlns:a="http://schemas.openxmlformats.org/drawingml/2006/main">
              <a:ext uri="{FF2B5EF4-FFF2-40B4-BE49-F238E27FC236}">
                <a16:creationId xmlns:a16="http://schemas.microsoft.com/office/drawing/2014/main" id="{1FCF13B1-A1B5-44C6-8705-1CBDE1E4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0198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defRPr>
            </a:pPr>
            <a:r>
              <a:rPr sz="1350" b="0" i="0">
                <a:solidFill>
                  <a:srgbClr val="F1E6CB"/>
                </a:solidFill>
                <a:latin typeface="Big Shoulders Sakura"/>
                <a:ea typeface="Big Shoulders Sakura"/>
                <a:cs typeface="Big Shoulders Sakura"/>
              </a:rPr>
              <a:t>END / 08</a:t>
            </a:r>
          </a:p>
        </p:txBody>
      </p:sp>
      <p:sp>
        <p:nvSpPr>
          <p:cNvPr id="17" name="sakura-close-credit">
            <a:extLst xmlns:a="http://schemas.openxmlformats.org/drawingml/2006/main">
              <a:ext uri="{FF2B5EF4-FFF2-40B4-BE49-F238E27FC236}">
                <a16:creationId xmlns:a16="http://schemas.microsoft.com/office/drawing/2014/main" id="{54848854-2D80-40F0-B8C8-C2AC4FE7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 i="0">
                <a:solidFill>
                  <a:srgbClr val="3A2516"/>
                </a:solidFill>
                <a:latin typeface="JetBrains Mono"/>
                <a:ea typeface="JetBrains Mono"/>
                <a:cs typeface="JetBrains Mono"/>
              </a:rPr>
              <a:t>SAKURA CHROMA · ZARA ZHANG · MIT LICENSE</a:t>
            </a:r>
          </a:p>
        </p:txBody>
      </p:sp>
    </p:spTree>
    <p:extLst>
      <p:ext uri="{BB962C8B-B14F-4D97-AF65-F5344CB8AC3E}">
        <p14:creationId xmlns:p14="http://schemas.microsoft.com/office/powerpoint/2010/main" val="445470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2026-07-25T18:08:12.2460000Z</dcterms:created>
  <dcterms:modified xsi:type="dcterms:W3CDTF">2026-07-25T18:08:12.2460000Z</dcterms:modified>
</coreProperties>
</file>