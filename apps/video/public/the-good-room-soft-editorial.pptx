
<file path=[Content_Types].xml><?xml version="1.0" encoding="utf-8"?>
<Types xmlns="http://schemas.openxmlformats.org/package/2006/content-types">
  <Default Extension="fntdata" ContentType="application/x-fontdata"/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2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<?xml version="1.0" encoding="utf-8"?><Relationships xmlns="http://schemas.openxmlformats.org/package/2006/relationships"><Relationship Type="http://schemas.openxmlformats.org/package/2006/relationships/metadata/core-properties" Target="/docProps/core.xml" Id="R99d97015d1004dd0" /><Relationship Type="http://schemas.openxmlformats.org/officeDocument/2006/relationships/extended-properties" Target="/docProps/app.xml" Id="R971d0e6c7a104c32" /><Relationship Type="http://schemas.openxmlformats.org/officeDocument/2006/relationships/officeDocument" Target="/ppt/presentation.xml" Id="R2c7d278da56c48d4" /></Relationships>
</file>

<file path=ppt/presentation.xml><?xml version="1.0" encoding="utf-8"?>
<p:presentation xmlns:r="http://schemas.openxmlformats.org/officeDocument/2006/relationships" xmlns:p="http://schemas.openxmlformats.org/presentationml/2006/main" saveSubsetFonts="false" embedTrueTypeFonts="true">
  <p:sldMasterIdLst>
    <p:sldMasterId xmlns:r="http://schemas.openxmlformats.org/officeDocument/2006/relationships" id="2147483648" r:id="Re2c533af8cc64627"/>
  </p:sldMasterIdLst>
  <p:notesMasterIdLst>
    <p:notesMasterId xmlns:r="http://schemas.openxmlformats.org/officeDocument/2006/relationships" r:id="R5084be37a2ab492c"/>
  </p:notesMasterIdLst>
  <p:sldIdLst>
    <p:sldId xmlns:r="http://schemas.openxmlformats.org/officeDocument/2006/relationships" id="256" r:id="R36062d99e4944fed"/>
    <p:sldId xmlns:r="http://schemas.openxmlformats.org/officeDocument/2006/relationships" id="257" r:id="R8836671ddb4c4389"/>
    <p:sldId xmlns:r="http://schemas.openxmlformats.org/officeDocument/2006/relationships" id="258" r:id="Rf634d09b6a294d5c"/>
    <p:sldId xmlns:r="http://schemas.openxmlformats.org/officeDocument/2006/relationships" id="259" r:id="R90186a363d094cc1"/>
    <p:sldId xmlns:r="http://schemas.openxmlformats.org/officeDocument/2006/relationships" id="260" r:id="R82567d495bf34644"/>
    <p:sldId xmlns:r="http://schemas.openxmlformats.org/officeDocument/2006/relationships" id="261" r:id="Re49fe03f8e0246df"/>
    <p:sldId xmlns:r="http://schemas.openxmlformats.org/officeDocument/2006/relationships" id="262" r:id="R1c9ef8e9e52e48f5"/>
    <p:sldId xmlns:r="http://schemas.openxmlformats.org/officeDocument/2006/relationships" id="263" r:id="Rb61450868de1472b"/>
  </p:sldIdLst>
  <p:sldSz cx="12192000" cy="6858000"/>
  <p:notesSz cx="6858000" cy="9144000"/>
  <p:embeddedFontLst>
    <p:embeddedFont>
      <p:font typeface="Cormorant Soft Editorial"/>
      <p:regular r:id="rId201314"/>
    </p:embeddedFont>
    <p:embeddedFont>
      <p:font typeface="Cormorant Soft Editorial Italic"/>
      <p:regular r:id="rId201315"/>
    </p:embeddedFont>
    <p:embeddedFont>
      <p:font typeface="Work Sans Soft Editorial"/>
      <p:regular r:id="rId201316"/>
    </p:embeddedFont>
  </p:embeddedFontLst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"1.0" encoding="utf-8"?><Relationships xmlns="http://schemas.openxmlformats.org/package/2006/relationships"><Relationship Type="http://schemas.openxmlformats.org/officeDocument/2006/relationships/theme" Target="/ppt/theme/theme1.xml" Id="R812e3c5b53144e73"/><Relationship Type="http://schemas.openxmlformats.org/officeDocument/2006/relationships/slideMaster" Target="/ppt/slideMasters/slideMaster1.xml" Id="Re2c533af8cc64627"/><Relationship Type="http://schemas.openxmlformats.org/officeDocument/2006/relationships/notesMaster" Target="/ppt/notesMasters/notesMaster1.xml" Id="R5084be37a2ab492c"/><Relationship Type="http://schemas.openxmlformats.org/officeDocument/2006/relationships/presProps" Target="/ppt/presProps.xml" Id="Ree8e987ff5a94155"/><Relationship Type="http://schemas.openxmlformats.org/officeDocument/2006/relationships/tableStyles" Target="/ppt/tableStyles.xml" Id="R487d746c9a344317"/><Relationship Type="http://schemas.openxmlformats.org/officeDocument/2006/relationships/slide" Target="/ppt/slides/slide1.xml" Id="R36062d99e4944fed"/><Relationship Type="http://schemas.openxmlformats.org/officeDocument/2006/relationships/slide" Target="/ppt/slides/slide2.xml" Id="R8836671ddb4c4389"/><Relationship Type="http://schemas.openxmlformats.org/officeDocument/2006/relationships/slide" Target="/ppt/slides/slide3.xml" Id="Rf634d09b6a294d5c"/><Relationship Type="http://schemas.openxmlformats.org/officeDocument/2006/relationships/slide" Target="/ppt/slides/slide4.xml" Id="R90186a363d094cc1"/><Relationship Type="http://schemas.openxmlformats.org/officeDocument/2006/relationships/slide" Target="/ppt/slides/slide5.xml" Id="R82567d495bf34644"/><Relationship Type="http://schemas.openxmlformats.org/officeDocument/2006/relationships/slide" Target="/ppt/slides/slide6.xml" Id="Re49fe03f8e0246df"/><Relationship Type="http://schemas.openxmlformats.org/officeDocument/2006/relationships/slide" Target="/ppt/slides/slide7.xml" Id="R1c9ef8e9e52e48f5"/><Relationship Type="http://schemas.openxmlformats.org/officeDocument/2006/relationships/slide" Target="/ppt/slides/slide8.xml" Id="Rb61450868de1472b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/Relationships>
</file>

<file path=ppt/notesMasters/_rels/notesMaster1.xml.rels><?xml version="1.0" encoding="utf-8"?><Relationships xmlns="http://schemas.openxmlformats.org/package/2006/relationships"><Relationship Type="http://schemas.openxmlformats.org/officeDocument/2006/relationships/theme" Target="/ppt/notesMasters/theme/theme3.xml" Id="R9a9a157e820144c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"1.0" encoding="utf-8"?><Relationships xmlns="http://schemas.openxmlformats.org/package/2006/relationships"><Relationship Type="http://schemas.openxmlformats.org/officeDocument/2006/relationships/slide" Target="/ppt/slides/slide1.xml" Id="R11f6907b2bb345f3" /><Relationship Type="http://schemas.openxmlformats.org/officeDocument/2006/relationships/notesMaster" Target="/ppt/notesMasters/notesMaster1.xml" Id="R00097c3f73ad4707" /></Relationships>
</file>

<file path=ppt/notesSlides/_rels/notesSlide2.xml.rels><?xml version="1.0" encoding="utf-8"?><Relationships xmlns="http://schemas.openxmlformats.org/package/2006/relationships"><Relationship Type="http://schemas.openxmlformats.org/officeDocument/2006/relationships/slide" Target="/ppt/slides/slide2.xml" Id="Rf82ee1ce27254549" /><Relationship Type="http://schemas.openxmlformats.org/officeDocument/2006/relationships/notesMaster" Target="/ppt/notesMasters/notesMaster1.xml" Id="R9ca444b3d8d04bdf" /></Relationships>
</file>

<file path=ppt/notesSlides/_rels/notesSlide3.xml.rels><?xml version="1.0" encoding="utf-8"?><Relationships xmlns="http://schemas.openxmlformats.org/package/2006/relationships"><Relationship Type="http://schemas.openxmlformats.org/officeDocument/2006/relationships/slide" Target="/ppt/slides/slide3.xml" Id="R81d8e44d473c4cc8" /><Relationship Type="http://schemas.openxmlformats.org/officeDocument/2006/relationships/notesMaster" Target="/ppt/notesMasters/notesMaster1.xml" Id="R66b6ef45d4614e3b" /></Relationships>
</file>

<file path=ppt/notesSlides/_rels/notesSlide4.xml.rels><?xml version="1.0" encoding="utf-8"?><Relationships xmlns="http://schemas.openxmlformats.org/package/2006/relationships"><Relationship Type="http://schemas.openxmlformats.org/officeDocument/2006/relationships/slide" Target="/ppt/slides/slide4.xml" Id="Ra6452d53545f4d91" /><Relationship Type="http://schemas.openxmlformats.org/officeDocument/2006/relationships/notesMaster" Target="/ppt/notesMasters/notesMaster1.xml" Id="R4734ff45b573407b" /></Relationships>
</file>

<file path=ppt/notesSlides/_rels/notesSlide5.xml.rels><?xml version="1.0" encoding="utf-8"?><Relationships xmlns="http://schemas.openxmlformats.org/package/2006/relationships"><Relationship Type="http://schemas.openxmlformats.org/officeDocument/2006/relationships/slide" Target="/ppt/slides/slide5.xml" Id="R11fa43116e104490" /><Relationship Type="http://schemas.openxmlformats.org/officeDocument/2006/relationships/notesMaster" Target="/ppt/notesMasters/notesMaster1.xml" Id="Rb8fb9139f1d04db2" /></Relationships>
</file>

<file path=ppt/notesSlides/_rels/notesSlide6.xml.rels><?xml version="1.0" encoding="utf-8"?><Relationships xmlns="http://schemas.openxmlformats.org/package/2006/relationships"><Relationship Type="http://schemas.openxmlformats.org/officeDocument/2006/relationships/slide" Target="/ppt/slides/slide6.xml" Id="Re8927a7738aa4a04" /><Relationship Type="http://schemas.openxmlformats.org/officeDocument/2006/relationships/notesMaster" Target="/ppt/notesMasters/notesMaster1.xml" Id="R0d44ee4eba234c0a" /></Relationships>
</file>

<file path=ppt/notesSlides/_rels/notesSlide7.xml.rels><?xml version="1.0" encoding="utf-8"?><Relationships xmlns="http://schemas.openxmlformats.org/package/2006/relationships"><Relationship Type="http://schemas.openxmlformats.org/officeDocument/2006/relationships/slide" Target="/ppt/slides/slide7.xml" Id="R276baf1842de4341" /><Relationship Type="http://schemas.openxmlformats.org/officeDocument/2006/relationships/notesMaster" Target="/ppt/notesMasters/notesMaster1.xml" Id="R77d3ee6f9e35460f" /></Relationships>
</file>

<file path=ppt/notesSlides/_rels/notesSlide8.xml.rels><?xml version="1.0" encoding="utf-8"?><Relationships xmlns="http://schemas.openxmlformats.org/package/2006/relationships"><Relationship Type="http://schemas.openxmlformats.org/officeDocument/2006/relationships/slide" Target="/ppt/slides/slide8.xml" Id="R7cd70bc9206e4c3e" /><Relationship Type="http://schemas.openxmlformats.org/officeDocument/2006/relationships/notesMaster" Target="/ppt/notesMasters/notesMaster1.xml" Id="Rfd5a522f3241439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https://github.com/zarazhangrui/frontend-slides</a:t>
            </a:r>
          </a:p>
          <a:p xmlns:a="http://schemas.openxmlformats.org/drawingml/2006/main">
            <a:r>
              <a:t>- https://github.com/zarazhangrui/beautiful-html-templates/tree/main/templates/soft-editorial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Visual direction adapted from Zara Zhang's MIT-licensed template system. All chart and table values are illustrative concept data created for this editable demo.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https://github.com/zarazhangrui/frontend-slides</a:t>
            </a:r>
          </a:p>
          <a:p xmlns:a="http://schemas.openxmlformats.org/drawingml/2006/main">
            <a:r>
              <a:t>- https://github.com/zarazhangrui/beautiful-html-templates/tree/main/templates/soft-editorial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Visual direction adapted from Zara Zhang's MIT-licensed template system. All chart and table values are illustrative concept data created for this editable demo.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https://github.com/zarazhangrui/frontend-slides</a:t>
            </a:r>
          </a:p>
          <a:p xmlns:a="http://schemas.openxmlformats.org/drawingml/2006/main">
            <a:r>
              <a:t>- https://github.com/zarazhangrui/beautiful-html-templates/tree/main/templates/soft-editorial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Visual direction adapted from Zara Zhang's MIT-licensed template system. All chart and table values are illustrative concept data created for this editable demo.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https://github.com/zarazhangrui/frontend-slides</a:t>
            </a:r>
          </a:p>
          <a:p xmlns:a="http://schemas.openxmlformats.org/drawingml/2006/main">
            <a:r>
              <a:t>- https://github.com/zarazhangrui/beautiful-html-templates/tree/main/templates/soft-editorial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Visual direction adapted from Zara Zhang's MIT-licensed template system. All chart and table values are illustrative concept data created for this editable demo. The dwell curve is an illustrative scenario, not a published study.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https://github.com/zarazhangrui/frontend-slides</a:t>
            </a:r>
          </a:p>
          <a:p xmlns:a="http://schemas.openxmlformats.org/drawingml/2006/main">
            <a:r>
              <a:t>- https://github.com/zarazhangrui/beautiful-html-templates/tree/main/templates/soft-editorial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Visual direction adapted from Zara Zhang's MIT-licensed template system. All chart and table values are illustrative concept data created for this editable demo.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https://github.com/zarazhangrui/frontend-slides</a:t>
            </a:r>
          </a:p>
          <a:p xmlns:a="http://schemas.openxmlformats.org/drawingml/2006/main">
            <a:r>
              <a:t>- https://github.com/zarazhangrui/beautiful-html-templates/tree/main/templates/soft-editorial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Visual direction adapted from Zara Zhang's MIT-licensed template system. All chart and table values are illustrative concept data created for this editable demo. The average-stay values are illustrative concept data.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https://github.com/zarazhangrui/frontend-slides</a:t>
            </a:r>
          </a:p>
          <a:p xmlns:a="http://schemas.openxmlformats.org/drawingml/2006/main">
            <a:r>
              <a:t>- https://github.com/zarazhangrui/beautiful-html-templates/tree/main/templates/soft-editorial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Visual direction adapted from Zara Zhang's MIT-licensed template system. All chart and table values are illustrative concept data created for this editable demo.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https://github.com/zarazhangrui/frontend-slides</a:t>
            </a:r>
          </a:p>
          <a:p xmlns:a="http://schemas.openxmlformats.org/drawingml/2006/main">
            <a:r>
              <a:t>- https://github.com/zarazhangrui/beautiful-html-templates/tree/main/templates/soft-editorial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Visual direction adapted from Zara Zhang's MIT-licensed template system. All chart and table values are illustrative concept data created for this editable demo.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"1.0" encoding="utf-8"?><Relationships xmlns="http://schemas.openxmlformats.org/package/2006/relationships"><Relationship Type="http://schemas.openxmlformats.org/officeDocument/2006/relationships/slideMaster" Target="/ppt/slideMasters/slideMaster1.xml" Id="R4937bfa3bd40449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"1.0" encoding="utf-8"?><Relationships xmlns="http://schemas.openxmlformats.org/package/2006/relationships"><Relationship Type="http://schemas.openxmlformats.org/officeDocument/2006/relationships/theme" Target="/ppt/slideMasters/theme/theme2.xml" Id="R36c2c2164c3d480b" /><Relationship Type="http://schemas.openxmlformats.org/officeDocument/2006/relationships/slideLayout" Target="/ppt/slideLayouts/slideLayout1.xml" Id="R0a5e8b58447141a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a5e8b58447141a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894ebe65ad944cf7" /><Relationship Type="http://schemas.openxmlformats.org/officeDocument/2006/relationships/notesSlide" Target="/ppt/notesSlides/notesSlide1.xml" Id="R99cf09112a6844a1" /></Relationships>
</file>

<file path=ppt/slides/_rels/slide2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7109adeeb29e4001" /><Relationship Type="http://schemas.openxmlformats.org/officeDocument/2006/relationships/notesSlide" Target="/ppt/notesSlides/notesSlide2.xml" Id="R99da548b09634697" /></Relationships>
</file>

<file path=ppt/slides/_rels/slide3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1ebc2dad4b74455c" /><Relationship Type="http://schemas.openxmlformats.org/officeDocument/2006/relationships/notesSlide" Target="/ppt/notesSlides/notesSlide3.xml" Id="Ra2ee0819042b4cc1" /></Relationships>
</file>

<file path=ppt/slides/_rels/slide4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ca3f05daaad94474" /><Relationship Type="http://schemas.openxmlformats.org/officeDocument/2006/relationships/chart" Target="/ppt/slides/charts/chart1.xml" Id="Ra3fe8fbf91cd4bed" /><Relationship Type="http://schemas.openxmlformats.org/officeDocument/2006/relationships/notesSlide" Target="/ppt/notesSlides/notesSlide4.xml" Id="Rd7925ed758754502" /></Relationships>
</file>

<file path=ppt/slides/_rels/slide5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b59c9429ce494236" /><Relationship Type="http://schemas.openxmlformats.org/officeDocument/2006/relationships/notesSlide" Target="/ppt/notesSlides/notesSlide5.xml" Id="Re8236d198ce342b2" /></Relationships>
</file>

<file path=ppt/slides/_rels/slide6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fe129fd79e804848" /><Relationship Type="http://schemas.openxmlformats.org/officeDocument/2006/relationships/chart" Target="/ppt/slides/charts/chart2.xml" Id="Reda7911ec3164006" /><Relationship Type="http://schemas.openxmlformats.org/officeDocument/2006/relationships/notesSlide" Target="/ppt/notesSlides/notesSlide6.xml" Id="Rd9e04d9bb5de4ee7" /></Relationships>
</file>

<file path=ppt/slides/_rels/slide7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a1ee89b425524cbc" /><Relationship Type="http://schemas.openxmlformats.org/officeDocument/2006/relationships/notesSlide" Target="/ppt/notesSlides/notesSlide7.xml" Id="Rb402cac139174b91" /></Relationships>
</file>

<file path=ppt/slides/_rels/slide8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174d969918f94c4a" /><Relationship Type="http://schemas.openxmlformats.org/officeDocument/2006/relationships/notesSlide" Target="/ppt/notesSlides/notesSlide8.xml" Id="R62daca00744d4944" /></Relationships>
</file>

<file path=ppt/slides/charts/chart1.xml><?xml version="1.0" encoding="utf-8"?>
<c:chartSpace xmlns:c="http://schemas.openxmlformats.org/drawingml/2006/chart">
  <c:lang val="en-US"/>
  <c:chart>
    <c:plotArea>
      <c:lineChart>
        <c:grouping val="standard"/>
        <c:ser>
          <c:idx val="0"/>
          <c:order val="0"/>
          <c:tx>
            <c:v>Overhead</c:v>
          </c:tx>
          <c:spPr>
            <a:solidFill xmlns:a="http://schemas.openxmlformats.org/drawingml/2006/main">
              <a:srgbClr val="E1A4C2"/>
            </a:solidFill>
            <a:ln xmlns:a="http://schemas.openxmlformats.org/drawingml/2006/main" w="28575">
              <a:solidFill>
                <a:srgbClr val="E1A4C2"/>
              </a:solidFill>
              <a:prstDash val="solid"/>
            </a:ln>
          </c:spPr>
          <c:marker>
            <c:symbol val="none"/>
          </c:marker>
          <c:cat>
            <c:strLit>
              <c:ptCount val="5"/>
              <c:pt idx="0">
                <c:v>1 min</c:v>
              </c:pt>
              <c:pt idx="1">
                <c:v>5</c:v>
              </c:pt>
              <c:pt idx="2">
                <c:v>15</c:v>
              </c:pt>
              <c:pt idx="3">
                <c:v>30</c:v>
              </c:pt>
              <c:pt idx="4">
                <c:v>45</c:v>
              </c:pt>
            </c:strLit>
          </c:cat>
          <c:val>
            <c:numLit>
              <c:formatCode>General</c:formatCode>
              <c:ptCount val="5"/>
              <c:pt idx="0">
                <c:v>100</c:v>
              </c:pt>
              <c:pt idx="1">
                <c:v>84</c:v>
              </c:pt>
              <c:pt idx="2">
                <c:v>62</c:v>
              </c:pt>
              <c:pt idx="3">
                <c:v>46</c:v>
              </c:pt>
              <c:pt idx="4">
                <c:v>31</c:v>
              </c:pt>
            </c:numLit>
          </c:val>
        </c:ser>
        <c:ser>
          <c:idx val="1"/>
          <c:order val="1"/>
          <c:tx>
            <c:v>Layered glow</c:v>
          </c:tx>
          <c:spPr>
            <a:solidFill xmlns:a="http://schemas.openxmlformats.org/drawingml/2006/main">
              <a:srgbClr val="D6DD63"/>
            </a:solidFill>
            <a:ln xmlns:a="http://schemas.openxmlformats.org/drawingml/2006/main" w="28575">
              <a:solidFill>
                <a:srgbClr val="D6DD63"/>
              </a:solidFill>
              <a:prstDash val="solid"/>
            </a:ln>
          </c:spPr>
          <c:marker>
            <c:symbol val="none"/>
          </c:marker>
          <c:cat>
            <c:strLit>
              <c:ptCount val="5"/>
              <c:pt idx="0">
                <c:v>1 min</c:v>
              </c:pt>
              <c:pt idx="1">
                <c:v>5</c:v>
              </c:pt>
              <c:pt idx="2">
                <c:v>15</c:v>
              </c:pt>
              <c:pt idx="3">
                <c:v>30</c:v>
              </c:pt>
              <c:pt idx="4">
                <c:v>45</c:v>
              </c:pt>
            </c:strLit>
          </c:cat>
          <c:val>
            <c:numLit>
              <c:formatCode>General</c:formatCode>
              <c:ptCount val="5"/>
              <c:pt idx="0">
                <c:v>100</c:v>
              </c:pt>
              <c:pt idx="1">
                <c:v>92</c:v>
              </c:pt>
              <c:pt idx="2">
                <c:v>80</c:v>
              </c:pt>
              <c:pt idx="3">
                <c:v>69</c:v>
              </c:pt>
              <c:pt idx="4">
                <c:v>58</c:v>
              </c:pt>
            </c:numLit>
          </c:val>
        </c:ser>
        <c:ser>
          <c:idx val="2"/>
          <c:order val="2"/>
          <c:tx>
            <c:v>Window + lamp</c:v>
          </c:tx>
          <c:spPr>
            <a:solidFill xmlns:a="http://schemas.openxmlformats.org/drawingml/2006/main">
              <a:srgbClr val="2A241B"/>
            </a:solidFill>
            <a:ln xmlns:a="http://schemas.openxmlformats.org/drawingml/2006/main" w="28575">
              <a:solidFill>
                <a:srgbClr val="2A241B"/>
              </a:solidFill>
              <a:prstDash val="solid"/>
            </a:ln>
          </c:spPr>
          <c:marker>
            <c:symbol val="none"/>
          </c:marker>
          <c:cat>
            <c:strLit>
              <c:ptCount val="5"/>
              <c:pt idx="0">
                <c:v>1 min</c:v>
              </c:pt>
              <c:pt idx="1">
                <c:v>5</c:v>
              </c:pt>
              <c:pt idx="2">
                <c:v>15</c:v>
              </c:pt>
              <c:pt idx="3">
                <c:v>30</c:v>
              </c:pt>
              <c:pt idx="4">
                <c:v>45</c:v>
              </c:pt>
            </c:strLit>
          </c:cat>
          <c:val>
            <c:numLit>
              <c:formatCode>General</c:formatCode>
              <c:ptCount val="5"/>
              <c:pt idx="0">
                <c:v>100</c:v>
              </c:pt>
              <c:pt idx="1">
                <c:v>95</c:v>
              </c:pt>
              <c:pt idx="2">
                <c:v>86</c:v>
              </c:pt>
              <c:pt idx="3">
                <c:v>76</c:v>
              </c:pt>
              <c:pt idx="4">
                <c:v>67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latin typeface="Work Sans Soft Editorial"/>
                <a:solidFill>
                  <a:srgbClr val="2A241B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7D0BE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latin typeface="Work Sans Soft Editorial"/>
                <a:solidFill>
                  <a:srgbClr val="2A241B"/>
                </a:solidFill>
              </a:defRPr>
            </a:pPr>
          </a:p>
        </c:txPr>
        <c:crossAx val="48650112"/>
        <c:crossBetween val="between"/>
        <c:majorUnit val="25"/>
      </c:valAx>
      <c:spPr>
        <a:solidFill xmlns:a="http://schemas.openxmlformats.org/drawingml/2006/main">
          <a:srgbClr val="F9F7F0"/>
        </a:solidFill>
        <a:ln xmlns:a="http://schemas.openxmlformats.org/drawingml/2006/main" w="9525">
          <a:solidFill>
            <a:srgbClr val="D7D0BE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 b="1">
              <a:latin typeface="Work Sans Soft Editorial"/>
              <a:solidFill>
                <a:srgbClr val="2A241B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9F7F0"/>
    </a:solidFill>
    <a:ln xmlns:a="http://schemas.openxmlformats.org/drawingml/2006/main" w="0">
      <a:solidFill>
        <a:srgbClr val="F9F7F0"/>
      </a:solidFill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Average stay (min)</c:v>
          </c:tx>
          <c:spPr>
            <a:solidFill xmlns:a="http://schemas.openxmlformats.org/drawingml/2006/main">
              <a:srgbClr val="E1A4C2"/>
            </a:solidFill>
            <a:ln xmlns:a="http://schemas.openxmlformats.org/drawingml/2006/main" w="9525">
              <a:solidFill>
                <a:srgbClr val="E1A4C2"/>
              </a:solidFill>
              <a:prstDash val="solid"/>
            </a:ln>
          </c:spPr>
          <c:cat>
            <c:strLit>
              <c:ptCount val="4"/>
              <c:pt idx="0">
                <c:v>Blank wall</c:v>
              </c:pt>
              <c:pt idx="1">
                <c:v>Book shelf</c:v>
              </c:pt>
              <c:pt idx="2">
                <c:v>Window seat</c:v>
              </c:pt>
              <c:pt idx="3">
                <c:v>Shared table</c:v>
              </c:pt>
            </c:strLit>
          </c:cat>
          <c:val>
            <c:numLit>
              <c:formatCode>General</c:formatCode>
              <c:ptCount val="4"/>
              <c:pt idx="0">
                <c:v>18</c:v>
              </c:pt>
              <c:pt idx="1">
                <c:v>31</c:v>
              </c:pt>
              <c:pt idx="2">
                <c:v>39</c:v>
              </c:pt>
              <c:pt idx="3">
                <c:v>44</c:v>
              </c:pt>
            </c:numLit>
          </c:val>
        </c:ser>
        <c:gapWidth val="58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majorGridlines>
          <c:spPr>
            <a:ln xmlns:a="http://schemas.openxmlformats.org/drawingml/2006/main" w="9525">
              <a:solidFill>
                <a:srgbClr val="D7D0BE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latin typeface="Work Sans Soft Editorial"/>
                <a:solidFill>
                  <a:srgbClr val="2A241B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5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7D0BE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latin typeface="Work Sans Soft Editorial"/>
                <a:solidFill>
                  <a:srgbClr val="2A241B"/>
                </a:solidFill>
              </a:defRPr>
            </a:pPr>
          </a:p>
        </c:txPr>
        <c:crossAx val="48650112"/>
        <c:crossBetween val="between"/>
        <c:majorUnit val="10"/>
      </c:valAx>
      <c:spPr>
        <a:solidFill xmlns:a="http://schemas.openxmlformats.org/drawingml/2006/main">
          <a:srgbClr val="F9F7F0"/>
        </a:solidFill>
        <a:ln xmlns:a="http://schemas.openxmlformats.org/drawingml/2006/main" w="9525">
          <a:solidFill>
            <a:srgbClr val="D7D0BE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 b="1">
              <a:latin typeface="Work Sans Soft Editorial"/>
              <a:solidFill>
                <a:srgbClr val="2A241B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9F7F0"/>
    </a:solidFill>
    <a:ln xmlns:a="http://schemas.openxmlformats.org/drawingml/2006/main" w="0">
      <a:solidFill>
        <a:srgbClr val="F9F7F0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2EED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oft-cover-swatch-0">
            <a:extLst xmlns:a="http://schemas.openxmlformats.org/drawingml/2006/main">
              <a:ext uri="{FF2B5EF4-FFF2-40B4-BE49-F238E27FC236}">
                <a16:creationId xmlns:a16="http://schemas.microsoft.com/office/drawing/2014/main" id="{3253AE5B-EB18-457B-B65D-F38DFBAA1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A4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oft-cover-swatch-1">
            <a:extLst xmlns:a="http://schemas.openxmlformats.org/drawingml/2006/main">
              <a:ext uri="{FF2B5EF4-FFF2-40B4-BE49-F238E27FC236}">
                <a16:creationId xmlns:a16="http://schemas.microsoft.com/office/drawing/2014/main" id="{0E399C4E-F613-475B-BDBC-3013BB502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143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DD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oft-cover-swatch-2">
            <a:extLst xmlns:a="http://schemas.openxmlformats.org/drawingml/2006/main">
              <a:ext uri="{FF2B5EF4-FFF2-40B4-BE49-F238E27FC236}">
                <a16:creationId xmlns:a16="http://schemas.microsoft.com/office/drawing/2014/main" id="{ACE023BA-8C00-4BD1-86E2-BFECC5551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143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C9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oft-cover-swatch-3">
            <a:extLst xmlns:a="http://schemas.openxmlformats.org/drawingml/2006/main">
              <a:ext uri="{FF2B5EF4-FFF2-40B4-BE49-F238E27FC236}">
                <a16:creationId xmlns:a16="http://schemas.microsoft.com/office/drawing/2014/main" id="{EDA65A23-5BDB-4B43-B9EF-337676058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5143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C7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oft-cover-swatch-4">
            <a:extLst xmlns:a="http://schemas.openxmlformats.org/drawingml/2006/main">
              <a:ext uri="{FF2B5EF4-FFF2-40B4-BE49-F238E27FC236}">
                <a16:creationId xmlns:a16="http://schemas.microsoft.com/office/drawing/2014/main" id="{232F9690-6AD6-4BD8-A2EA-746B524EB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143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BE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oft-cover-kicker">
            <a:extLst xmlns:a="http://schemas.openxmlformats.org/drawingml/2006/main">
              <a:ext uri="{FF2B5EF4-FFF2-40B4-BE49-F238E27FC236}">
                <a16:creationId xmlns:a16="http://schemas.microsoft.com/office/drawing/2014/main" id="{1BC55FDF-3392-4572-BD20-CCC72F230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0490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C5345"/>
                </a:solidFill>
                <a:latin typeface="Work Sans Soft Editorial"/>
                <a:ea typeface="Work Sans Soft Editorial"/>
                <a:cs typeface="Work Sans Soft Editorial"/>
              </a:defRPr>
            </a:pPr>
            <a:r>
              <a:rPr sz="1125" b="0" i="0">
                <a:solidFill>
                  <a:srgbClr val="5C5345"/>
                </a:solidFill>
                <a:latin typeface="Work Sans Soft Editorial"/>
                <a:ea typeface="Work Sans Soft Editorial"/>
                <a:cs typeface="Work Sans Soft Editorial"/>
              </a:rPr>
              <a:t>FIELD NOTES / VOL. VIII</a:t>
            </a:r>
          </a:p>
        </p:txBody>
      </p:sp>
      <p:sp>
        <p:nvSpPr>
          <p:cNvPr id="7" name="soft-cover-title-a">
            <a:extLst xmlns:a="http://schemas.openxmlformats.org/drawingml/2006/main">
              <a:ext uri="{FF2B5EF4-FFF2-40B4-BE49-F238E27FC236}">
                <a16:creationId xmlns:a16="http://schemas.microsoft.com/office/drawing/2014/main" id="{74CED94D-E1D6-4FB8-8E7D-AF9D169C1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66850"/>
            <a:ext cx="7239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450" b="0" i="0">
                <a:solidFill>
                  <a:srgbClr val="2A241B"/>
                </a:solidFill>
                <a:latin typeface="Cormorant Soft Editorial"/>
                <a:ea typeface="Cormorant Soft Editorial"/>
                <a:cs typeface="Cormorant Soft Editorial"/>
              </a:defRPr>
            </a:pPr>
            <a:r>
              <a:rPr sz="6450" b="0" i="0">
                <a:solidFill>
                  <a:srgbClr val="2A241B"/>
                </a:solidFill>
                <a:latin typeface="Cormorant Soft Editorial"/>
                <a:ea typeface="Cormorant Soft Editorial"/>
                <a:cs typeface="Cormorant Soft Editorial"/>
              </a:rPr>
              <a:t>The good</a:t>
            </a:r>
          </a:p>
        </p:txBody>
      </p:sp>
      <p:sp>
        <p:nvSpPr>
          <p:cNvPr id="8" name="soft-cover-title-b">
            <a:extLst xmlns:a="http://schemas.openxmlformats.org/drawingml/2006/main">
              <a:ext uri="{FF2B5EF4-FFF2-40B4-BE49-F238E27FC236}">
                <a16:creationId xmlns:a16="http://schemas.microsoft.com/office/drawing/2014/main" id="{CB53D4E5-40C8-420D-965B-7DF00223C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38400"/>
            <a:ext cx="7239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900" b="0" i="0">
                <a:solidFill>
                  <a:srgbClr val="2A241B"/>
                </a:solidFill>
                <a:latin typeface="Cormorant Soft Editorial Italic"/>
                <a:ea typeface="Cormorant Soft Editorial Italic"/>
                <a:cs typeface="Cormorant Soft Editorial Italic"/>
              </a:defRPr>
            </a:pPr>
            <a:r>
              <a:rPr sz="6900" b="0" i="0">
                <a:solidFill>
                  <a:srgbClr val="2A241B"/>
                </a:solidFill>
                <a:latin typeface="Cormorant Soft Editorial Italic"/>
                <a:ea typeface="Cormorant Soft Editorial Italic"/>
                <a:cs typeface="Cormorant Soft Editorial Italic"/>
              </a:rPr>
              <a:t>room.</a:t>
            </a:r>
          </a:p>
        </p:txBody>
      </p:sp>
      <p:sp>
        <p:nvSpPr>
          <p:cNvPr id="9" name="soft-cover-note">
            <a:extLst xmlns:a="http://schemas.openxmlformats.org/drawingml/2006/main">
              <a:ext uri="{FF2B5EF4-FFF2-40B4-BE49-F238E27FC236}">
                <a16:creationId xmlns:a16="http://schemas.microsoft.com/office/drawing/2014/main" id="{26667835-9288-4105-80E1-F473320C7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876300"/>
            <a:ext cx="3886200" cy="4267200"/>
          </a:xfrm>
          <a:prstGeom xmlns:a="http://schemas.openxmlformats.org/drawingml/2006/main" prst="roundRect">
            <a:avLst>
              <a:gd name="adj" fmla="val 1961"/>
            </a:avLst>
          </a:prstGeom>
          <a:solidFill xmlns:a="http://schemas.openxmlformats.org/drawingml/2006/main">
            <a:srgbClr val="E1A4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oft-cover-note-title">
            <a:extLst xmlns:a="http://schemas.openxmlformats.org/drawingml/2006/main">
              <a:ext uri="{FF2B5EF4-FFF2-40B4-BE49-F238E27FC236}">
                <a16:creationId xmlns:a16="http://schemas.microsoft.com/office/drawing/2014/main" id="{B44307F1-36D5-4F4C-9648-49BC6EFC3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333500"/>
            <a:ext cx="30480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150" b="0" i="0">
                <a:solidFill>
                  <a:srgbClr val="2A241B"/>
                </a:solidFill>
                <a:latin typeface="Cormorant Soft Editorial"/>
                <a:ea typeface="Cormorant Soft Editorial"/>
                <a:cs typeface="Cormorant Soft Editorial"/>
              </a:defRPr>
            </a:pPr>
            <a:r>
              <a:rPr sz="3150" b="0" i="0">
                <a:solidFill>
                  <a:srgbClr val="2A241B"/>
                </a:solidFill>
                <a:latin typeface="Cormorant Soft Editorial"/>
                <a:ea typeface="Cormorant Soft Editorial"/>
                <a:cs typeface="Cormorant Soft Editorial"/>
              </a:rPr>
              <a:t>Why some spaces make us stay.</a:t>
            </a:r>
          </a:p>
        </p:txBody>
      </p:sp>
      <p:sp>
        <p:nvSpPr>
          <p:cNvPr id="11" name="soft-cover-note-body">
            <a:extLst xmlns:a="http://schemas.openxmlformats.org/drawingml/2006/main">
              <a:ext uri="{FF2B5EF4-FFF2-40B4-BE49-F238E27FC236}">
                <a16:creationId xmlns:a16="http://schemas.microsoft.com/office/drawing/2014/main" id="{3AFFC313-F61F-4A03-ABA8-34CE939B8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162300"/>
            <a:ext cx="2952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672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  <a:defRPr sz="1500" b="0" i="0">
                <a:solidFill>
                  <a:srgbClr val="2A241B"/>
                </a:solidFill>
                <a:latin typeface="Work Sans Soft Editorial"/>
                <a:ea typeface="Work Sans Soft Editorial"/>
                <a:cs typeface="Work Sans Soft Editorial"/>
              </a:defRPr>
            </a:pPr>
            <a:r>
              <a:rPr sz="1500" b="0" i="0">
                <a:solidFill>
                  <a:srgbClr val="2A241B"/>
                </a:solidFill>
                <a:latin typeface="Work Sans Soft Editorial"/>
                <a:ea typeface="Work Sans Soft Editorial"/>
                <a:cs typeface="Work Sans Soft Editorial"/>
              </a:rPr>
              <a:t>An illustrated field study of light, permission, texture, and the corners people quietly choose again.</a:t>
            </a:r>
          </a:p>
        </p:txBody>
      </p:sp>
      <p:sp>
        <p:nvSpPr>
          <p:cNvPr id="12" name="soft-cover-note-mark">
            <a:extLst xmlns:a="http://schemas.openxmlformats.org/drawingml/2006/main">
              <a:ext uri="{FF2B5EF4-FFF2-40B4-BE49-F238E27FC236}">
                <a16:creationId xmlns:a16="http://schemas.microsoft.com/office/drawing/2014/main" id="{2875EF1E-C5E0-4A6C-8E94-732018BC4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5339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C5345"/>
                </a:solidFill>
                <a:latin typeface="Cormorant Soft Editorial Italic"/>
                <a:ea typeface="Cormorant Soft Editorial Italic"/>
                <a:cs typeface="Cormorant Soft Editorial Italic"/>
              </a:defRPr>
            </a:pPr>
            <a:r>
              <a:rPr sz="1275" b="0" i="0">
                <a:solidFill>
                  <a:srgbClr val="5C5345"/>
                </a:solidFill>
                <a:latin typeface="Cormorant Soft Editorial Italic"/>
                <a:ea typeface="Cormorant Soft Editorial Italic"/>
                <a:cs typeface="Cormorant Soft Editorial Italic"/>
              </a:rPr>
              <a:t>48 illustrative sessions</a:t>
            </a:r>
          </a:p>
        </p:txBody>
      </p:sp>
      <p:sp>
        <p:nvSpPr>
          <p:cNvPr id="13" name="soft-cover-footer">
            <a:extLst xmlns:a="http://schemas.openxmlformats.org/drawingml/2006/main">
              <a:ext uri="{FF2B5EF4-FFF2-40B4-BE49-F238E27FC236}">
                <a16:creationId xmlns:a16="http://schemas.microsoft.com/office/drawing/2014/main" id="{3F35424E-DD76-4EAC-8526-E188F34FE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34125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C5345"/>
                </a:solidFill>
                <a:latin typeface="Work Sans Soft Editorial"/>
                <a:ea typeface="Work Sans Soft Editorial"/>
                <a:cs typeface="Work Sans Soft Editorial"/>
              </a:defRPr>
            </a:pPr>
            <a:r>
              <a:rPr sz="825" b="0" i="0">
                <a:solidFill>
                  <a:srgbClr val="5C5345"/>
                </a:solidFill>
                <a:latin typeface="Work Sans Soft Editorial"/>
                <a:ea typeface="Work Sans Soft Editorial"/>
                <a:cs typeface="Work Sans Soft Editorial"/>
              </a:rPr>
              <a:t>SOFT EDITORIAL · ZARA ZHANG · MIT LICENSE</a:t>
            </a:r>
          </a:p>
        </p:txBody>
      </p:sp>
    </p:spTree>
    <p:extLst>
      <p:ext uri="{BB962C8B-B14F-4D97-AF65-F5344CB8AC3E}">
        <p14:creationId xmlns:p14="http://schemas.microsoft.com/office/powerpoint/2010/main" val="140055651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2EED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oft-label-2">
            <a:extLst xmlns:a="http://schemas.openxmlformats.org/drawingml/2006/main">
              <a:ext uri="{FF2B5EF4-FFF2-40B4-BE49-F238E27FC236}">
                <a16:creationId xmlns:a16="http://schemas.microsoft.com/office/drawing/2014/main" id="{371B6AE4-7228-41D5-82BE-742352BFC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A241B"/>
                </a:solidFill>
                <a:latin typeface="Work Sans Soft Editorial"/>
                <a:ea typeface="Work Sans Soft Editorial"/>
                <a:cs typeface="Work Sans Soft Editorial"/>
              </a:defRPr>
            </a:pPr>
            <a:r>
              <a:rPr sz="1350" b="0" i="0">
                <a:solidFill>
                  <a:srgbClr val="2A241B"/>
                </a:solidFill>
                <a:latin typeface="Work Sans Soft Editorial"/>
                <a:ea typeface="Work Sans Soft Editorial"/>
                <a:cs typeface="Work Sans Soft Editorial"/>
              </a:rPr>
              <a:t>Opening note</a:t>
            </a:r>
          </a:p>
        </p:txBody>
      </p:sp>
      <p:sp>
        <p:nvSpPr>
          <p:cNvPr id="2" name="soft-page-2">
            <a:extLst xmlns:a="http://schemas.openxmlformats.org/drawingml/2006/main">
              <a:ext uri="{FF2B5EF4-FFF2-40B4-BE49-F238E27FC236}">
                <a16:creationId xmlns:a16="http://schemas.microsoft.com/office/drawing/2014/main" id="{A64F12EA-A9E1-48BB-B0B1-A230A3B23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0005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0" i="0">
                <a:solidFill>
                  <a:srgbClr val="5C5345"/>
                </a:solidFill>
                <a:latin typeface="Cormorant Soft Editorial Italic"/>
                <a:ea typeface="Cormorant Soft Editorial Italic"/>
                <a:cs typeface="Cormorant Soft Editorial Italic"/>
              </a:defRPr>
            </a:pPr>
            <a:r>
              <a:rPr sz="1350" b="0" i="0">
                <a:solidFill>
                  <a:srgbClr val="5C5345"/>
                </a:solidFill>
                <a:latin typeface="Cormorant Soft Editorial Italic"/>
                <a:ea typeface="Cormorant Soft Editorial Italic"/>
                <a:cs typeface="Cormorant Soft Editorial Italic"/>
              </a:rPr>
              <a:t>ii</a:t>
            </a:r>
          </a:p>
        </p:txBody>
      </p:sp>
      <p:sp>
        <p:nvSpPr>
          <p:cNvPr id="3" name="soft-date-2">
            <a:extLst xmlns:a="http://schemas.openxmlformats.org/drawingml/2006/main">
              <a:ext uri="{FF2B5EF4-FFF2-40B4-BE49-F238E27FC236}">
                <a16:creationId xmlns:a16="http://schemas.microsoft.com/office/drawing/2014/main" id="{C8F25C62-DFED-4F00-A4DD-69102EA72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C5345"/>
                </a:solidFill>
                <a:latin typeface="Cormorant Soft Editorial Italic"/>
                <a:ea typeface="Cormorant Soft Editorial Italic"/>
                <a:cs typeface="Cormorant Soft Editorial Italic"/>
              </a:defRPr>
            </a:pPr>
            <a:r>
              <a:rPr sz="1125" b="0" i="0">
                <a:solidFill>
                  <a:srgbClr val="5C5345"/>
                </a:solidFill>
                <a:latin typeface="Cormorant Soft Editorial Italic"/>
                <a:ea typeface="Cormorant Soft Editorial Italic"/>
                <a:cs typeface="Cormorant Soft Editorial Italic"/>
              </a:rPr>
              <a:t>A small study in eight rooms</a:t>
            </a:r>
          </a:p>
        </p:txBody>
      </p:sp>
      <p:sp>
        <p:nvSpPr>
          <p:cNvPr id="4" name="soft-footer-2">
            <a:extLst xmlns:a="http://schemas.openxmlformats.org/drawingml/2006/main">
              <a:ext uri="{FF2B5EF4-FFF2-40B4-BE49-F238E27FC236}">
                <a16:creationId xmlns:a16="http://schemas.microsoft.com/office/drawing/2014/main" id="{41A9B0F1-109A-4776-B4CF-BD5B389F0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6419850"/>
            <a:ext cx="3352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 i="0">
                <a:solidFill>
                  <a:srgbClr val="5C5345"/>
                </a:solidFill>
                <a:latin typeface="Cormorant Soft Editorial Italic"/>
                <a:ea typeface="Cormorant Soft Editorial Italic"/>
                <a:cs typeface="Cormorant Soft Editorial Italic"/>
              </a:defRPr>
            </a:pPr>
            <a:r>
              <a:rPr sz="1125" b="0" i="0">
                <a:solidFill>
                  <a:srgbClr val="5C5345"/>
                </a:solidFill>
                <a:latin typeface="Cormorant Soft Editorial Italic"/>
                <a:ea typeface="Cormorant Soft Editorial Italic"/>
                <a:cs typeface="Cormorant Soft Editorial Italic"/>
              </a:rPr>
              <a:t>The Good Room · Field Notes</a:t>
            </a:r>
          </a:p>
        </p:txBody>
      </p:sp>
      <p:sp>
        <p:nvSpPr>
          <p:cNvPr id="5" name="soft-opener-card">
            <a:extLst xmlns:a="http://schemas.openxmlformats.org/drawingml/2006/main">
              <a:ext uri="{FF2B5EF4-FFF2-40B4-BE49-F238E27FC236}">
                <a16:creationId xmlns:a16="http://schemas.microsoft.com/office/drawing/2014/main" id="{8D7DD6B7-8319-4250-87CF-311051854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4762500"/>
          </a:xfrm>
          <a:prstGeom xmlns:a="http://schemas.openxmlformats.org/drawingml/2006/main" prst="roundRect">
            <a:avLst>
              <a:gd name="adj" fmla="val 1600"/>
            </a:avLst>
          </a:prstGeom>
          <a:solidFill xmlns:a="http://schemas.openxmlformats.org/drawingml/2006/main">
            <a:srgbClr val="F8F5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oft-opener-dropcap">
            <a:extLst xmlns:a="http://schemas.openxmlformats.org/drawingml/2006/main">
              <a:ext uri="{FF2B5EF4-FFF2-40B4-BE49-F238E27FC236}">
                <a16:creationId xmlns:a16="http://schemas.microsoft.com/office/drawing/2014/main" id="{0F8AD0F2-DF15-4B97-929C-5D2CBB794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485900"/>
            <a:ext cx="10287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359"/>
          </a:bodyPr>
          <a:lstStyle xmlns:a="http://schemas.openxmlformats.org/drawingml/2006/main"/>
          <a:p xmlns:a="http://schemas.openxmlformats.org/drawingml/2006/main">
            <a:pPr algn="l">
              <a:defRPr sz="7800" b="0" i="0">
                <a:solidFill>
                  <a:srgbClr val="E1A4C2"/>
                </a:solidFill>
                <a:latin typeface="Cormorant Soft Editorial"/>
                <a:ea typeface="Cormorant Soft Editorial"/>
                <a:cs typeface="Cormorant Soft Editorial"/>
              </a:defRPr>
            </a:pPr>
            <a:r>
              <a:rPr sz="7800" b="0" i="0">
                <a:solidFill>
                  <a:srgbClr val="E1A4C2"/>
                </a:solidFill>
                <a:latin typeface="Cormorant Soft Editorial"/>
                <a:ea typeface="Cormorant Soft Editorial"/>
                <a:cs typeface="Cormorant Soft Editorial"/>
              </a:rPr>
              <a:t>A</a:t>
            </a:r>
          </a:p>
        </p:txBody>
      </p:sp>
      <p:sp>
        <p:nvSpPr>
          <p:cNvPr id="7" name="soft-opener-copy">
            <a:extLst xmlns:a="http://schemas.openxmlformats.org/drawingml/2006/main">
              <a:ext uri="{FF2B5EF4-FFF2-40B4-BE49-F238E27FC236}">
                <a16:creationId xmlns:a16="http://schemas.microsoft.com/office/drawing/2014/main" id="{7192FE43-5F3D-44AC-8307-D0BDE5D57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1524000"/>
            <a:ext cx="876300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09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2850" b="0" i="0">
                <a:solidFill>
                  <a:srgbClr val="2A241B"/>
                </a:solidFill>
                <a:latin typeface="Cormorant Soft Editorial"/>
                <a:ea typeface="Cormorant Soft Editorial"/>
                <a:cs typeface="Cormorant Soft Editorial"/>
              </a:defRPr>
            </a:pPr>
            <a:r>
              <a:rPr sz="2850" b="0" i="0">
                <a:solidFill>
                  <a:srgbClr val="2A241B"/>
                </a:solidFill>
                <a:latin typeface="Cormorant Soft Editorial"/>
                <a:ea typeface="Cormorant Soft Editorial"/>
                <a:cs typeface="Cormorant Soft Editorial"/>
              </a:rPr>
              <a:t>room begins speaking before anyone sits down. Light tells us how long the moment might last. A shelf suggests permission to browse. A second chair quietly makes conversation possible.</a:t>
            </a:r>
          </a:p>
        </p:txBody>
      </p:sp>
      <p:sp>
        <p:nvSpPr>
          <p:cNvPr id="8" name="soft-opener-rule">
            <a:extLst xmlns:a="http://schemas.openxmlformats.org/drawingml/2006/main">
              <a:ext uri="{FF2B5EF4-FFF2-40B4-BE49-F238E27FC236}">
                <a16:creationId xmlns:a16="http://schemas.microsoft.com/office/drawing/2014/main" id="{60287048-C556-469A-8119-32440B276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714750"/>
            <a:ext cx="9563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E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oft-opener-close">
            <a:extLst xmlns:a="http://schemas.openxmlformats.org/drawingml/2006/main">
              <a:ext uri="{FF2B5EF4-FFF2-40B4-BE49-F238E27FC236}">
                <a16:creationId xmlns:a16="http://schemas.microsoft.com/office/drawing/2014/main" id="{97884834-A351-428B-A83F-7DCC68548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038600"/>
            <a:ext cx="9239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2325" b="0" i="0">
                <a:solidFill>
                  <a:srgbClr val="5C5345"/>
                </a:solidFill>
                <a:latin typeface="Cormorant Soft Editorial Italic"/>
                <a:ea typeface="Cormorant Soft Editorial Italic"/>
                <a:cs typeface="Cormorant Soft Editorial Italic"/>
              </a:defRPr>
            </a:pPr>
            <a:r>
              <a:rPr sz="2325" b="0" i="0">
                <a:solidFill>
                  <a:srgbClr val="5C5345"/>
                </a:solidFill>
                <a:latin typeface="Cormorant Soft Editorial Italic"/>
                <a:ea typeface="Cormorant Soft Editorial Italic"/>
                <a:cs typeface="Cormorant Soft Editorial Italic"/>
              </a:rPr>
              <a:t>The rooms we remember are rarely the most finished. They are the ones that leave a little room for us.</a:t>
            </a:r>
          </a:p>
        </p:txBody>
      </p:sp>
    </p:spTree>
    <p:extLst>
      <p:ext uri="{BB962C8B-B14F-4D97-AF65-F5344CB8AC3E}">
        <p14:creationId xmlns:p14="http://schemas.microsoft.com/office/powerpoint/2010/main" val="85968861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2EED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oft-label-3">
            <a:extLst xmlns:a="http://schemas.openxmlformats.org/drawingml/2006/main">
              <a:ext uri="{FF2B5EF4-FFF2-40B4-BE49-F238E27FC236}">
                <a16:creationId xmlns:a16="http://schemas.microsoft.com/office/drawing/2014/main" id="{7C002D0C-B383-4F52-814C-A56B4AEE7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A241B"/>
                </a:solidFill>
                <a:latin typeface="Work Sans Soft Editorial"/>
                <a:ea typeface="Work Sans Soft Editorial"/>
                <a:cs typeface="Work Sans Soft Editorial"/>
              </a:defRPr>
            </a:pPr>
            <a:r>
              <a:rPr sz="1350" b="0" i="0">
                <a:solidFill>
                  <a:srgbClr val="2A241B"/>
                </a:solidFill>
                <a:latin typeface="Work Sans Soft Editorial"/>
                <a:ea typeface="Work Sans Soft Editorial"/>
                <a:cs typeface="Work Sans Soft Editorial"/>
              </a:rPr>
              <a:t>First impressions</a:t>
            </a:r>
          </a:p>
        </p:txBody>
      </p:sp>
      <p:sp>
        <p:nvSpPr>
          <p:cNvPr id="2" name="soft-page-3">
            <a:extLst xmlns:a="http://schemas.openxmlformats.org/drawingml/2006/main">
              <a:ext uri="{FF2B5EF4-FFF2-40B4-BE49-F238E27FC236}">
                <a16:creationId xmlns:a16="http://schemas.microsoft.com/office/drawing/2014/main" id="{C7299A5B-04C8-4D5A-B6D4-F31EFC2B4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0005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0" i="0">
                <a:solidFill>
                  <a:srgbClr val="5C5345"/>
                </a:solidFill>
                <a:latin typeface="Cormorant Soft Editorial Italic"/>
                <a:ea typeface="Cormorant Soft Editorial Italic"/>
                <a:cs typeface="Cormorant Soft Editorial Italic"/>
              </a:defRPr>
            </a:pPr>
            <a:r>
              <a:rPr sz="1350" b="0" i="0">
                <a:solidFill>
                  <a:srgbClr val="5C5345"/>
                </a:solidFill>
                <a:latin typeface="Cormorant Soft Editorial Italic"/>
                <a:ea typeface="Cormorant Soft Editorial Italic"/>
                <a:cs typeface="Cormorant Soft Editorial Italic"/>
              </a:rPr>
              <a:t>iii</a:t>
            </a:r>
          </a:p>
        </p:txBody>
      </p:sp>
      <p:sp>
        <p:nvSpPr>
          <p:cNvPr id="3" name="soft-date-3">
            <a:extLst xmlns:a="http://schemas.openxmlformats.org/drawingml/2006/main">
              <a:ext uri="{FF2B5EF4-FFF2-40B4-BE49-F238E27FC236}">
                <a16:creationId xmlns:a16="http://schemas.microsoft.com/office/drawing/2014/main" id="{F709A297-1A25-4023-B9F5-159D04FF3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C5345"/>
                </a:solidFill>
                <a:latin typeface="Cormorant Soft Editorial Italic"/>
                <a:ea typeface="Cormorant Soft Editorial Italic"/>
                <a:cs typeface="Cormorant Soft Editorial Italic"/>
              </a:defRPr>
            </a:pPr>
            <a:r>
              <a:rPr sz="1125" b="0" i="0">
                <a:solidFill>
                  <a:srgbClr val="5C5345"/>
                </a:solidFill>
                <a:latin typeface="Cormorant Soft Editorial Italic"/>
                <a:ea typeface="Cormorant Soft Editorial Italic"/>
                <a:cs typeface="Cormorant Soft Editorial Italic"/>
              </a:rPr>
              <a:t>A small study in eight rooms</a:t>
            </a:r>
          </a:p>
        </p:txBody>
      </p:sp>
      <p:sp>
        <p:nvSpPr>
          <p:cNvPr id="4" name="soft-footer-3">
            <a:extLst xmlns:a="http://schemas.openxmlformats.org/drawingml/2006/main">
              <a:ext uri="{FF2B5EF4-FFF2-40B4-BE49-F238E27FC236}">
                <a16:creationId xmlns:a16="http://schemas.microsoft.com/office/drawing/2014/main" id="{E8C5A55A-B328-4844-B123-AF19117B1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6419850"/>
            <a:ext cx="3352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 i="0">
                <a:solidFill>
                  <a:srgbClr val="5C5345"/>
                </a:solidFill>
                <a:latin typeface="Cormorant Soft Editorial Italic"/>
                <a:ea typeface="Cormorant Soft Editorial Italic"/>
                <a:cs typeface="Cormorant Soft Editorial Italic"/>
              </a:defRPr>
            </a:pPr>
            <a:r>
              <a:rPr sz="1125" b="0" i="0">
                <a:solidFill>
                  <a:srgbClr val="5C5345"/>
                </a:solidFill>
                <a:latin typeface="Cormorant Soft Editorial Italic"/>
                <a:ea typeface="Cormorant Soft Editorial Italic"/>
                <a:cs typeface="Cormorant Soft Editorial Italic"/>
              </a:rPr>
              <a:t>The Good Room · Field Notes</a:t>
            </a:r>
          </a:p>
        </p:txBody>
      </p:sp>
      <p:sp>
        <p:nvSpPr>
          <p:cNvPr id="5" name="soft-cues-title">
            <a:extLst xmlns:a="http://schemas.openxmlformats.org/drawingml/2006/main">
              <a:ext uri="{FF2B5EF4-FFF2-40B4-BE49-F238E27FC236}">
                <a16:creationId xmlns:a16="http://schemas.microsoft.com/office/drawing/2014/main" id="{2039EE28-302B-42DD-B45D-D34E2C42C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95350"/>
            <a:ext cx="8001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0" i="0">
                <a:solidFill>
                  <a:srgbClr val="2A241B"/>
                </a:solidFill>
                <a:latin typeface="Cormorant Soft Editorial"/>
                <a:ea typeface="Cormorant Soft Editorial"/>
                <a:cs typeface="Cormorant Soft Editorial"/>
              </a:defRPr>
            </a:pPr>
            <a:r>
              <a:rPr sz="3750" b="0" i="0">
                <a:solidFill>
                  <a:srgbClr val="2A241B"/>
                </a:solidFill>
                <a:latin typeface="Cormorant Soft Editorial"/>
                <a:ea typeface="Cormorant Soft Editorial"/>
                <a:cs typeface="Cormorant Soft Editorial"/>
              </a:rPr>
              <a:t>Three cues shape the first minute.</a:t>
            </a:r>
          </a:p>
        </p:txBody>
      </p:sp>
      <p:sp>
        <p:nvSpPr>
          <p:cNvPr id="6" name="soft-cue-card-0">
            <a:extLst xmlns:a="http://schemas.openxmlformats.org/drawingml/2006/main">
              <a:ext uri="{FF2B5EF4-FFF2-40B4-BE49-F238E27FC236}">
                <a16:creationId xmlns:a16="http://schemas.microsoft.com/office/drawing/2014/main" id="{39D344BC-1DE7-4401-B55B-51DC5BECF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90700"/>
            <a:ext cx="3524250" cy="3981450"/>
          </a:xfrm>
          <a:prstGeom xmlns:a="http://schemas.openxmlformats.org/drawingml/2006/main" prst="roundRect">
            <a:avLst>
              <a:gd name="adj" fmla="val 2162"/>
            </a:avLst>
          </a:prstGeom>
          <a:solidFill xmlns:a="http://schemas.openxmlformats.org/drawingml/2006/main">
            <a:srgbClr val="E1A4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oft-cue-num-0">
            <a:extLst xmlns:a="http://schemas.openxmlformats.org/drawingml/2006/main">
              <a:ext uri="{FF2B5EF4-FFF2-40B4-BE49-F238E27FC236}">
                <a16:creationId xmlns:a16="http://schemas.microsoft.com/office/drawing/2014/main" id="{9686BB04-81EC-4A6D-9EB6-88DD04055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14550"/>
            <a:ext cx="857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0" i="0">
                <a:solidFill>
                  <a:srgbClr val="2A241B"/>
                </a:solidFill>
                <a:latin typeface="Cormorant Soft Editorial Italic"/>
                <a:ea typeface="Cormorant Soft Editorial Italic"/>
                <a:cs typeface="Cormorant Soft Editorial Italic"/>
              </a:defRPr>
            </a:pPr>
            <a:r>
              <a:rPr sz="2700" b="0" i="0">
                <a:solidFill>
                  <a:srgbClr val="2A241B"/>
                </a:solidFill>
                <a:latin typeface="Cormorant Soft Editorial Italic"/>
                <a:ea typeface="Cormorant Soft Editorial Italic"/>
                <a:cs typeface="Cormorant Soft Editorial Italic"/>
              </a:rPr>
              <a:t>01</a:t>
            </a:r>
          </a:p>
        </p:txBody>
      </p:sp>
      <p:sp>
        <p:nvSpPr>
          <p:cNvPr id="8" name="soft-cue-title-0">
            <a:extLst xmlns:a="http://schemas.openxmlformats.org/drawingml/2006/main">
              <a:ext uri="{FF2B5EF4-FFF2-40B4-BE49-F238E27FC236}">
                <a16:creationId xmlns:a16="http://schemas.microsoft.com/office/drawing/2014/main" id="{34CB0366-FA44-4146-A800-229624AF2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62250"/>
            <a:ext cx="2876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0" i="0">
                <a:solidFill>
                  <a:srgbClr val="2A241B"/>
                </a:solidFill>
                <a:latin typeface="Cormorant Soft Editorial"/>
                <a:ea typeface="Cormorant Soft Editorial"/>
                <a:cs typeface="Cormorant Soft Editorial"/>
              </a:defRPr>
            </a:pPr>
            <a:r>
              <a:rPr sz="3150" b="0" i="0">
                <a:solidFill>
                  <a:srgbClr val="2A241B"/>
                </a:solidFill>
                <a:latin typeface="Cormorant Soft Editorial"/>
                <a:ea typeface="Cormorant Soft Editorial"/>
                <a:cs typeface="Cormorant Soft Editorial"/>
              </a:rPr>
              <a:t>Warmth</a:t>
            </a:r>
          </a:p>
        </p:txBody>
      </p:sp>
      <p:sp>
        <p:nvSpPr>
          <p:cNvPr id="9" name="soft-cue-body-0">
            <a:extLst xmlns:a="http://schemas.openxmlformats.org/drawingml/2006/main">
              <a:ext uri="{FF2B5EF4-FFF2-40B4-BE49-F238E27FC236}">
                <a16:creationId xmlns:a16="http://schemas.microsoft.com/office/drawing/2014/main" id="{3721F7E9-D199-4AC0-AC5E-312D21D75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62350"/>
            <a:ext cx="27813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  <a:defRPr sz="1500" b="0" i="0">
                <a:solidFill>
                  <a:srgbClr val="2A241B"/>
                </a:solidFill>
                <a:latin typeface="Work Sans Soft Editorial"/>
                <a:ea typeface="Work Sans Soft Editorial"/>
                <a:cs typeface="Work Sans Soft Editorial"/>
              </a:defRPr>
            </a:pPr>
            <a:r>
              <a:rPr sz="1500" b="0" i="0">
                <a:solidFill>
                  <a:srgbClr val="2A241B"/>
                </a:solidFill>
                <a:latin typeface="Work Sans Soft Editorial"/>
                <a:ea typeface="Work Sans Soft Editorial"/>
                <a:cs typeface="Work Sans Soft Editorial"/>
              </a:rPr>
              <a:t>A pool of light makes the room feel already occupied.</a:t>
            </a:r>
          </a:p>
        </p:txBody>
      </p:sp>
      <p:sp>
        <p:nvSpPr>
          <p:cNvPr id="10" name="soft-cue-card-1">
            <a:extLst xmlns:a="http://schemas.openxmlformats.org/drawingml/2006/main">
              <a:ext uri="{FF2B5EF4-FFF2-40B4-BE49-F238E27FC236}">
                <a16:creationId xmlns:a16="http://schemas.microsoft.com/office/drawing/2014/main" id="{371F4FF6-956D-44B7-9CA1-BB06F850A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790700"/>
            <a:ext cx="3524250" cy="3981450"/>
          </a:xfrm>
          <a:prstGeom xmlns:a="http://schemas.openxmlformats.org/drawingml/2006/main" prst="roundRect">
            <a:avLst>
              <a:gd name="adj" fmla="val 2162"/>
            </a:avLst>
          </a:prstGeom>
          <a:solidFill xmlns:a="http://schemas.openxmlformats.org/drawingml/2006/main">
            <a:srgbClr val="D6DD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oft-cue-num-1">
            <a:extLst xmlns:a="http://schemas.openxmlformats.org/drawingml/2006/main">
              <a:ext uri="{FF2B5EF4-FFF2-40B4-BE49-F238E27FC236}">
                <a16:creationId xmlns:a16="http://schemas.microsoft.com/office/drawing/2014/main" id="{3DDE335D-CDBF-4AA5-8D73-C719D1FE7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114550"/>
            <a:ext cx="857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0" i="0">
                <a:solidFill>
                  <a:srgbClr val="2A241B"/>
                </a:solidFill>
                <a:latin typeface="Cormorant Soft Editorial Italic"/>
                <a:ea typeface="Cormorant Soft Editorial Italic"/>
                <a:cs typeface="Cormorant Soft Editorial Italic"/>
              </a:defRPr>
            </a:pPr>
            <a:r>
              <a:rPr sz="2700" b="0" i="0">
                <a:solidFill>
                  <a:srgbClr val="2A241B"/>
                </a:solidFill>
                <a:latin typeface="Cormorant Soft Editorial Italic"/>
                <a:ea typeface="Cormorant Soft Editorial Italic"/>
                <a:cs typeface="Cormorant Soft Editorial Italic"/>
              </a:rPr>
              <a:t>02</a:t>
            </a:r>
          </a:p>
        </p:txBody>
      </p:sp>
      <p:sp>
        <p:nvSpPr>
          <p:cNvPr id="12" name="soft-cue-title-1">
            <a:extLst xmlns:a="http://schemas.openxmlformats.org/drawingml/2006/main">
              <a:ext uri="{FF2B5EF4-FFF2-40B4-BE49-F238E27FC236}">
                <a16:creationId xmlns:a16="http://schemas.microsoft.com/office/drawing/2014/main" id="{09DE9AB6-B3D5-4D13-B96B-45CCB5931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762250"/>
            <a:ext cx="2876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0" i="0">
                <a:solidFill>
                  <a:srgbClr val="2A241B"/>
                </a:solidFill>
                <a:latin typeface="Cormorant Soft Editorial"/>
                <a:ea typeface="Cormorant Soft Editorial"/>
                <a:cs typeface="Cormorant Soft Editorial"/>
              </a:defRPr>
            </a:pPr>
            <a:r>
              <a:rPr sz="3150" b="0" i="0">
                <a:solidFill>
                  <a:srgbClr val="2A241B"/>
                </a:solidFill>
                <a:latin typeface="Cormorant Soft Editorial"/>
                <a:ea typeface="Cormorant Soft Editorial"/>
                <a:cs typeface="Cormorant Soft Editorial"/>
              </a:rPr>
              <a:t>Permission</a:t>
            </a:r>
          </a:p>
        </p:txBody>
      </p:sp>
      <p:sp>
        <p:nvSpPr>
          <p:cNvPr id="13" name="soft-cue-body-1">
            <a:extLst xmlns:a="http://schemas.openxmlformats.org/drawingml/2006/main">
              <a:ext uri="{FF2B5EF4-FFF2-40B4-BE49-F238E27FC236}">
                <a16:creationId xmlns:a16="http://schemas.microsoft.com/office/drawing/2014/main" id="{1F7536CD-1449-4DA3-96DA-51BB1422A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562350"/>
            <a:ext cx="27813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  <a:defRPr sz="1500" b="0" i="0">
                <a:solidFill>
                  <a:srgbClr val="2A241B"/>
                </a:solidFill>
                <a:latin typeface="Work Sans Soft Editorial"/>
                <a:ea typeface="Work Sans Soft Editorial"/>
                <a:cs typeface="Work Sans Soft Editorial"/>
              </a:defRPr>
            </a:pPr>
            <a:r>
              <a:rPr sz="1500" b="0" i="0">
                <a:solidFill>
                  <a:srgbClr val="2A241B"/>
                </a:solidFill>
                <a:latin typeface="Work Sans Soft Editorial"/>
                <a:ea typeface="Work Sans Soft Editorial"/>
                <a:cs typeface="Work Sans Soft Editorial"/>
              </a:rPr>
              <a:t>Objects within reach invite browsing without asking.</a:t>
            </a:r>
          </a:p>
        </p:txBody>
      </p:sp>
      <p:sp>
        <p:nvSpPr>
          <p:cNvPr id="14" name="soft-cue-card-2">
            <a:extLst xmlns:a="http://schemas.openxmlformats.org/drawingml/2006/main">
              <a:ext uri="{FF2B5EF4-FFF2-40B4-BE49-F238E27FC236}">
                <a16:creationId xmlns:a16="http://schemas.microsoft.com/office/drawing/2014/main" id="{C361B68F-4C10-4529-A5BB-D3D445445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790700"/>
            <a:ext cx="3524250" cy="3981450"/>
          </a:xfrm>
          <a:prstGeom xmlns:a="http://schemas.openxmlformats.org/drawingml/2006/main" prst="roundRect">
            <a:avLst>
              <a:gd name="adj" fmla="val 2162"/>
            </a:avLst>
          </a:prstGeom>
          <a:solidFill xmlns:a="http://schemas.openxmlformats.org/drawingml/2006/main">
            <a:srgbClr val="E8C9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soft-cue-num-2">
            <a:extLst xmlns:a="http://schemas.openxmlformats.org/drawingml/2006/main">
              <a:ext uri="{FF2B5EF4-FFF2-40B4-BE49-F238E27FC236}">
                <a16:creationId xmlns:a16="http://schemas.microsoft.com/office/drawing/2014/main" id="{052F16F0-7735-4A1B-9481-B25E185EA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114550"/>
            <a:ext cx="857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0" i="0">
                <a:solidFill>
                  <a:srgbClr val="2A241B"/>
                </a:solidFill>
                <a:latin typeface="Cormorant Soft Editorial Italic"/>
                <a:ea typeface="Cormorant Soft Editorial Italic"/>
                <a:cs typeface="Cormorant Soft Editorial Italic"/>
              </a:defRPr>
            </a:pPr>
            <a:r>
              <a:rPr sz="2700" b="0" i="0">
                <a:solidFill>
                  <a:srgbClr val="2A241B"/>
                </a:solidFill>
                <a:latin typeface="Cormorant Soft Editorial Italic"/>
                <a:ea typeface="Cormorant Soft Editorial Italic"/>
                <a:cs typeface="Cormorant Soft Editorial Italic"/>
              </a:rPr>
              <a:t>03</a:t>
            </a:r>
          </a:p>
        </p:txBody>
      </p:sp>
      <p:sp>
        <p:nvSpPr>
          <p:cNvPr id="16" name="soft-cue-title-2">
            <a:extLst xmlns:a="http://schemas.openxmlformats.org/drawingml/2006/main">
              <a:ext uri="{FF2B5EF4-FFF2-40B4-BE49-F238E27FC236}">
                <a16:creationId xmlns:a16="http://schemas.microsoft.com/office/drawing/2014/main" id="{98183CB9-456A-4D9E-A192-0E89AC982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762250"/>
            <a:ext cx="2876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0" i="0">
                <a:solidFill>
                  <a:srgbClr val="2A241B"/>
                </a:solidFill>
                <a:latin typeface="Cormorant Soft Editorial"/>
                <a:ea typeface="Cormorant Soft Editorial"/>
                <a:cs typeface="Cormorant Soft Editorial"/>
              </a:defRPr>
            </a:pPr>
            <a:r>
              <a:rPr sz="3150" b="0" i="0">
                <a:solidFill>
                  <a:srgbClr val="2A241B"/>
                </a:solidFill>
                <a:latin typeface="Cormorant Soft Editorial"/>
                <a:ea typeface="Cormorant Soft Editorial"/>
                <a:cs typeface="Cormorant Soft Editorial"/>
              </a:rPr>
              <a:t>Company</a:t>
            </a:r>
          </a:p>
        </p:txBody>
      </p:sp>
      <p:sp>
        <p:nvSpPr>
          <p:cNvPr id="17" name="soft-cue-body-2">
            <a:extLst xmlns:a="http://schemas.openxmlformats.org/drawingml/2006/main">
              <a:ext uri="{FF2B5EF4-FFF2-40B4-BE49-F238E27FC236}">
                <a16:creationId xmlns:a16="http://schemas.microsoft.com/office/drawing/2014/main" id="{237AB0D1-EABC-4C8B-9355-44D17CC03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562350"/>
            <a:ext cx="27813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  <a:defRPr sz="1500" b="0" i="0">
                <a:solidFill>
                  <a:srgbClr val="2A241B"/>
                </a:solidFill>
                <a:latin typeface="Work Sans Soft Editorial"/>
                <a:ea typeface="Work Sans Soft Editorial"/>
                <a:cs typeface="Work Sans Soft Editorial"/>
              </a:defRPr>
            </a:pPr>
            <a:r>
              <a:rPr sz="1500" b="0" i="0">
                <a:solidFill>
                  <a:srgbClr val="2A241B"/>
                </a:solidFill>
                <a:latin typeface="Work Sans Soft Editorial"/>
                <a:ea typeface="Work Sans Soft Editorial"/>
                <a:cs typeface="Work Sans Soft Editorial"/>
              </a:rPr>
              <a:t>A spare seat turns lingering into a shared possibility.</a:t>
            </a:r>
          </a:p>
        </p:txBody>
      </p:sp>
    </p:spTree>
    <p:extLst>
      <p:ext uri="{BB962C8B-B14F-4D97-AF65-F5344CB8AC3E}">
        <p14:creationId xmlns:p14="http://schemas.microsoft.com/office/powerpoint/2010/main" val="167520743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2EED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oft-label-4">
            <a:extLst xmlns:a="http://schemas.openxmlformats.org/drawingml/2006/main">
              <a:ext uri="{FF2B5EF4-FFF2-40B4-BE49-F238E27FC236}">
                <a16:creationId xmlns:a16="http://schemas.microsoft.com/office/drawing/2014/main" id="{5D5A8051-EE92-449C-9254-9BAB8B72B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A241B"/>
                </a:solidFill>
                <a:latin typeface="Work Sans Soft Editorial"/>
                <a:ea typeface="Work Sans Soft Editorial"/>
                <a:cs typeface="Work Sans Soft Editorial"/>
              </a:defRPr>
            </a:pPr>
            <a:r>
              <a:rPr sz="1350" b="0" i="0">
                <a:solidFill>
                  <a:srgbClr val="2A241B"/>
                </a:solidFill>
                <a:latin typeface="Work Sans Soft Editorial"/>
                <a:ea typeface="Work Sans Soft Editorial"/>
                <a:cs typeface="Work Sans Soft Editorial"/>
              </a:rPr>
              <a:t>Dwell curve</a:t>
            </a:r>
          </a:p>
        </p:txBody>
      </p:sp>
      <p:sp>
        <p:nvSpPr>
          <p:cNvPr id="2" name="soft-page-4">
            <a:extLst xmlns:a="http://schemas.openxmlformats.org/drawingml/2006/main">
              <a:ext uri="{FF2B5EF4-FFF2-40B4-BE49-F238E27FC236}">
                <a16:creationId xmlns:a16="http://schemas.microsoft.com/office/drawing/2014/main" id="{1AA4D72F-5B14-4B48-B34C-4FC99C3EE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0005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0" i="0">
                <a:solidFill>
                  <a:srgbClr val="5C5345"/>
                </a:solidFill>
                <a:latin typeface="Cormorant Soft Editorial Italic"/>
                <a:ea typeface="Cormorant Soft Editorial Italic"/>
                <a:cs typeface="Cormorant Soft Editorial Italic"/>
              </a:defRPr>
            </a:pPr>
            <a:r>
              <a:rPr sz="1350" b="0" i="0">
                <a:solidFill>
                  <a:srgbClr val="5C5345"/>
                </a:solidFill>
                <a:latin typeface="Cormorant Soft Editorial Italic"/>
                <a:ea typeface="Cormorant Soft Editorial Italic"/>
                <a:cs typeface="Cormorant Soft Editorial Italic"/>
              </a:rPr>
              <a:t>iv</a:t>
            </a:r>
          </a:p>
        </p:txBody>
      </p:sp>
      <p:sp>
        <p:nvSpPr>
          <p:cNvPr id="3" name="soft-date-4">
            <a:extLst xmlns:a="http://schemas.openxmlformats.org/drawingml/2006/main">
              <a:ext uri="{FF2B5EF4-FFF2-40B4-BE49-F238E27FC236}">
                <a16:creationId xmlns:a16="http://schemas.microsoft.com/office/drawing/2014/main" id="{68DAA47E-B3A8-443D-A0E4-DA31A9AE4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C5345"/>
                </a:solidFill>
                <a:latin typeface="Cormorant Soft Editorial Italic"/>
                <a:ea typeface="Cormorant Soft Editorial Italic"/>
                <a:cs typeface="Cormorant Soft Editorial Italic"/>
              </a:defRPr>
            </a:pPr>
            <a:r>
              <a:rPr sz="1125" b="0" i="0">
                <a:solidFill>
                  <a:srgbClr val="5C5345"/>
                </a:solidFill>
                <a:latin typeface="Cormorant Soft Editorial Italic"/>
                <a:ea typeface="Cormorant Soft Editorial Italic"/>
                <a:cs typeface="Cormorant Soft Editorial Italic"/>
              </a:rPr>
              <a:t>A small study in eight rooms</a:t>
            </a:r>
          </a:p>
        </p:txBody>
      </p:sp>
      <p:sp>
        <p:nvSpPr>
          <p:cNvPr id="4" name="soft-footer-4">
            <a:extLst xmlns:a="http://schemas.openxmlformats.org/drawingml/2006/main">
              <a:ext uri="{FF2B5EF4-FFF2-40B4-BE49-F238E27FC236}">
                <a16:creationId xmlns:a16="http://schemas.microsoft.com/office/drawing/2014/main" id="{04143F05-1719-4D74-8909-C2DA5B080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6419850"/>
            <a:ext cx="3352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 i="0">
                <a:solidFill>
                  <a:srgbClr val="5C5345"/>
                </a:solidFill>
                <a:latin typeface="Cormorant Soft Editorial Italic"/>
                <a:ea typeface="Cormorant Soft Editorial Italic"/>
                <a:cs typeface="Cormorant Soft Editorial Italic"/>
              </a:defRPr>
            </a:pPr>
            <a:r>
              <a:rPr sz="1125" b="0" i="0">
                <a:solidFill>
                  <a:srgbClr val="5C5345"/>
                </a:solidFill>
                <a:latin typeface="Cormorant Soft Editorial Italic"/>
                <a:ea typeface="Cormorant Soft Editorial Italic"/>
                <a:cs typeface="Cormorant Soft Editorial Italic"/>
              </a:rPr>
              <a:t>The Good Room · Field Notes</a:t>
            </a:r>
          </a:p>
        </p:txBody>
      </p:sp>
      <p:sp>
        <p:nvSpPr>
          <p:cNvPr id="5" name="soft-curve-title">
            <a:extLst xmlns:a="http://schemas.openxmlformats.org/drawingml/2006/main">
              <a:ext uri="{FF2B5EF4-FFF2-40B4-BE49-F238E27FC236}">
                <a16:creationId xmlns:a16="http://schemas.microsoft.com/office/drawing/2014/main" id="{C524A5BA-9220-4DEA-8250-3C3292824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04900"/>
            <a:ext cx="32766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53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050" b="0" i="0">
                <a:solidFill>
                  <a:srgbClr val="2A241B"/>
                </a:solidFill>
                <a:latin typeface="Cormorant Soft Editorial"/>
                <a:ea typeface="Cormorant Soft Editorial"/>
                <a:cs typeface="Cormorant Soft Editorial"/>
              </a:defRPr>
            </a:pPr>
            <a:r>
              <a:rPr sz="4050" b="0" i="0">
                <a:solidFill>
                  <a:srgbClr val="2A241B"/>
                </a:solidFill>
                <a:latin typeface="Cormorant Soft Editorial"/>
                <a:ea typeface="Cormorant Soft Editorial"/>
                <a:cs typeface="Cormorant Soft Editorial"/>
              </a:rPr>
              <a:t>Layered light keeps the room alive.</a:t>
            </a:r>
          </a:p>
        </p:txBody>
      </p:sp>
      <p:sp>
        <p:nvSpPr>
          <p:cNvPr id="6" name="soft-curve-copy">
            <a:extLst xmlns:a="http://schemas.openxmlformats.org/drawingml/2006/main">
              <a:ext uri="{FF2B5EF4-FFF2-40B4-BE49-F238E27FC236}">
                <a16:creationId xmlns:a16="http://schemas.microsoft.com/office/drawing/2014/main" id="{A5A42D15-53C5-4F57-B554-3D36046B4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00400"/>
            <a:ext cx="314325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45000"/>
              </a:lnSpc>
              <a:buNone/>
              <a:defRPr sz="1350" b="0" i="0">
                <a:solidFill>
                  <a:srgbClr val="5C5345"/>
                </a:solidFill>
                <a:latin typeface="Work Sans Soft Editorial"/>
                <a:ea typeface="Work Sans Soft Editorial"/>
                <a:cs typeface="Work Sans Soft Editorial"/>
              </a:defRPr>
            </a:pPr>
            <a:r>
              <a:rPr sz="1350" b="0" i="0">
                <a:solidFill>
                  <a:srgbClr val="5C5345"/>
                </a:solidFill>
                <a:latin typeface="Work Sans Soft Editorial"/>
                <a:ea typeface="Work Sans Soft Editorial"/>
                <a:cs typeface="Work Sans Soft Editorial"/>
              </a:rPr>
              <a:t>When a window, a low lamp, and a soft edge work together, people leave more slowly than they do under one bright overhead source.</a:t>
            </a:r>
          </a:p>
        </p:txBody>
      </p:sp>
      <p:sp>
        <p:nvSpPr>
          <p:cNvPr id="7" name="soft-curve-method">
            <a:extLst xmlns:a="http://schemas.openxmlformats.org/drawingml/2006/main">
              <a:ext uri="{FF2B5EF4-FFF2-40B4-BE49-F238E27FC236}">
                <a16:creationId xmlns:a16="http://schemas.microsoft.com/office/drawing/2014/main" id="{AE4C3D10-928B-482C-96DD-D2542C423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029200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C5345"/>
                </a:solidFill>
                <a:latin typeface="Cormorant Soft Editorial Italic"/>
                <a:ea typeface="Cormorant Soft Editorial Italic"/>
                <a:cs typeface="Cormorant Soft Editorial Italic"/>
              </a:defRPr>
            </a:pPr>
            <a:r>
              <a:rPr sz="1125" b="0" i="0">
                <a:solidFill>
                  <a:srgbClr val="5C5345"/>
                </a:solidFill>
                <a:latin typeface="Cormorant Soft Editorial Italic"/>
                <a:ea typeface="Cormorant Soft Editorial Italic"/>
                <a:cs typeface="Cormorant Soft Editorial Italic"/>
              </a:rPr>
              <a:t>Illustrative observation log / 48 sessions</a:t>
            </a:r>
          </a:p>
        </p:txBody>
      </p:sp>
      <p:sp>
        <p:nvSpPr>
          <p:cNvPr id="8" name="soft-curve-frame">
            <a:extLst xmlns:a="http://schemas.openxmlformats.org/drawingml/2006/main">
              <a:ext uri="{FF2B5EF4-FFF2-40B4-BE49-F238E27FC236}">
                <a16:creationId xmlns:a16="http://schemas.microsoft.com/office/drawing/2014/main" id="{1C689E80-BBDD-48EF-821B-E8EA24D78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066800"/>
            <a:ext cx="7562850" cy="4743450"/>
          </a:xfrm>
          <a:prstGeom xmlns:a="http://schemas.openxmlformats.org/drawingml/2006/main" prst="roundRect">
            <a:avLst>
              <a:gd name="adj" fmla="val 1606"/>
            </a:avLst>
          </a:prstGeom>
          <a:solidFill xmlns:a="http://schemas.openxmlformats.org/drawingml/2006/main">
            <a:srgbClr val="F9F7F0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18" name="soft-dwell-chart"/>
          <p:cNvGraphicFramePr/>
          <p:nvPr/>
        </p:nvGraphicFramePr>
        <p:xfrm>
          <a:off xmlns:a="http://schemas.openxmlformats.org/drawingml/2006/main" x="4400550" y="1409700"/>
          <a:ext xmlns:a="http://schemas.openxmlformats.org/drawingml/2006/main" cx="6934200" cy="37909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3fe8fbf91cd4bed"/>
          </a:graphicData>
        </a:graphic>
      </p:graphicFrame>
    </p:spTree>
    <p:extLst>
      <p:ext uri="{BB962C8B-B14F-4D97-AF65-F5344CB8AC3E}">
        <p14:creationId xmlns:p14="http://schemas.microsoft.com/office/powerpoint/2010/main" val="112330243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2EED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oft-label-5">
            <a:extLst xmlns:a="http://schemas.openxmlformats.org/drawingml/2006/main">
              <a:ext uri="{FF2B5EF4-FFF2-40B4-BE49-F238E27FC236}">
                <a16:creationId xmlns:a16="http://schemas.microsoft.com/office/drawing/2014/main" id="{B20FBF9E-A367-4B00-AB92-FD6A08567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A241B"/>
                </a:solidFill>
                <a:latin typeface="Work Sans Soft Editorial"/>
                <a:ea typeface="Work Sans Soft Editorial"/>
                <a:cs typeface="Work Sans Soft Editorial"/>
              </a:defRPr>
            </a:pPr>
            <a:r>
              <a:rPr sz="1350" b="0" i="0">
                <a:solidFill>
                  <a:srgbClr val="2A241B"/>
                </a:solidFill>
                <a:latin typeface="Work Sans Soft Editorial"/>
                <a:ea typeface="Work Sans Soft Editorial"/>
                <a:cs typeface="Work Sans Soft Editorial"/>
              </a:rPr>
              <a:t>A room as sequence</a:t>
            </a:r>
          </a:p>
        </p:txBody>
      </p:sp>
      <p:sp>
        <p:nvSpPr>
          <p:cNvPr id="2" name="soft-page-5">
            <a:extLst xmlns:a="http://schemas.openxmlformats.org/drawingml/2006/main">
              <a:ext uri="{FF2B5EF4-FFF2-40B4-BE49-F238E27FC236}">
                <a16:creationId xmlns:a16="http://schemas.microsoft.com/office/drawing/2014/main" id="{2B2A415B-371C-46D8-925B-97BBC4531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0005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0" i="0">
                <a:solidFill>
                  <a:srgbClr val="5C5345"/>
                </a:solidFill>
                <a:latin typeface="Cormorant Soft Editorial Italic"/>
                <a:ea typeface="Cormorant Soft Editorial Italic"/>
                <a:cs typeface="Cormorant Soft Editorial Italic"/>
              </a:defRPr>
            </a:pPr>
            <a:r>
              <a:rPr sz="1350" b="0" i="0">
                <a:solidFill>
                  <a:srgbClr val="5C5345"/>
                </a:solidFill>
                <a:latin typeface="Cormorant Soft Editorial Italic"/>
                <a:ea typeface="Cormorant Soft Editorial Italic"/>
                <a:cs typeface="Cormorant Soft Editorial Italic"/>
              </a:rPr>
              <a:t>v</a:t>
            </a:r>
          </a:p>
        </p:txBody>
      </p:sp>
      <p:sp>
        <p:nvSpPr>
          <p:cNvPr id="3" name="soft-date-5">
            <a:extLst xmlns:a="http://schemas.openxmlformats.org/drawingml/2006/main">
              <a:ext uri="{FF2B5EF4-FFF2-40B4-BE49-F238E27FC236}">
                <a16:creationId xmlns:a16="http://schemas.microsoft.com/office/drawing/2014/main" id="{DC92A287-C632-4B6F-B0D4-B0739E4D9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C5345"/>
                </a:solidFill>
                <a:latin typeface="Cormorant Soft Editorial Italic"/>
                <a:ea typeface="Cormorant Soft Editorial Italic"/>
                <a:cs typeface="Cormorant Soft Editorial Italic"/>
              </a:defRPr>
            </a:pPr>
            <a:r>
              <a:rPr sz="1125" b="0" i="0">
                <a:solidFill>
                  <a:srgbClr val="5C5345"/>
                </a:solidFill>
                <a:latin typeface="Cormorant Soft Editorial Italic"/>
                <a:ea typeface="Cormorant Soft Editorial Italic"/>
                <a:cs typeface="Cormorant Soft Editorial Italic"/>
              </a:rPr>
              <a:t>A small study in eight rooms</a:t>
            </a:r>
          </a:p>
        </p:txBody>
      </p:sp>
      <p:sp>
        <p:nvSpPr>
          <p:cNvPr id="4" name="soft-footer-5">
            <a:extLst xmlns:a="http://schemas.openxmlformats.org/drawingml/2006/main">
              <a:ext uri="{FF2B5EF4-FFF2-40B4-BE49-F238E27FC236}">
                <a16:creationId xmlns:a16="http://schemas.microsoft.com/office/drawing/2014/main" id="{67A93838-E207-446D-A937-D676B3EBA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6419850"/>
            <a:ext cx="3352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 i="0">
                <a:solidFill>
                  <a:srgbClr val="5C5345"/>
                </a:solidFill>
                <a:latin typeface="Cormorant Soft Editorial Italic"/>
                <a:ea typeface="Cormorant Soft Editorial Italic"/>
                <a:cs typeface="Cormorant Soft Editorial Italic"/>
              </a:defRPr>
            </a:pPr>
            <a:r>
              <a:rPr sz="1125" b="0" i="0">
                <a:solidFill>
                  <a:srgbClr val="5C5345"/>
                </a:solidFill>
                <a:latin typeface="Cormorant Soft Editorial Italic"/>
                <a:ea typeface="Cormorant Soft Editorial Italic"/>
                <a:cs typeface="Cormorant Soft Editorial Italic"/>
              </a:rPr>
              <a:t>The Good Room · Field Notes</a:t>
            </a:r>
          </a:p>
        </p:txBody>
      </p:sp>
      <p:sp>
        <p:nvSpPr>
          <p:cNvPr id="5" name="soft-sequence-title">
            <a:extLst xmlns:a="http://schemas.openxmlformats.org/drawingml/2006/main">
              <a:ext uri="{FF2B5EF4-FFF2-40B4-BE49-F238E27FC236}">
                <a16:creationId xmlns:a16="http://schemas.microsoft.com/office/drawing/2014/main" id="{E209E2F8-BB8B-40C9-8321-C8ED78AE7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4400"/>
            <a:ext cx="8572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0" i="0">
                <a:solidFill>
                  <a:srgbClr val="2A241B"/>
                </a:solidFill>
                <a:latin typeface="Cormorant Soft Editorial"/>
                <a:ea typeface="Cormorant Soft Editorial"/>
                <a:cs typeface="Cormorant Soft Editorial"/>
              </a:defRPr>
            </a:pPr>
            <a:r>
              <a:rPr sz="3750" b="0" i="0">
                <a:solidFill>
                  <a:srgbClr val="2A241B"/>
                </a:solidFill>
                <a:latin typeface="Cormorant Soft Editorial"/>
                <a:ea typeface="Cormorant Soft Editorial"/>
                <a:cs typeface="Cormorant Soft Editorial"/>
              </a:rPr>
              <a:t>A room is a sequence, not a style.</a:t>
            </a:r>
          </a:p>
        </p:txBody>
      </p:sp>
      <p:sp>
        <p:nvSpPr>
          <p:cNvPr id="6" name="soft-step-0">
            <a:extLst xmlns:a="http://schemas.openxmlformats.org/drawingml/2006/main">
              <a:ext uri="{FF2B5EF4-FFF2-40B4-BE49-F238E27FC236}">
                <a16:creationId xmlns:a16="http://schemas.microsoft.com/office/drawing/2014/main" id="{C929E706-B9AE-46A7-BD29-0C8DC2ACD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05000"/>
            <a:ext cx="2571750" cy="361950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E1A4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oft-step-num-0">
            <a:extLst xmlns:a="http://schemas.openxmlformats.org/drawingml/2006/main">
              <a:ext uri="{FF2B5EF4-FFF2-40B4-BE49-F238E27FC236}">
                <a16:creationId xmlns:a16="http://schemas.microsoft.com/office/drawing/2014/main" id="{E9AB04C1-776B-42B8-AC89-551249976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33600"/>
            <a:ext cx="685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0" i="0">
                <a:solidFill>
                  <a:srgbClr val="2A241B"/>
                </a:solidFill>
                <a:latin typeface="Cormorant Soft Editorial Italic"/>
                <a:ea typeface="Cormorant Soft Editorial Italic"/>
                <a:cs typeface="Cormorant Soft Editorial Italic"/>
              </a:defRPr>
            </a:pPr>
            <a:r>
              <a:rPr sz="3600" b="0" i="0">
                <a:solidFill>
                  <a:srgbClr val="2A241B"/>
                </a:solidFill>
                <a:latin typeface="Cormorant Soft Editorial Italic"/>
                <a:ea typeface="Cormorant Soft Editorial Italic"/>
                <a:cs typeface="Cormorant Soft Editorial Italic"/>
              </a:rPr>
              <a:t>1</a:t>
            </a:r>
          </a:p>
        </p:txBody>
      </p:sp>
      <p:sp>
        <p:nvSpPr>
          <p:cNvPr id="8" name="soft-step-rule-0">
            <a:extLst xmlns:a="http://schemas.openxmlformats.org/drawingml/2006/main">
              <a:ext uri="{FF2B5EF4-FFF2-40B4-BE49-F238E27FC236}">
                <a16:creationId xmlns:a16="http://schemas.microsoft.com/office/drawing/2014/main" id="{75D446BF-ADC7-4CF6-80CA-F1346CFFB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95600"/>
            <a:ext cx="2076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78E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oft-step-title-0">
            <a:extLst xmlns:a="http://schemas.openxmlformats.org/drawingml/2006/main">
              <a:ext uri="{FF2B5EF4-FFF2-40B4-BE49-F238E27FC236}">
                <a16:creationId xmlns:a16="http://schemas.microsoft.com/office/drawing/2014/main" id="{64ABCB37-0B72-40C4-BF6A-6952C129E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62300"/>
            <a:ext cx="2076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0" i="0">
                <a:solidFill>
                  <a:srgbClr val="2A241B"/>
                </a:solidFill>
                <a:latin typeface="Cormorant Soft Editorial"/>
                <a:ea typeface="Cormorant Soft Editorial"/>
                <a:cs typeface="Cormorant Soft Editorial"/>
              </a:defRPr>
            </a:pPr>
            <a:r>
              <a:rPr sz="2625" b="0" i="0">
                <a:solidFill>
                  <a:srgbClr val="2A241B"/>
                </a:solidFill>
                <a:latin typeface="Cormorant Soft Editorial"/>
                <a:ea typeface="Cormorant Soft Editorial"/>
                <a:cs typeface="Cormorant Soft Editorial"/>
              </a:rPr>
              <a:t>Notice</a:t>
            </a:r>
          </a:p>
        </p:txBody>
      </p:sp>
      <p:sp>
        <p:nvSpPr>
          <p:cNvPr id="10" name="soft-step-body-0">
            <a:extLst xmlns:a="http://schemas.openxmlformats.org/drawingml/2006/main">
              <a:ext uri="{FF2B5EF4-FFF2-40B4-BE49-F238E27FC236}">
                <a16:creationId xmlns:a16="http://schemas.microsoft.com/office/drawing/2014/main" id="{74667005-820E-4D20-8B6E-BE3C5A647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24300"/>
            <a:ext cx="2000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  <a:defRPr sz="1350" b="0" i="0">
                <a:solidFill>
                  <a:srgbClr val="2A241B"/>
                </a:solidFill>
                <a:latin typeface="Work Sans Soft Editorial"/>
                <a:ea typeface="Work Sans Soft Editorial"/>
                <a:cs typeface="Work Sans Soft Editorial"/>
              </a:defRPr>
            </a:pPr>
            <a:r>
              <a:rPr sz="1350" b="0" i="0">
                <a:solidFill>
                  <a:srgbClr val="2A241B"/>
                </a:solidFill>
                <a:latin typeface="Work Sans Soft Editorial"/>
                <a:ea typeface="Work Sans Soft Editorial"/>
                <a:cs typeface="Work Sans Soft Editorial"/>
              </a:rPr>
              <a:t>One clear invitation from the doorway.</a:t>
            </a:r>
          </a:p>
        </p:txBody>
      </p:sp>
      <p:sp>
        <p:nvSpPr>
          <p:cNvPr id="11" name="soft-step-1">
            <a:extLst xmlns:a="http://schemas.openxmlformats.org/drawingml/2006/main">
              <a:ext uri="{FF2B5EF4-FFF2-40B4-BE49-F238E27FC236}">
                <a16:creationId xmlns:a16="http://schemas.microsoft.com/office/drawing/2014/main" id="{A6FF7E68-3037-43E3-A8BF-286BCEC7B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05000"/>
            <a:ext cx="2571750" cy="361950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D6DD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oft-step-num-1">
            <a:extLst xmlns:a="http://schemas.openxmlformats.org/drawingml/2006/main">
              <a:ext uri="{FF2B5EF4-FFF2-40B4-BE49-F238E27FC236}">
                <a16:creationId xmlns:a16="http://schemas.microsoft.com/office/drawing/2014/main" id="{3E9AF9CC-0694-45F7-8E51-CD7D90B9D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133600"/>
            <a:ext cx="685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0" i="0">
                <a:solidFill>
                  <a:srgbClr val="2A241B"/>
                </a:solidFill>
                <a:latin typeface="Cormorant Soft Editorial Italic"/>
                <a:ea typeface="Cormorant Soft Editorial Italic"/>
                <a:cs typeface="Cormorant Soft Editorial Italic"/>
              </a:defRPr>
            </a:pPr>
            <a:r>
              <a:rPr sz="3600" b="0" i="0">
                <a:solidFill>
                  <a:srgbClr val="2A241B"/>
                </a:solidFill>
                <a:latin typeface="Cormorant Soft Editorial Italic"/>
                <a:ea typeface="Cormorant Soft Editorial Italic"/>
                <a:cs typeface="Cormorant Soft Editorial Italic"/>
              </a:rPr>
              <a:t>2</a:t>
            </a:r>
          </a:p>
        </p:txBody>
      </p:sp>
      <p:sp>
        <p:nvSpPr>
          <p:cNvPr id="13" name="soft-step-rule-1">
            <a:extLst xmlns:a="http://schemas.openxmlformats.org/drawingml/2006/main">
              <a:ext uri="{FF2B5EF4-FFF2-40B4-BE49-F238E27FC236}">
                <a16:creationId xmlns:a16="http://schemas.microsoft.com/office/drawing/2014/main" id="{17D56901-7261-4739-A963-AA92F004D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895600"/>
            <a:ext cx="2076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78E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oft-step-title-1">
            <a:extLst xmlns:a="http://schemas.openxmlformats.org/drawingml/2006/main">
              <a:ext uri="{FF2B5EF4-FFF2-40B4-BE49-F238E27FC236}">
                <a16:creationId xmlns:a16="http://schemas.microsoft.com/office/drawing/2014/main" id="{5B25EC4D-9B5F-493E-A3F3-BF979AE08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162300"/>
            <a:ext cx="2076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0" i="0">
                <a:solidFill>
                  <a:srgbClr val="2A241B"/>
                </a:solidFill>
                <a:latin typeface="Cormorant Soft Editorial"/>
                <a:ea typeface="Cormorant Soft Editorial"/>
                <a:cs typeface="Cormorant Soft Editorial"/>
              </a:defRPr>
            </a:pPr>
            <a:r>
              <a:rPr sz="2625" b="0" i="0">
                <a:solidFill>
                  <a:srgbClr val="2A241B"/>
                </a:solidFill>
                <a:latin typeface="Cormorant Soft Editorial"/>
                <a:ea typeface="Cormorant Soft Editorial"/>
                <a:cs typeface="Cormorant Soft Editorial"/>
              </a:rPr>
              <a:t>Approach</a:t>
            </a:r>
          </a:p>
        </p:txBody>
      </p:sp>
      <p:sp>
        <p:nvSpPr>
          <p:cNvPr id="15" name="soft-step-body-1">
            <a:extLst xmlns:a="http://schemas.openxmlformats.org/drawingml/2006/main">
              <a:ext uri="{FF2B5EF4-FFF2-40B4-BE49-F238E27FC236}">
                <a16:creationId xmlns:a16="http://schemas.microsoft.com/office/drawing/2014/main" id="{32BD8782-CAA5-4915-8ECA-66498AAEA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924300"/>
            <a:ext cx="2000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  <a:defRPr sz="1350" b="0" i="0">
                <a:solidFill>
                  <a:srgbClr val="2A241B"/>
                </a:solidFill>
                <a:latin typeface="Work Sans Soft Editorial"/>
                <a:ea typeface="Work Sans Soft Editorial"/>
                <a:cs typeface="Work Sans Soft Editorial"/>
              </a:defRPr>
            </a:pPr>
            <a:r>
              <a:rPr sz="1350" b="0" i="0">
                <a:solidFill>
                  <a:srgbClr val="2A241B"/>
                </a:solidFill>
                <a:latin typeface="Work Sans Soft Editorial"/>
                <a:ea typeface="Work Sans Soft Editorial"/>
                <a:cs typeface="Work Sans Soft Editorial"/>
              </a:rPr>
              <a:t>A surface that rewards moving closer.</a:t>
            </a:r>
          </a:p>
        </p:txBody>
      </p:sp>
      <p:sp>
        <p:nvSpPr>
          <p:cNvPr id="16" name="soft-step-2">
            <a:extLst xmlns:a="http://schemas.openxmlformats.org/drawingml/2006/main">
              <a:ext uri="{FF2B5EF4-FFF2-40B4-BE49-F238E27FC236}">
                <a16:creationId xmlns:a16="http://schemas.microsoft.com/office/drawing/2014/main" id="{4B0DE1CE-FE7E-47A2-9B0D-99F011CDA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905000"/>
            <a:ext cx="2571750" cy="361950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B7C7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oft-step-num-2">
            <a:extLst xmlns:a="http://schemas.openxmlformats.org/drawingml/2006/main">
              <a:ext uri="{FF2B5EF4-FFF2-40B4-BE49-F238E27FC236}">
                <a16:creationId xmlns:a16="http://schemas.microsoft.com/office/drawing/2014/main" id="{15ADBEF6-7167-4570-AE55-44A8603A6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133600"/>
            <a:ext cx="685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0" i="0">
                <a:solidFill>
                  <a:srgbClr val="2A241B"/>
                </a:solidFill>
                <a:latin typeface="Cormorant Soft Editorial Italic"/>
                <a:ea typeface="Cormorant Soft Editorial Italic"/>
                <a:cs typeface="Cormorant Soft Editorial Italic"/>
              </a:defRPr>
            </a:pPr>
            <a:r>
              <a:rPr sz="3600" b="0" i="0">
                <a:solidFill>
                  <a:srgbClr val="2A241B"/>
                </a:solidFill>
                <a:latin typeface="Cormorant Soft Editorial Italic"/>
                <a:ea typeface="Cormorant Soft Editorial Italic"/>
                <a:cs typeface="Cormorant Soft Editorial Italic"/>
              </a:rPr>
              <a:t>3</a:t>
            </a:r>
          </a:p>
        </p:txBody>
      </p:sp>
      <p:sp>
        <p:nvSpPr>
          <p:cNvPr id="18" name="soft-step-rule-2">
            <a:extLst xmlns:a="http://schemas.openxmlformats.org/drawingml/2006/main">
              <a:ext uri="{FF2B5EF4-FFF2-40B4-BE49-F238E27FC236}">
                <a16:creationId xmlns:a16="http://schemas.microsoft.com/office/drawing/2014/main" id="{946262CD-7700-48B7-B7DC-96613E9B0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895600"/>
            <a:ext cx="2076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78E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soft-step-title-2">
            <a:extLst xmlns:a="http://schemas.openxmlformats.org/drawingml/2006/main">
              <a:ext uri="{FF2B5EF4-FFF2-40B4-BE49-F238E27FC236}">
                <a16:creationId xmlns:a16="http://schemas.microsoft.com/office/drawing/2014/main" id="{0C599E23-1E71-466D-8B3B-818C61315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162300"/>
            <a:ext cx="2076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0" i="0">
                <a:solidFill>
                  <a:srgbClr val="2A241B"/>
                </a:solidFill>
                <a:latin typeface="Cormorant Soft Editorial"/>
                <a:ea typeface="Cormorant Soft Editorial"/>
                <a:cs typeface="Cormorant Soft Editorial"/>
              </a:defRPr>
            </a:pPr>
            <a:r>
              <a:rPr sz="2625" b="0" i="0">
                <a:solidFill>
                  <a:srgbClr val="2A241B"/>
                </a:solidFill>
                <a:latin typeface="Cormorant Soft Editorial"/>
                <a:ea typeface="Cormorant Soft Editorial"/>
                <a:cs typeface="Cormorant Soft Editorial"/>
              </a:rPr>
              <a:t>Settle</a:t>
            </a:r>
          </a:p>
        </p:txBody>
      </p:sp>
      <p:sp>
        <p:nvSpPr>
          <p:cNvPr id="20" name="soft-step-body-2">
            <a:extLst xmlns:a="http://schemas.openxmlformats.org/drawingml/2006/main">
              <a:ext uri="{FF2B5EF4-FFF2-40B4-BE49-F238E27FC236}">
                <a16:creationId xmlns:a16="http://schemas.microsoft.com/office/drawing/2014/main" id="{E913334E-1441-4577-BE4A-2C390F1B1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924300"/>
            <a:ext cx="2000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  <a:defRPr sz="1350" b="0" i="0">
                <a:solidFill>
                  <a:srgbClr val="2A241B"/>
                </a:solidFill>
                <a:latin typeface="Work Sans Soft Editorial"/>
                <a:ea typeface="Work Sans Soft Editorial"/>
                <a:cs typeface="Work Sans Soft Editorial"/>
              </a:defRPr>
            </a:pPr>
            <a:r>
              <a:rPr sz="1350" b="0" i="0">
                <a:solidFill>
                  <a:srgbClr val="2A241B"/>
                </a:solidFill>
                <a:latin typeface="Work Sans Soft Editorial"/>
                <a:ea typeface="Work Sans Soft Editorial"/>
                <a:cs typeface="Work Sans Soft Editorial"/>
              </a:rPr>
              <a:t>Light and texture that lower the pace.</a:t>
            </a:r>
          </a:p>
        </p:txBody>
      </p:sp>
      <p:sp>
        <p:nvSpPr>
          <p:cNvPr id="21" name="soft-step-3">
            <a:extLst xmlns:a="http://schemas.openxmlformats.org/drawingml/2006/main">
              <a:ext uri="{FF2B5EF4-FFF2-40B4-BE49-F238E27FC236}">
                <a16:creationId xmlns:a16="http://schemas.microsoft.com/office/drawing/2014/main" id="{642495DD-402D-4963-A1B0-18FE74B36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905000"/>
            <a:ext cx="2571750" cy="361950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C9BE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soft-step-num-3">
            <a:extLst xmlns:a="http://schemas.openxmlformats.org/drawingml/2006/main">
              <a:ext uri="{FF2B5EF4-FFF2-40B4-BE49-F238E27FC236}">
                <a16:creationId xmlns:a16="http://schemas.microsoft.com/office/drawing/2014/main" id="{7D6E5A94-3B3A-452A-9105-5959E243D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133600"/>
            <a:ext cx="685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0" i="0">
                <a:solidFill>
                  <a:srgbClr val="2A241B"/>
                </a:solidFill>
                <a:latin typeface="Cormorant Soft Editorial Italic"/>
                <a:ea typeface="Cormorant Soft Editorial Italic"/>
                <a:cs typeface="Cormorant Soft Editorial Italic"/>
              </a:defRPr>
            </a:pPr>
            <a:r>
              <a:rPr sz="3600" b="0" i="0">
                <a:solidFill>
                  <a:srgbClr val="2A241B"/>
                </a:solidFill>
                <a:latin typeface="Cormorant Soft Editorial Italic"/>
                <a:ea typeface="Cormorant Soft Editorial Italic"/>
                <a:cs typeface="Cormorant Soft Editorial Italic"/>
              </a:rPr>
              <a:t>4</a:t>
            </a:r>
          </a:p>
        </p:txBody>
      </p:sp>
      <p:sp>
        <p:nvSpPr>
          <p:cNvPr id="23" name="soft-step-rule-3">
            <a:extLst xmlns:a="http://schemas.openxmlformats.org/drawingml/2006/main">
              <a:ext uri="{FF2B5EF4-FFF2-40B4-BE49-F238E27FC236}">
                <a16:creationId xmlns:a16="http://schemas.microsoft.com/office/drawing/2014/main" id="{572E1293-33A6-4ACD-8AB9-79DF044D7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895600"/>
            <a:ext cx="2076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78E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soft-step-title-3">
            <a:extLst xmlns:a="http://schemas.openxmlformats.org/drawingml/2006/main">
              <a:ext uri="{FF2B5EF4-FFF2-40B4-BE49-F238E27FC236}">
                <a16:creationId xmlns:a16="http://schemas.microsoft.com/office/drawing/2014/main" id="{BCC671E6-2DA3-46D6-9A8C-04C68E903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162300"/>
            <a:ext cx="2076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0" i="0">
                <a:solidFill>
                  <a:srgbClr val="2A241B"/>
                </a:solidFill>
                <a:latin typeface="Cormorant Soft Editorial"/>
                <a:ea typeface="Cormorant Soft Editorial"/>
                <a:cs typeface="Cormorant Soft Editorial"/>
              </a:defRPr>
            </a:pPr>
            <a:r>
              <a:rPr sz="2625" b="0" i="0">
                <a:solidFill>
                  <a:srgbClr val="2A241B"/>
                </a:solidFill>
                <a:latin typeface="Cormorant Soft Editorial"/>
                <a:ea typeface="Cormorant Soft Editorial"/>
                <a:cs typeface="Cormorant Soft Editorial"/>
              </a:rPr>
              <a:t>Return</a:t>
            </a:r>
          </a:p>
        </p:txBody>
      </p:sp>
      <p:sp>
        <p:nvSpPr>
          <p:cNvPr id="25" name="soft-step-body-3">
            <a:extLst xmlns:a="http://schemas.openxmlformats.org/drawingml/2006/main">
              <a:ext uri="{FF2B5EF4-FFF2-40B4-BE49-F238E27FC236}">
                <a16:creationId xmlns:a16="http://schemas.microsoft.com/office/drawing/2014/main" id="{8679CF80-E521-4415-A1F8-5FDC88219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924300"/>
            <a:ext cx="2000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  <a:defRPr sz="1350" b="0" i="0">
                <a:solidFill>
                  <a:srgbClr val="2A241B"/>
                </a:solidFill>
                <a:latin typeface="Work Sans Soft Editorial"/>
                <a:ea typeface="Work Sans Soft Editorial"/>
                <a:cs typeface="Work Sans Soft Editorial"/>
              </a:defRPr>
            </a:pPr>
            <a:r>
              <a:rPr sz="1350" b="0" i="0">
                <a:solidFill>
                  <a:srgbClr val="2A241B"/>
                </a:solidFill>
                <a:latin typeface="Work Sans Soft Editorial"/>
                <a:ea typeface="Work Sans Soft Editorial"/>
                <a:cs typeface="Work Sans Soft Editorial"/>
              </a:rPr>
              <a:t>A detail that changes with the hour.</a:t>
            </a:r>
          </a:p>
        </p:txBody>
      </p:sp>
    </p:spTree>
    <p:extLst>
      <p:ext uri="{BB962C8B-B14F-4D97-AF65-F5344CB8AC3E}">
        <p14:creationId xmlns:p14="http://schemas.microsoft.com/office/powerpoint/2010/main" val="155391154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2EED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oft-label-6">
            <a:extLst xmlns:a="http://schemas.openxmlformats.org/drawingml/2006/main">
              <a:ext uri="{FF2B5EF4-FFF2-40B4-BE49-F238E27FC236}">
                <a16:creationId xmlns:a16="http://schemas.microsoft.com/office/drawing/2014/main" id="{E68794DE-2DE0-4A03-A077-581EC7A81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A241B"/>
                </a:solidFill>
                <a:latin typeface="Work Sans Soft Editorial"/>
                <a:ea typeface="Work Sans Soft Editorial"/>
                <a:cs typeface="Work Sans Soft Editorial"/>
              </a:defRPr>
            </a:pPr>
            <a:r>
              <a:rPr sz="1350" b="0" i="0">
                <a:solidFill>
                  <a:srgbClr val="2A241B"/>
                </a:solidFill>
                <a:latin typeface="Work Sans Soft Editorial"/>
                <a:ea typeface="Work Sans Soft Editorial"/>
                <a:cs typeface="Work Sans Soft Editorial"/>
              </a:rPr>
              <a:t>By the corners</a:t>
            </a:r>
          </a:p>
        </p:txBody>
      </p:sp>
      <p:sp>
        <p:nvSpPr>
          <p:cNvPr id="2" name="soft-page-6">
            <a:extLst xmlns:a="http://schemas.openxmlformats.org/drawingml/2006/main">
              <a:ext uri="{FF2B5EF4-FFF2-40B4-BE49-F238E27FC236}">
                <a16:creationId xmlns:a16="http://schemas.microsoft.com/office/drawing/2014/main" id="{D7213D61-E536-43CD-8814-A6DC76C75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0005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0" i="0">
                <a:solidFill>
                  <a:srgbClr val="5C5345"/>
                </a:solidFill>
                <a:latin typeface="Cormorant Soft Editorial Italic"/>
                <a:ea typeface="Cormorant Soft Editorial Italic"/>
                <a:cs typeface="Cormorant Soft Editorial Italic"/>
              </a:defRPr>
            </a:pPr>
            <a:r>
              <a:rPr sz="1350" b="0" i="0">
                <a:solidFill>
                  <a:srgbClr val="5C5345"/>
                </a:solidFill>
                <a:latin typeface="Cormorant Soft Editorial Italic"/>
                <a:ea typeface="Cormorant Soft Editorial Italic"/>
                <a:cs typeface="Cormorant Soft Editorial Italic"/>
              </a:rPr>
              <a:t>vi</a:t>
            </a:r>
          </a:p>
        </p:txBody>
      </p:sp>
      <p:sp>
        <p:nvSpPr>
          <p:cNvPr id="3" name="soft-date-6">
            <a:extLst xmlns:a="http://schemas.openxmlformats.org/drawingml/2006/main">
              <a:ext uri="{FF2B5EF4-FFF2-40B4-BE49-F238E27FC236}">
                <a16:creationId xmlns:a16="http://schemas.microsoft.com/office/drawing/2014/main" id="{74D99D2F-3B50-40B4-BD6A-09843DB08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C5345"/>
                </a:solidFill>
                <a:latin typeface="Cormorant Soft Editorial Italic"/>
                <a:ea typeface="Cormorant Soft Editorial Italic"/>
                <a:cs typeface="Cormorant Soft Editorial Italic"/>
              </a:defRPr>
            </a:pPr>
            <a:r>
              <a:rPr sz="1125" b="0" i="0">
                <a:solidFill>
                  <a:srgbClr val="5C5345"/>
                </a:solidFill>
                <a:latin typeface="Cormorant Soft Editorial Italic"/>
                <a:ea typeface="Cormorant Soft Editorial Italic"/>
                <a:cs typeface="Cormorant Soft Editorial Italic"/>
              </a:rPr>
              <a:t>A small study in eight rooms</a:t>
            </a:r>
          </a:p>
        </p:txBody>
      </p:sp>
      <p:sp>
        <p:nvSpPr>
          <p:cNvPr id="4" name="soft-footer-6">
            <a:extLst xmlns:a="http://schemas.openxmlformats.org/drawingml/2006/main">
              <a:ext uri="{FF2B5EF4-FFF2-40B4-BE49-F238E27FC236}">
                <a16:creationId xmlns:a16="http://schemas.microsoft.com/office/drawing/2014/main" id="{A09469F1-C398-4356-A345-C10079908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6419850"/>
            <a:ext cx="3352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 i="0">
                <a:solidFill>
                  <a:srgbClr val="5C5345"/>
                </a:solidFill>
                <a:latin typeface="Cormorant Soft Editorial Italic"/>
                <a:ea typeface="Cormorant Soft Editorial Italic"/>
                <a:cs typeface="Cormorant Soft Editorial Italic"/>
              </a:defRPr>
            </a:pPr>
            <a:r>
              <a:rPr sz="1125" b="0" i="0">
                <a:solidFill>
                  <a:srgbClr val="5C5345"/>
                </a:solidFill>
                <a:latin typeface="Cormorant Soft Editorial Italic"/>
                <a:ea typeface="Cormorant Soft Editorial Italic"/>
                <a:cs typeface="Cormorant Soft Editorial Italic"/>
              </a:rPr>
              <a:t>The Good Room · Field Notes</a:t>
            </a:r>
          </a:p>
        </p:txBody>
      </p:sp>
      <p:sp>
        <p:nvSpPr>
          <p:cNvPr id="5" name="soft-feature-title">
            <a:extLst xmlns:a="http://schemas.openxmlformats.org/drawingml/2006/main">
              <a:ext uri="{FF2B5EF4-FFF2-40B4-BE49-F238E27FC236}">
                <a16:creationId xmlns:a16="http://schemas.microsoft.com/office/drawing/2014/main" id="{CDDF9AA4-D913-45F0-AC61-7D85EEB64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4400"/>
            <a:ext cx="8096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0" i="0">
                <a:solidFill>
                  <a:srgbClr val="2A241B"/>
                </a:solidFill>
                <a:latin typeface="Cormorant Soft Editorial"/>
                <a:ea typeface="Cormorant Soft Editorial"/>
                <a:cs typeface="Cormorant Soft Editorial"/>
              </a:defRPr>
            </a:pPr>
            <a:r>
              <a:rPr sz="3750" b="0" i="0">
                <a:solidFill>
                  <a:srgbClr val="2A241B"/>
                </a:solidFill>
                <a:latin typeface="Cormorant Soft Editorial"/>
                <a:ea typeface="Cormorant Soft Editorial"/>
                <a:cs typeface="Cormorant Soft Editorial"/>
              </a:rPr>
              <a:t>The best corners earn a second chapter.</a:t>
            </a:r>
          </a:p>
        </p:txBody>
      </p:sp>
      <p:sp>
        <p:nvSpPr>
          <p:cNvPr id="6" name="soft-feature-chart-frame">
            <a:extLst xmlns:a="http://schemas.openxmlformats.org/drawingml/2006/main">
              <a:ext uri="{FF2B5EF4-FFF2-40B4-BE49-F238E27FC236}">
                <a16:creationId xmlns:a16="http://schemas.microsoft.com/office/drawing/2014/main" id="{2F82DC05-6FA4-4F6A-A800-45C2BEA0E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47850"/>
            <a:ext cx="7829550" cy="3962400"/>
          </a:xfrm>
          <a:prstGeom xmlns:a="http://schemas.openxmlformats.org/drawingml/2006/main" prst="roundRect">
            <a:avLst>
              <a:gd name="adj" fmla="val 1923"/>
            </a:avLst>
          </a:prstGeom>
          <a:solidFill xmlns:a="http://schemas.openxmlformats.org/drawingml/2006/main">
            <a:srgbClr val="F9F7F0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19" name="soft-corner-chart"/>
          <p:cNvGraphicFramePr/>
          <p:nvPr/>
        </p:nvGraphicFramePr>
        <p:xfrm>
          <a:off xmlns:a="http://schemas.openxmlformats.org/drawingml/2006/main" x="781050" y="2133600"/>
          <a:ext xmlns:a="http://schemas.openxmlformats.org/drawingml/2006/main" cx="7315200" cy="31623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da7911ec3164006"/>
          </a:graphicData>
        </a:graphic>
      </p:graphicFrame>
      <p:sp>
        <p:nvSpPr>
          <p:cNvPr id="8" name="soft-feature-callout">
            <a:extLst xmlns:a="http://schemas.openxmlformats.org/drawingml/2006/main">
              <a:ext uri="{FF2B5EF4-FFF2-40B4-BE49-F238E27FC236}">
                <a16:creationId xmlns:a16="http://schemas.microsoft.com/office/drawing/2014/main" id="{C04587CC-9B46-4742-A0D1-8E18A73FD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847850"/>
            <a:ext cx="3048000" cy="39624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D6DD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oft-feature-num">
            <a:extLst xmlns:a="http://schemas.openxmlformats.org/drawingml/2006/main">
              <a:ext uri="{FF2B5EF4-FFF2-40B4-BE49-F238E27FC236}">
                <a16:creationId xmlns:a16="http://schemas.microsoft.com/office/drawing/2014/main" id="{DBF10D4B-1E36-4C96-A3BF-E84DFB475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209800"/>
            <a:ext cx="22479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450" b="0" i="0">
                <a:solidFill>
                  <a:srgbClr val="2A241B"/>
                </a:solidFill>
                <a:latin typeface="Cormorant Soft Editorial"/>
                <a:ea typeface="Cormorant Soft Editorial"/>
                <a:cs typeface="Cormorant Soft Editorial"/>
              </a:defRPr>
            </a:pPr>
            <a:r>
              <a:rPr sz="6450" b="0" i="0">
                <a:solidFill>
                  <a:srgbClr val="2A241B"/>
                </a:solidFill>
                <a:latin typeface="Cormorant Soft Editorial"/>
                <a:ea typeface="Cormorant Soft Editorial"/>
                <a:cs typeface="Cormorant Soft Editorial"/>
              </a:rPr>
              <a:t>44</a:t>
            </a:r>
          </a:p>
        </p:txBody>
      </p:sp>
      <p:sp>
        <p:nvSpPr>
          <p:cNvPr id="10" name="soft-feature-unit">
            <a:extLst xmlns:a="http://schemas.openxmlformats.org/drawingml/2006/main">
              <a:ext uri="{FF2B5EF4-FFF2-40B4-BE49-F238E27FC236}">
                <a16:creationId xmlns:a16="http://schemas.microsoft.com/office/drawing/2014/main" id="{426FC382-08A9-41E5-8719-65D959EFA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2956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0" i="0">
                <a:solidFill>
                  <a:srgbClr val="2A241B"/>
                </a:solidFill>
                <a:latin typeface="Cormorant Soft Editorial Italic"/>
                <a:ea typeface="Cormorant Soft Editorial Italic"/>
                <a:cs typeface="Cormorant Soft Editorial Italic"/>
              </a:defRPr>
            </a:pPr>
            <a:r>
              <a:rPr sz="2100" b="0" i="0">
                <a:solidFill>
                  <a:srgbClr val="2A241B"/>
                </a:solidFill>
                <a:latin typeface="Cormorant Soft Editorial Italic"/>
                <a:ea typeface="Cormorant Soft Editorial Italic"/>
                <a:cs typeface="Cormorant Soft Editorial Italic"/>
              </a:rPr>
              <a:t>minutes</a:t>
            </a:r>
          </a:p>
        </p:txBody>
      </p:sp>
      <p:sp>
        <p:nvSpPr>
          <p:cNvPr id="11" name="soft-feature-copy">
            <a:extLst xmlns:a="http://schemas.openxmlformats.org/drawingml/2006/main">
              <a:ext uri="{FF2B5EF4-FFF2-40B4-BE49-F238E27FC236}">
                <a16:creationId xmlns:a16="http://schemas.microsoft.com/office/drawing/2014/main" id="{47B5C51B-106A-43F2-9EFF-D7965E039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000500"/>
            <a:ext cx="21526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35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350" b="0" i="0">
                <a:solidFill>
                  <a:srgbClr val="2A241B"/>
                </a:solidFill>
                <a:latin typeface="Work Sans Soft Editorial"/>
                <a:ea typeface="Work Sans Soft Editorial"/>
                <a:cs typeface="Work Sans Soft Editorial"/>
              </a:defRPr>
            </a:pPr>
            <a:r>
              <a:rPr sz="1350" b="0" i="0">
                <a:solidFill>
                  <a:srgbClr val="2A241B"/>
                </a:solidFill>
                <a:latin typeface="Work Sans Soft Editorial"/>
                <a:ea typeface="Work Sans Soft Editorial"/>
                <a:cs typeface="Work Sans Soft Editorial"/>
              </a:rPr>
              <a:t>The shared table held people longest—especially when books or materials were already in motion.</a:t>
            </a:r>
          </a:p>
        </p:txBody>
      </p:sp>
      <p:sp>
        <p:nvSpPr>
          <p:cNvPr id="12" name="soft-feature-method">
            <a:extLst xmlns:a="http://schemas.openxmlformats.org/drawingml/2006/main">
              <a:ext uri="{FF2B5EF4-FFF2-40B4-BE49-F238E27FC236}">
                <a16:creationId xmlns:a16="http://schemas.microsoft.com/office/drawing/2014/main" id="{B26C5E57-683C-4232-9F96-DB801D928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39115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5C5345"/>
                </a:solidFill>
                <a:latin typeface="Cormorant Soft Editorial Italic"/>
                <a:ea typeface="Cormorant Soft Editorial Italic"/>
                <a:cs typeface="Cormorant Soft Editorial Italic"/>
              </a:defRPr>
            </a:pPr>
            <a:r>
              <a:rPr sz="1050" b="0" i="0">
                <a:solidFill>
                  <a:srgbClr val="5C5345"/>
                </a:solidFill>
                <a:latin typeface="Cormorant Soft Editorial Italic"/>
                <a:ea typeface="Cormorant Soft Editorial Italic"/>
                <a:cs typeface="Cormorant Soft Editorial Italic"/>
              </a:rPr>
              <a:t>Illustrative observation log</a:t>
            </a:r>
          </a:p>
        </p:txBody>
      </p:sp>
    </p:spTree>
    <p:extLst>
      <p:ext uri="{BB962C8B-B14F-4D97-AF65-F5344CB8AC3E}">
        <p14:creationId xmlns:p14="http://schemas.microsoft.com/office/powerpoint/2010/main" val="191891963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2EED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oft-label-7">
            <a:extLst xmlns:a="http://schemas.openxmlformats.org/drawingml/2006/main">
              <a:ext uri="{FF2B5EF4-FFF2-40B4-BE49-F238E27FC236}">
                <a16:creationId xmlns:a16="http://schemas.microsoft.com/office/drawing/2014/main" id="{6A298ED5-C39A-48EC-934F-258F7B49B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A241B"/>
                </a:solidFill>
                <a:latin typeface="Work Sans Soft Editorial"/>
                <a:ea typeface="Work Sans Soft Editorial"/>
                <a:cs typeface="Work Sans Soft Editorial"/>
              </a:defRPr>
            </a:pPr>
            <a:r>
              <a:rPr sz="1350" b="0" i="0">
                <a:solidFill>
                  <a:srgbClr val="2A241B"/>
                </a:solidFill>
                <a:latin typeface="Work Sans Soft Editorial"/>
                <a:ea typeface="Work Sans Soft Editorial"/>
                <a:cs typeface="Work Sans Soft Editorial"/>
              </a:rPr>
              <a:t>Field ledger</a:t>
            </a:r>
          </a:p>
        </p:txBody>
      </p:sp>
      <p:sp>
        <p:nvSpPr>
          <p:cNvPr id="2" name="soft-page-7">
            <a:extLst xmlns:a="http://schemas.openxmlformats.org/drawingml/2006/main">
              <a:ext uri="{FF2B5EF4-FFF2-40B4-BE49-F238E27FC236}">
                <a16:creationId xmlns:a16="http://schemas.microsoft.com/office/drawing/2014/main" id="{D8ECEF67-16FE-4178-85F8-9998F7B17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0005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0" i="0">
                <a:solidFill>
                  <a:srgbClr val="5C5345"/>
                </a:solidFill>
                <a:latin typeface="Cormorant Soft Editorial Italic"/>
                <a:ea typeface="Cormorant Soft Editorial Italic"/>
                <a:cs typeface="Cormorant Soft Editorial Italic"/>
              </a:defRPr>
            </a:pPr>
            <a:r>
              <a:rPr sz="1350" b="0" i="0">
                <a:solidFill>
                  <a:srgbClr val="5C5345"/>
                </a:solidFill>
                <a:latin typeface="Cormorant Soft Editorial Italic"/>
                <a:ea typeface="Cormorant Soft Editorial Italic"/>
                <a:cs typeface="Cormorant Soft Editorial Italic"/>
              </a:rPr>
              <a:t>vii</a:t>
            </a:r>
          </a:p>
        </p:txBody>
      </p:sp>
      <p:sp>
        <p:nvSpPr>
          <p:cNvPr id="3" name="soft-date-7">
            <a:extLst xmlns:a="http://schemas.openxmlformats.org/drawingml/2006/main">
              <a:ext uri="{FF2B5EF4-FFF2-40B4-BE49-F238E27FC236}">
                <a16:creationId xmlns:a16="http://schemas.microsoft.com/office/drawing/2014/main" id="{3E4F834E-46EA-4547-8F13-26ADFA300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C5345"/>
                </a:solidFill>
                <a:latin typeface="Cormorant Soft Editorial Italic"/>
                <a:ea typeface="Cormorant Soft Editorial Italic"/>
                <a:cs typeface="Cormorant Soft Editorial Italic"/>
              </a:defRPr>
            </a:pPr>
            <a:r>
              <a:rPr sz="1125" b="0" i="0">
                <a:solidFill>
                  <a:srgbClr val="5C5345"/>
                </a:solidFill>
                <a:latin typeface="Cormorant Soft Editorial Italic"/>
                <a:ea typeface="Cormorant Soft Editorial Italic"/>
                <a:cs typeface="Cormorant Soft Editorial Italic"/>
              </a:rPr>
              <a:t>A small study in eight rooms</a:t>
            </a:r>
          </a:p>
        </p:txBody>
      </p:sp>
      <p:sp>
        <p:nvSpPr>
          <p:cNvPr id="4" name="soft-footer-7">
            <a:extLst xmlns:a="http://schemas.openxmlformats.org/drawingml/2006/main">
              <a:ext uri="{FF2B5EF4-FFF2-40B4-BE49-F238E27FC236}">
                <a16:creationId xmlns:a16="http://schemas.microsoft.com/office/drawing/2014/main" id="{C76FE4DF-7532-4863-ACEA-2B1E9D12B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6419850"/>
            <a:ext cx="3352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 i="0">
                <a:solidFill>
                  <a:srgbClr val="5C5345"/>
                </a:solidFill>
                <a:latin typeface="Cormorant Soft Editorial Italic"/>
                <a:ea typeface="Cormorant Soft Editorial Italic"/>
                <a:cs typeface="Cormorant Soft Editorial Italic"/>
              </a:defRPr>
            </a:pPr>
            <a:r>
              <a:rPr sz="1125" b="0" i="0">
                <a:solidFill>
                  <a:srgbClr val="5C5345"/>
                </a:solidFill>
                <a:latin typeface="Cormorant Soft Editorial Italic"/>
                <a:ea typeface="Cormorant Soft Editorial Italic"/>
                <a:cs typeface="Cormorant Soft Editorial Italic"/>
              </a:rPr>
              <a:t>The Good Room · Field Notes</a:t>
            </a:r>
          </a:p>
        </p:txBody>
      </p:sp>
      <p:sp>
        <p:nvSpPr>
          <p:cNvPr id="5" name="soft-ledger-title">
            <a:extLst xmlns:a="http://schemas.openxmlformats.org/drawingml/2006/main">
              <a:ext uri="{FF2B5EF4-FFF2-40B4-BE49-F238E27FC236}">
                <a16:creationId xmlns:a16="http://schemas.microsoft.com/office/drawing/2014/main" id="{B667F4A4-2B8B-44B6-85AD-1DA00FE4E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4400"/>
            <a:ext cx="8096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0" i="0">
                <a:solidFill>
                  <a:srgbClr val="2A241B"/>
                </a:solidFill>
                <a:latin typeface="Cormorant Soft Editorial"/>
                <a:ea typeface="Cormorant Soft Editorial"/>
                <a:cs typeface="Cormorant Soft Editorial"/>
              </a:defRPr>
            </a:pPr>
            <a:r>
              <a:rPr sz="3750" b="0" i="0">
                <a:solidFill>
                  <a:srgbClr val="2A241B"/>
                </a:solidFill>
                <a:latin typeface="Cormorant Soft Editorial"/>
                <a:ea typeface="Cormorant Soft Editorial"/>
                <a:cs typeface="Cormorant Soft Editorial"/>
              </a:rPr>
              <a:t>Four corners, recorded without hurry.</a:t>
            </a:r>
          </a:p>
        </p:txBody>
      </p:sp>
      <p:graphicFrame>
        <p:nvGraphicFramePr>
          <p:cNvPr id="13" name="soft-corner-ledger"/>
          <p:cNvGraphicFramePr/>
          <p:nvPr/>
        </p:nvGraphicFramePr>
        <p:xfrm>
          <a:off xmlns:a="http://schemas.openxmlformats.org/drawingml/2006/main" x="514350" y="1866900"/>
          <a:ext xmlns:a="http://schemas.openxmlformats.org/drawingml/2006/main" cx="11144250" cy="3790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013819"/>
                <a:gridCol w="2951337"/>
                <a:gridCol w="1699970"/>
                <a:gridCol w="2479123"/>
              </a:tblGrid>
              <a:tr h="758190">
                <a:tc>
                  <a:txBody>
                    <a:bodyPr lIns="76200" tIns="57150" rIns="76200" bIns="57150" anchor="ctr"/>
                    <a:lstStyle/>
                    <a:p>
                      <a:pPr algn="l"/>
                      <a:r>
                        <a:rPr sz="1800" b="0">
                          <a:solidFill>
                            <a:srgbClr val="2A241B"/>
                          </a:solidFill>
                          <a:latin typeface="Cormorant Soft Editorial"/>
                          <a:ea typeface="Cormorant Soft Editorial"/>
                          <a:cs typeface="Cormorant Soft Editorial"/>
                        </a:rPr>
                        <a:t>Corner</a:t>
                      </a:r>
                    </a:p>
                  </a:txBody>
                  <a:tcPr marL="91440" marR="91440" marT="45720" marB="45720">
                    <a:solidFill>
                      <a:srgbClr val="E1A4C2"/>
                    </a:solidFill>
                  </a:tcPr>
                </a:tc>
                <a:tc>
                  <a:txBody>
                    <a:bodyPr lIns="76200" tIns="57150" rIns="76200" bIns="57150" anchor="ctr"/>
                    <a:lstStyle/>
                    <a:p>
                      <a:pPr algn="ctr"/>
                      <a:r>
                        <a:rPr sz="1800" b="0">
                          <a:solidFill>
                            <a:srgbClr val="2A241B"/>
                          </a:solidFill>
                          <a:latin typeface="Cormorant Soft Editorial"/>
                          <a:ea typeface="Cormorant Soft Editorial"/>
                          <a:cs typeface="Cormorant Soft Editorial"/>
                        </a:rPr>
                        <a:t>Light</a:t>
                      </a:r>
                    </a:p>
                  </a:txBody>
                  <a:tcPr marL="91440" marR="91440" marT="45720" marB="45720">
                    <a:solidFill>
                      <a:srgbClr val="E1A4C2"/>
                    </a:solidFill>
                  </a:tcPr>
                </a:tc>
                <a:tc>
                  <a:txBody>
                    <a:bodyPr lIns="76200" tIns="57150" rIns="76200" bIns="57150" anchor="ctr"/>
                    <a:lstStyle/>
                    <a:p>
                      <a:pPr algn="ctr"/>
                      <a:r>
                        <a:rPr sz="1800" b="0">
                          <a:solidFill>
                            <a:srgbClr val="2A241B"/>
                          </a:solidFill>
                          <a:latin typeface="Cormorant Soft Editorial"/>
                          <a:ea typeface="Cormorant Soft Editorial"/>
                          <a:cs typeface="Cormorant Soft Editorial"/>
                        </a:rPr>
                        <a:t>Seats</a:t>
                      </a:r>
                    </a:p>
                  </a:txBody>
                  <a:tcPr marL="91440" marR="91440" marT="45720" marB="45720">
                    <a:solidFill>
                      <a:srgbClr val="E1A4C2"/>
                    </a:solidFill>
                  </a:tcPr>
                </a:tc>
                <a:tc>
                  <a:txBody>
                    <a:bodyPr lIns="76200" tIns="57150" rIns="76200" bIns="57150" anchor="ctr"/>
                    <a:lstStyle/>
                    <a:p>
                      <a:pPr algn="ctr"/>
                      <a:r>
                        <a:rPr sz="1800" b="0">
                          <a:solidFill>
                            <a:srgbClr val="2A241B"/>
                          </a:solidFill>
                          <a:latin typeface="Cormorant Soft Editorial"/>
                          <a:ea typeface="Cormorant Soft Editorial"/>
                          <a:cs typeface="Cormorant Soft Editorial"/>
                        </a:rPr>
                        <a:t>Average stay</a:t>
                      </a:r>
                    </a:p>
                  </a:txBody>
                  <a:tcPr marL="91440" marR="91440" marT="45720" marB="45720">
                    <a:solidFill>
                      <a:srgbClr val="E1A4C2"/>
                    </a:solidFill>
                  </a:tcPr>
                </a:tc>
              </a:tr>
              <a:tr h="758190">
                <a:tc>
                  <a:txBody>
                    <a:bodyPr lIns="76200" tIns="57150" rIns="76200" bIns="57150" anchor="ctr"/>
                    <a:lstStyle/>
                    <a:p>
                      <a:pPr algn="l"/>
                      <a:r>
                        <a:rPr sz="1650" b="0">
                          <a:solidFill>
                            <a:srgbClr val="2A241B"/>
                          </a:solidFill>
                          <a:latin typeface="Cormorant Soft Editorial"/>
                          <a:ea typeface="Cormorant Soft Editorial"/>
                          <a:cs typeface="Cormorant Soft Editorial"/>
                        </a:rPr>
                        <a:t>Window bench</a:t>
                      </a:r>
                    </a:p>
                  </a:txBody>
                  <a:tcPr marL="91440" marR="91440" marT="45720" marB="45720">
                    <a:solidFill>
                      <a:srgbClr val="F9F7F0"/>
                    </a:solidFill>
                  </a:tcPr>
                </a:tc>
                <a:tc>
                  <a:txBody>
                    <a:bodyPr lIns="76200" tIns="57150" rIns="76200" bIns="57150" anchor="ctr"/>
                    <a:lstStyle/>
                    <a:p>
                      <a:pPr algn="ctr"/>
                      <a:r>
                        <a:rPr sz="1350" b="0">
                          <a:solidFill>
                            <a:srgbClr val="2A241B"/>
                          </a:solidFill>
                          <a:latin typeface="Work Sans Soft Editorial"/>
                          <a:ea typeface="Work Sans Soft Editorial"/>
                          <a:cs typeface="Work Sans Soft Editorial"/>
                        </a:rPr>
                        <a:t>Side daylight</a:t>
                      </a:r>
                    </a:p>
                  </a:txBody>
                  <a:tcPr marL="91440" marR="91440" marT="45720" marB="45720">
                    <a:solidFill>
                      <a:srgbClr val="F9F7F0"/>
                    </a:solidFill>
                  </a:tcPr>
                </a:tc>
                <a:tc>
                  <a:txBody>
                    <a:bodyPr lIns="76200" tIns="57150" rIns="76200" bIns="57150" anchor="ctr"/>
                    <a:lstStyle/>
                    <a:p>
                      <a:pPr algn="ctr"/>
                      <a:r>
                        <a:rPr sz="1350" b="0">
                          <a:solidFill>
                            <a:srgbClr val="2A241B"/>
                          </a:solidFill>
                          <a:latin typeface="Work Sans Soft Editorial"/>
                          <a:ea typeface="Work Sans Soft Editorial"/>
                          <a:cs typeface="Work Sans Soft Editorial"/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F9F7F0"/>
                    </a:solidFill>
                  </a:tcPr>
                </a:tc>
                <a:tc>
                  <a:txBody>
                    <a:bodyPr lIns="76200" tIns="57150" rIns="76200" bIns="57150" anchor="ctr"/>
                    <a:lstStyle/>
                    <a:p>
                      <a:pPr algn="ctr"/>
                      <a:r>
                        <a:rPr sz="1350" b="0">
                          <a:solidFill>
                            <a:srgbClr val="2A241B"/>
                          </a:solidFill>
                          <a:latin typeface="Work Sans Soft Editorial"/>
                          <a:ea typeface="Work Sans Soft Editorial"/>
                          <a:cs typeface="Work Sans Soft Editorial"/>
                        </a:rPr>
                        <a:t>39 min</a:t>
                      </a:r>
                    </a:p>
                  </a:txBody>
                  <a:tcPr marL="91440" marR="91440" marT="45720" marB="45720">
                    <a:solidFill>
                      <a:srgbClr val="F9F7F0"/>
                    </a:solidFill>
                  </a:tcPr>
                </a:tc>
              </a:tr>
              <a:tr h="758190">
                <a:tc>
                  <a:txBody>
                    <a:bodyPr lIns="76200" tIns="57150" rIns="76200" bIns="57150" anchor="ctr"/>
                    <a:lstStyle/>
                    <a:p>
                      <a:pPr algn="l"/>
                      <a:r>
                        <a:rPr sz="1650" b="0">
                          <a:solidFill>
                            <a:srgbClr val="2A241B"/>
                          </a:solidFill>
                          <a:latin typeface="Cormorant Soft Editorial"/>
                          <a:ea typeface="Cormorant Soft Editorial"/>
                          <a:cs typeface="Cormorant Soft Editorial"/>
                        </a:rPr>
                        <a:t>Book nook</a:t>
                      </a:r>
                    </a:p>
                  </a:txBody>
                  <a:tcPr marL="91440" marR="91440" marT="45720" marB="45720">
                    <a:solidFill>
                      <a:srgbClr val="ECE6D2"/>
                    </a:solidFill>
                  </a:tcPr>
                </a:tc>
                <a:tc>
                  <a:txBody>
                    <a:bodyPr lIns="76200" tIns="57150" rIns="76200" bIns="57150" anchor="ctr"/>
                    <a:lstStyle/>
                    <a:p>
                      <a:pPr algn="ctr"/>
                      <a:r>
                        <a:rPr sz="1350" b="0">
                          <a:solidFill>
                            <a:srgbClr val="2A241B"/>
                          </a:solidFill>
                          <a:latin typeface="Work Sans Soft Editorial"/>
                          <a:ea typeface="Work Sans Soft Editorial"/>
                          <a:cs typeface="Work Sans Soft Editorial"/>
                        </a:rPr>
                        <a:t>Low lamp</a:t>
                      </a:r>
                    </a:p>
                  </a:txBody>
                  <a:tcPr marL="91440" marR="91440" marT="45720" marB="45720">
                    <a:solidFill>
                      <a:srgbClr val="ECE6D2"/>
                    </a:solidFill>
                  </a:tcPr>
                </a:tc>
                <a:tc>
                  <a:txBody>
                    <a:bodyPr lIns="76200" tIns="57150" rIns="76200" bIns="57150" anchor="ctr"/>
                    <a:lstStyle/>
                    <a:p>
                      <a:pPr algn="ctr"/>
                      <a:r>
                        <a:rPr sz="1350" b="0">
                          <a:solidFill>
                            <a:srgbClr val="2A241B"/>
                          </a:solidFill>
                          <a:latin typeface="Work Sans Soft Editorial"/>
                          <a:ea typeface="Work Sans Soft Editorial"/>
                          <a:cs typeface="Work Sans Soft Editorial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ECE6D2"/>
                    </a:solidFill>
                  </a:tcPr>
                </a:tc>
                <a:tc>
                  <a:txBody>
                    <a:bodyPr lIns="76200" tIns="57150" rIns="76200" bIns="57150" anchor="ctr"/>
                    <a:lstStyle/>
                    <a:p>
                      <a:pPr algn="ctr"/>
                      <a:r>
                        <a:rPr sz="1350" b="0">
                          <a:solidFill>
                            <a:srgbClr val="2A241B"/>
                          </a:solidFill>
                          <a:latin typeface="Work Sans Soft Editorial"/>
                          <a:ea typeface="Work Sans Soft Editorial"/>
                          <a:cs typeface="Work Sans Soft Editorial"/>
                        </a:rPr>
                        <a:t>31 min</a:t>
                      </a:r>
                    </a:p>
                  </a:txBody>
                  <a:tcPr marL="91440" marR="91440" marT="45720" marB="45720">
                    <a:solidFill>
                      <a:srgbClr val="ECE6D2"/>
                    </a:solidFill>
                  </a:tcPr>
                </a:tc>
              </a:tr>
              <a:tr h="758190">
                <a:tc>
                  <a:txBody>
                    <a:bodyPr lIns="76200" tIns="57150" rIns="76200" bIns="57150" anchor="ctr"/>
                    <a:lstStyle/>
                    <a:p>
                      <a:pPr algn="l"/>
                      <a:r>
                        <a:rPr sz="1650" b="0">
                          <a:solidFill>
                            <a:srgbClr val="2A241B"/>
                          </a:solidFill>
                          <a:latin typeface="Cormorant Soft Editorial"/>
                          <a:ea typeface="Cormorant Soft Editorial"/>
                          <a:cs typeface="Cormorant Soft Editorial"/>
                        </a:rPr>
                        <a:t>Shared table</a:t>
                      </a:r>
                    </a:p>
                  </a:txBody>
                  <a:tcPr marL="91440" marR="91440" marT="45720" marB="45720">
                    <a:solidFill>
                      <a:srgbClr val="F9F7F0"/>
                    </a:solidFill>
                  </a:tcPr>
                </a:tc>
                <a:tc>
                  <a:txBody>
                    <a:bodyPr lIns="76200" tIns="57150" rIns="76200" bIns="57150" anchor="ctr"/>
                    <a:lstStyle/>
                    <a:p>
                      <a:pPr algn="ctr"/>
                      <a:r>
                        <a:rPr sz="1350" b="0">
                          <a:solidFill>
                            <a:srgbClr val="2A241B"/>
                          </a:solidFill>
                          <a:latin typeface="Work Sans Soft Editorial"/>
                          <a:ea typeface="Work Sans Soft Editorial"/>
                          <a:cs typeface="Work Sans Soft Editorial"/>
                        </a:rPr>
                        <a:t>Layered</a:t>
                      </a:r>
                    </a:p>
                  </a:txBody>
                  <a:tcPr marL="91440" marR="91440" marT="45720" marB="45720">
                    <a:solidFill>
                      <a:srgbClr val="F9F7F0"/>
                    </a:solidFill>
                  </a:tcPr>
                </a:tc>
                <a:tc>
                  <a:txBody>
                    <a:bodyPr lIns="76200" tIns="57150" rIns="76200" bIns="57150" anchor="ctr"/>
                    <a:lstStyle/>
                    <a:p>
                      <a:pPr algn="ctr"/>
                      <a:r>
                        <a:rPr sz="1350" b="0">
                          <a:solidFill>
                            <a:srgbClr val="2A241B"/>
                          </a:solidFill>
                          <a:latin typeface="Work Sans Soft Editorial"/>
                          <a:ea typeface="Work Sans Soft Editorial"/>
                          <a:cs typeface="Work Sans Soft Editorial"/>
                        </a:rPr>
                        <a:t>6</a:t>
                      </a:r>
                    </a:p>
                  </a:txBody>
                  <a:tcPr marL="91440" marR="91440" marT="45720" marB="45720">
                    <a:solidFill>
                      <a:srgbClr val="F9F7F0"/>
                    </a:solidFill>
                  </a:tcPr>
                </a:tc>
                <a:tc>
                  <a:txBody>
                    <a:bodyPr lIns="76200" tIns="57150" rIns="76200" bIns="57150" anchor="ctr"/>
                    <a:lstStyle/>
                    <a:p>
                      <a:pPr algn="ctr"/>
                      <a:r>
                        <a:rPr sz="1350" b="0">
                          <a:solidFill>
                            <a:srgbClr val="2A241B"/>
                          </a:solidFill>
                          <a:latin typeface="Work Sans Soft Editorial"/>
                          <a:ea typeface="Work Sans Soft Editorial"/>
                          <a:cs typeface="Work Sans Soft Editorial"/>
                        </a:rPr>
                        <a:t>44 min</a:t>
                      </a:r>
                    </a:p>
                  </a:txBody>
                  <a:tcPr marL="91440" marR="91440" marT="45720" marB="45720">
                    <a:solidFill>
                      <a:srgbClr val="F9F7F0"/>
                    </a:solidFill>
                  </a:tcPr>
                </a:tc>
              </a:tr>
              <a:tr h="758190">
                <a:tc>
                  <a:txBody>
                    <a:bodyPr lIns="76200" tIns="57150" rIns="76200" bIns="57150" anchor="ctr"/>
                    <a:lstStyle/>
                    <a:p>
                      <a:pPr algn="l"/>
                      <a:r>
                        <a:rPr sz="1650" b="0">
                          <a:solidFill>
                            <a:srgbClr val="2A241B"/>
                          </a:solidFill>
                          <a:latin typeface="Cormorant Soft Editorial"/>
                          <a:ea typeface="Cormorant Soft Editorial"/>
                          <a:cs typeface="Cormorant Soft Editorial"/>
                        </a:rPr>
                        <a:t>Doorway chair</a:t>
                      </a:r>
                    </a:p>
                  </a:txBody>
                  <a:tcPr marL="91440" marR="91440" marT="45720" marB="45720">
                    <a:solidFill>
                      <a:srgbClr val="ECE6D2"/>
                    </a:solidFill>
                  </a:tcPr>
                </a:tc>
                <a:tc>
                  <a:txBody>
                    <a:bodyPr lIns="76200" tIns="57150" rIns="76200" bIns="57150" anchor="ctr"/>
                    <a:lstStyle/>
                    <a:p>
                      <a:pPr algn="ctr"/>
                      <a:r>
                        <a:rPr sz="1350" b="0">
                          <a:solidFill>
                            <a:srgbClr val="2A241B"/>
                          </a:solidFill>
                          <a:latin typeface="Work Sans Soft Editorial"/>
                          <a:ea typeface="Work Sans Soft Editorial"/>
                          <a:cs typeface="Work Sans Soft Editorial"/>
                        </a:rPr>
                        <a:t>Overhead</a:t>
                      </a:r>
                    </a:p>
                  </a:txBody>
                  <a:tcPr marL="91440" marR="91440" marT="45720" marB="45720">
                    <a:solidFill>
                      <a:srgbClr val="ECE6D2"/>
                    </a:solidFill>
                  </a:tcPr>
                </a:tc>
                <a:tc>
                  <a:txBody>
                    <a:bodyPr lIns="76200" tIns="57150" rIns="76200" bIns="57150" anchor="ctr"/>
                    <a:lstStyle/>
                    <a:p>
                      <a:pPr algn="ctr"/>
                      <a:r>
                        <a:rPr sz="1350" b="0">
                          <a:solidFill>
                            <a:srgbClr val="2A241B"/>
                          </a:solidFill>
                          <a:latin typeface="Work Sans Soft Editorial"/>
                          <a:ea typeface="Work Sans Soft Editorial"/>
                          <a:cs typeface="Work Sans Soft Editorial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ECE6D2"/>
                    </a:solidFill>
                  </a:tcPr>
                </a:tc>
                <a:tc>
                  <a:txBody>
                    <a:bodyPr lIns="76200" tIns="57150" rIns="76200" bIns="57150" anchor="ctr"/>
                    <a:lstStyle/>
                    <a:p>
                      <a:pPr algn="ctr"/>
                      <a:r>
                        <a:rPr sz="1350" b="0">
                          <a:solidFill>
                            <a:srgbClr val="2A241B"/>
                          </a:solidFill>
                          <a:latin typeface="Work Sans Soft Editorial"/>
                          <a:ea typeface="Work Sans Soft Editorial"/>
                          <a:cs typeface="Work Sans Soft Editorial"/>
                        </a:rPr>
                        <a:t>18 min</a:t>
                      </a:r>
                    </a:p>
                  </a:txBody>
                  <a:tcPr marL="91440" marR="91440" marT="45720" marB="45720">
                    <a:solidFill>
                      <a:srgbClr val="ECE6D2"/>
                    </a:solidFill>
                  </a:tcPr>
                </a:tc>
              </a:tr>
            </a:tbl>
          </a:graphicData>
        </a:graphic>
      </p:graphicFrame>
      <p:sp>
        <p:nvSpPr>
          <p:cNvPr id="7" name="soft-ledger-note">
            <a:extLst xmlns:a="http://schemas.openxmlformats.org/drawingml/2006/main">
              <a:ext uri="{FF2B5EF4-FFF2-40B4-BE49-F238E27FC236}">
                <a16:creationId xmlns:a16="http://schemas.microsoft.com/office/drawing/2014/main" id="{9D4042A1-18BE-4A4E-A1C8-F093E1BAB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86450"/>
            <a:ext cx="781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C5345"/>
                </a:solidFill>
                <a:latin typeface="Cormorant Soft Editorial Italic"/>
                <a:ea typeface="Cormorant Soft Editorial Italic"/>
                <a:cs typeface="Cormorant Soft Editorial Italic"/>
              </a:defRPr>
            </a:pPr>
            <a:r>
              <a:rPr sz="1125" b="0" i="0">
                <a:solidFill>
                  <a:srgbClr val="5C5345"/>
                </a:solidFill>
                <a:latin typeface="Cormorant Soft Editorial Italic"/>
                <a:ea typeface="Cormorant Soft Editorial Italic"/>
                <a:cs typeface="Cormorant Soft Editorial Italic"/>
              </a:rPr>
              <a:t>Illustrative field notes / 48 sessions / dwell time rounded to nearest minute</a:t>
            </a:r>
          </a:p>
        </p:txBody>
      </p:sp>
    </p:spTree>
    <p:extLst>
      <p:ext uri="{BB962C8B-B14F-4D97-AF65-F5344CB8AC3E}">
        <p14:creationId xmlns:p14="http://schemas.microsoft.com/office/powerpoint/2010/main" val="41010622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E1A4C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oft-close-page">
            <a:extLst xmlns:a="http://schemas.openxmlformats.org/drawingml/2006/main">
              <a:ext uri="{FF2B5EF4-FFF2-40B4-BE49-F238E27FC236}">
                <a16:creationId xmlns:a16="http://schemas.microsoft.com/office/drawing/2014/main" id="{2EF86414-E145-4609-832F-FE40A24E7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000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0" i="0">
                <a:solidFill>
                  <a:srgbClr val="5C5345"/>
                </a:solidFill>
                <a:latin typeface="Cormorant Soft Editorial Italic"/>
                <a:ea typeface="Cormorant Soft Editorial Italic"/>
                <a:cs typeface="Cormorant Soft Editorial Italic"/>
              </a:defRPr>
            </a:pPr>
            <a:r>
              <a:rPr sz="1350" b="0" i="0">
                <a:solidFill>
                  <a:srgbClr val="5C5345"/>
                </a:solidFill>
                <a:latin typeface="Cormorant Soft Editorial Italic"/>
                <a:ea typeface="Cormorant Soft Editorial Italic"/>
                <a:cs typeface="Cormorant Soft Editorial Italic"/>
              </a:rPr>
              <a:t>viii</a:t>
            </a:r>
          </a:p>
        </p:txBody>
      </p:sp>
      <p:sp>
        <p:nvSpPr>
          <p:cNvPr id="2" name="soft-close-kicker">
            <a:extLst xmlns:a="http://schemas.openxmlformats.org/drawingml/2006/main">
              <a:ext uri="{FF2B5EF4-FFF2-40B4-BE49-F238E27FC236}">
                <a16:creationId xmlns:a16="http://schemas.microsoft.com/office/drawing/2014/main" id="{CEB691F1-31DF-418D-9AD6-865828612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2A241B"/>
                </a:solidFill>
                <a:latin typeface="Work Sans Soft Editorial"/>
                <a:ea typeface="Work Sans Soft Editorial"/>
                <a:cs typeface="Work Sans Soft Editorial"/>
              </a:defRPr>
            </a:pPr>
            <a:r>
              <a:rPr sz="1200" b="0" i="0">
                <a:solidFill>
                  <a:srgbClr val="2A241B"/>
                </a:solidFill>
                <a:latin typeface="Work Sans Soft Editorial"/>
                <a:ea typeface="Work Sans Soft Editorial"/>
                <a:cs typeface="Work Sans Soft Editorial"/>
              </a:rPr>
              <a:t>A final note</a:t>
            </a:r>
          </a:p>
        </p:txBody>
      </p:sp>
      <p:sp>
        <p:nvSpPr>
          <p:cNvPr id="3" name="soft-close-title-a">
            <a:extLst xmlns:a="http://schemas.openxmlformats.org/drawingml/2006/main">
              <a:ext uri="{FF2B5EF4-FFF2-40B4-BE49-F238E27FC236}">
                <a16:creationId xmlns:a16="http://schemas.microsoft.com/office/drawing/2014/main" id="{73EF14DC-263A-4EE9-AA9C-8D21B98D9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9334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700" b="0" i="0">
                <a:solidFill>
                  <a:srgbClr val="2A241B"/>
                </a:solidFill>
                <a:latin typeface="Cormorant Soft Editorial"/>
                <a:ea typeface="Cormorant Soft Editorial"/>
                <a:cs typeface="Cormorant Soft Editorial"/>
              </a:defRPr>
            </a:pPr>
            <a:r>
              <a:rPr sz="5700" b="0" i="0">
                <a:solidFill>
                  <a:srgbClr val="2A241B"/>
                </a:solidFill>
                <a:latin typeface="Cormorant Soft Editorial"/>
                <a:ea typeface="Cormorant Soft Editorial"/>
                <a:cs typeface="Cormorant Soft Editorial"/>
              </a:rPr>
              <a:t>Make one corner</a:t>
            </a:r>
          </a:p>
        </p:txBody>
      </p:sp>
      <p:sp>
        <p:nvSpPr>
          <p:cNvPr id="4" name="soft-close-title-b">
            <a:extLst xmlns:a="http://schemas.openxmlformats.org/drawingml/2006/main">
              <a:ext uri="{FF2B5EF4-FFF2-40B4-BE49-F238E27FC236}">
                <a16:creationId xmlns:a16="http://schemas.microsoft.com/office/drawing/2014/main" id="{03156BB9-C927-4A94-9395-63CEB3B46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95550"/>
            <a:ext cx="9906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000" b="0" i="0">
                <a:solidFill>
                  <a:srgbClr val="2A241B"/>
                </a:solidFill>
                <a:latin typeface="Cormorant Soft Editorial Italic"/>
                <a:ea typeface="Cormorant Soft Editorial Italic"/>
                <a:cs typeface="Cormorant Soft Editorial Italic"/>
              </a:defRPr>
            </a:pPr>
            <a:r>
              <a:rPr sz="6000" b="0" i="0">
                <a:solidFill>
                  <a:srgbClr val="2A241B"/>
                </a:solidFill>
                <a:latin typeface="Cormorant Soft Editorial Italic"/>
                <a:ea typeface="Cormorant Soft Editorial Italic"/>
                <a:cs typeface="Cormorant Soft Editorial Italic"/>
              </a:rPr>
              <a:t>worth returning to.</a:t>
            </a:r>
          </a:p>
        </p:txBody>
      </p:sp>
      <p:sp>
        <p:nvSpPr>
          <p:cNvPr id="5" name="soft-close-rule">
            <a:extLst xmlns:a="http://schemas.openxmlformats.org/drawingml/2006/main">
              <a:ext uri="{FF2B5EF4-FFF2-40B4-BE49-F238E27FC236}">
                <a16:creationId xmlns:a16="http://schemas.microsoft.com/office/drawing/2014/main" id="{4971629B-89D9-4BFE-A23A-E8F626E0F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57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65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oft-close-copy">
            <a:extLst xmlns:a="http://schemas.openxmlformats.org/drawingml/2006/main">
              <a:ext uri="{FF2B5EF4-FFF2-40B4-BE49-F238E27FC236}">
                <a16:creationId xmlns:a16="http://schemas.microsoft.com/office/drawing/2014/main" id="{0738334B-B9EC-4E5F-84CA-C27A381F3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38700"/>
            <a:ext cx="666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0" i="0">
                <a:solidFill>
                  <a:srgbClr val="2A241B"/>
                </a:solidFill>
                <a:latin typeface="Cormorant Soft Editorial"/>
                <a:ea typeface="Cormorant Soft Editorial"/>
                <a:cs typeface="Cormorant Soft Editorial"/>
              </a:defRPr>
            </a:pPr>
            <a:r>
              <a:rPr sz="2550" b="0" i="0">
                <a:solidFill>
                  <a:srgbClr val="2A241B"/>
                </a:solidFill>
                <a:latin typeface="Cormorant Soft Editorial"/>
                <a:ea typeface="Cormorant Soft Editorial"/>
                <a:cs typeface="Cormorant Soft Editorial"/>
              </a:rPr>
              <a:t>The rest of the room can follow.</a:t>
            </a:r>
          </a:p>
        </p:txBody>
      </p:sp>
      <p:sp>
        <p:nvSpPr>
          <p:cNvPr id="7" name="soft-close-credit">
            <a:extLst xmlns:a="http://schemas.openxmlformats.org/drawingml/2006/main">
              <a:ext uri="{FF2B5EF4-FFF2-40B4-BE49-F238E27FC236}">
                <a16:creationId xmlns:a16="http://schemas.microsoft.com/office/drawing/2014/main" id="{95B528C1-8148-4E89-BDD0-A0B0B0D61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514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C5345"/>
                </a:solidFill>
                <a:latin typeface="Work Sans Soft Editorial"/>
                <a:ea typeface="Work Sans Soft Editorial"/>
                <a:cs typeface="Work Sans Soft Editorial"/>
              </a:defRPr>
            </a:pPr>
            <a:r>
              <a:rPr sz="825" b="0" i="0">
                <a:solidFill>
                  <a:srgbClr val="5C5345"/>
                </a:solidFill>
                <a:latin typeface="Work Sans Soft Editorial"/>
                <a:ea typeface="Work Sans Soft Editorial"/>
                <a:cs typeface="Work Sans Soft Editorial"/>
              </a:rPr>
              <a:t>SOFT EDITORIAL · ZARA ZHANG · MIT LICENSE</a:t>
            </a:r>
          </a:p>
        </p:txBody>
      </p:sp>
    </p:spTree>
    <p:extLst>
      <p:ext uri="{BB962C8B-B14F-4D97-AF65-F5344CB8AC3E}">
        <p14:creationId xmlns:p14="http://schemas.microsoft.com/office/powerpoint/2010/main" val="150052336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2026-07-25T18:08:09.8920000Z</dcterms:created>
  <dcterms:modified xsi:type="dcterms:W3CDTF">2026-07-25T18:08:09.8920000Z</dcterms:modified>
</coreProperties>
</file>