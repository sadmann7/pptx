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0d342978f9de42e6" /><Relationship Type="http://schemas.openxmlformats.org/officeDocument/2006/relationships/extended-properties" Target="/docProps/app.xml" Id="R4f958e2b55204d2d" /><Relationship Type="http://schemas.openxmlformats.org/officeDocument/2006/relationships/officeDocument" Target="/ppt/presentation.xml" Id="Rdc3bda6e6bd744c6" /></Relationships>
</file>

<file path=ppt/presentation.xml><?xml version="1.0" encoding="utf-8"?>
<p:presentation xmlns:r="http://schemas.openxmlformats.org/officeDocument/2006/relationships" xmlns:p="http://schemas.openxmlformats.org/presentationml/2006/main" saveSubsetFonts="false" embedTrueTypeFonts="true">
  <p:sldMasterIdLst>
    <p:sldMasterId xmlns:r="http://schemas.openxmlformats.org/officeDocument/2006/relationships" id="2147483648" r:id="R5d82b9fe1a9649f2"/>
  </p:sldMasterIdLst>
  <p:notesMasterIdLst>
    <p:notesMasterId xmlns:r="http://schemas.openxmlformats.org/officeDocument/2006/relationships" r:id="R3710c5215d4748be"/>
  </p:notesMasterIdLst>
  <p:sldIdLst>
    <p:sldId xmlns:r="http://schemas.openxmlformats.org/officeDocument/2006/relationships" id="256" r:id="R8849ec660dcd429e"/>
    <p:sldId xmlns:r="http://schemas.openxmlformats.org/officeDocument/2006/relationships" id="257" r:id="R2952826969224804"/>
    <p:sldId xmlns:r="http://schemas.openxmlformats.org/officeDocument/2006/relationships" id="258" r:id="R01724f2317744bf6"/>
    <p:sldId xmlns:r="http://schemas.openxmlformats.org/officeDocument/2006/relationships" id="259" r:id="R8d1921239e4540e5"/>
    <p:sldId xmlns:r="http://schemas.openxmlformats.org/officeDocument/2006/relationships" id="260" r:id="R616dc000e3b24a97"/>
    <p:sldId xmlns:r="http://schemas.openxmlformats.org/officeDocument/2006/relationships" id="261" r:id="R57b83664404741d9"/>
    <p:sldId xmlns:r="http://schemas.openxmlformats.org/officeDocument/2006/relationships" id="262" r:id="Rec959aa35f6f4c38"/>
    <p:sldId xmlns:r="http://schemas.openxmlformats.org/officeDocument/2006/relationships" id="263" r:id="R114ff200e9014296"/>
  </p:sldIdLst>
  <p:sldSz cx="12192000" cy="6858000"/>
  <p:notesSz cx="6858000" cy="9144000"/>
  <p:embeddedFontLst>
    <p:embeddedFont>
      <p:font typeface="Space Grotesk Display"/>
      <p:regular r:id="rId201314"/>
    </p:embeddedFont>
    <p:embeddedFont>
      <p:font typeface="Space Grotesk Text"/>
      <p:regular r:id="rId201315"/>
    </p:embeddedFont>
    <p:embeddedFont>
      <p:font typeface="Caveat Display"/>
      <p:regular r:id="rId201316"/>
    </p:embeddedFont>
    <p:embeddedFont>
      <p:font typeface="DM Mono Labels"/>
      <p:regular r:id="rId201317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59de419f9eb044ac"/><Relationship Type="http://schemas.openxmlformats.org/officeDocument/2006/relationships/slideMaster" Target="/ppt/slideMasters/slideMaster1.xml" Id="R5d82b9fe1a9649f2"/><Relationship Type="http://schemas.openxmlformats.org/officeDocument/2006/relationships/notesMaster" Target="/ppt/notesMasters/notesMaster1.xml" Id="R3710c5215d4748be"/><Relationship Type="http://schemas.openxmlformats.org/officeDocument/2006/relationships/presProps" Target="/ppt/presProps.xml" Id="Rd72cb8b1e3dc4d21"/><Relationship Type="http://schemas.openxmlformats.org/officeDocument/2006/relationships/tableStyles" Target="/ppt/tableStyles.xml" Id="R38d650166bfd4401"/><Relationship Type="http://schemas.openxmlformats.org/officeDocument/2006/relationships/slide" Target="/ppt/slides/slide1.xml" Id="R8849ec660dcd429e"/><Relationship Type="http://schemas.openxmlformats.org/officeDocument/2006/relationships/slide" Target="/ppt/slides/slide2.xml" Id="R2952826969224804"/><Relationship Type="http://schemas.openxmlformats.org/officeDocument/2006/relationships/slide" Target="/ppt/slides/slide3.xml" Id="R01724f2317744bf6"/><Relationship Type="http://schemas.openxmlformats.org/officeDocument/2006/relationships/slide" Target="/ppt/slides/slide4.xml" Id="R8d1921239e4540e5"/><Relationship Type="http://schemas.openxmlformats.org/officeDocument/2006/relationships/slide" Target="/ppt/slides/slide5.xml" Id="R616dc000e3b24a97"/><Relationship Type="http://schemas.openxmlformats.org/officeDocument/2006/relationships/slide" Target="/ppt/slides/slide6.xml" Id="R57b83664404741d9"/><Relationship Type="http://schemas.openxmlformats.org/officeDocument/2006/relationships/slide" Target="/ppt/slides/slide7.xml" Id="Rec959aa35f6f4c38"/><Relationship Type="http://schemas.openxmlformats.org/officeDocument/2006/relationships/slide" Target="/ppt/slides/slide8.xml" Id="R114ff200e9014296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0ff5e578133a44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7d0c24d6b27b4372" /><Relationship Type="http://schemas.openxmlformats.org/officeDocument/2006/relationships/notesMaster" Target="/ppt/notesMasters/notesMaster1.xml" Id="R6b3c6358684b43c6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c4c1856434ec46a6" /><Relationship Type="http://schemas.openxmlformats.org/officeDocument/2006/relationships/notesMaster" Target="/ppt/notesMasters/notesMaster1.xml" Id="R560df020919e4544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3e3fccaed1b246d5" /><Relationship Type="http://schemas.openxmlformats.org/officeDocument/2006/relationships/notesMaster" Target="/ppt/notesMasters/notesMaster1.xml" Id="R976e10e226fe4c76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4aaae55637634240" /><Relationship Type="http://schemas.openxmlformats.org/officeDocument/2006/relationships/notesMaster" Target="/ppt/notesMasters/notesMaster1.xml" Id="R988f3d064a274b8d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106c17c41b764442" /><Relationship Type="http://schemas.openxmlformats.org/officeDocument/2006/relationships/notesMaster" Target="/ppt/notesMasters/notesMaster1.xml" Id="R9e97ea887ad34c46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c597f422e7b948b2" /><Relationship Type="http://schemas.openxmlformats.org/officeDocument/2006/relationships/notesMaster" Target="/ppt/notesMasters/notesMaster1.xml" Id="R1ad00365cfa9414c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f5cdde4b11cb473a" /><Relationship Type="http://schemas.openxmlformats.org/officeDocument/2006/relationships/notesMaster" Target="/ppt/notesMasters/notesMaster1.xml" Id="Rcadac2d664d94b41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d20119f07c184b5e" /><Relationship Type="http://schemas.openxmlformats.org/officeDocument/2006/relationships/notesMaster" Target="/ppt/notesMasters/notesMaster1.xml" Id="R69c3d2b2a2454b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https://github.com/zarazhangrui/beautiful-html-templates/tree/main/templates/pin-and-paper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https://github.com/zarazhangrui/beautiful-html-templates/tree/main/templates/pin-and-paper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https://github.com/zarazhangrui/beautiful-html-templates/tree/main/templates/pin-and-paper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https://github.com/zarazhangrui/beautiful-html-templates/tree/main/templates/pin-and-paper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The chart compares an illustrative plan score with a discovery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https://github.com/zarazhangrui/beautiful-html-templates/tree/main/templates/pin-and-paper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The field-kit matrix is an illustrative planning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https://github.com/zarazhangrui/beautiful-html-templates/tree/main/templates/pin-and-paper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Saturday route log with six checkpoints.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https://github.com/zarazhangrui/beautiful-html-templates/tree/main/templates/pin-and-paper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Illustrative route-planning scenarios with plausible distances, durations, and budgets.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https://github.com/zarazhangrui/beautiful-html-templates/tree/main/templates/pin-and-paper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template system. All chart values are illustrative concept data created for this editable demo.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e611626f69884b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3a4b0a74eb6b44b2" /><Relationship Type="http://schemas.openxmlformats.org/officeDocument/2006/relationships/slideLayout" Target="/ppt/slideLayouts/slideLayout1.xml" Id="R8c80e380677545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80e380677545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cbce4c025f44c7b" /><Relationship Type="http://schemas.openxmlformats.org/officeDocument/2006/relationships/notesSlide" Target="/ppt/notesSlides/notesSlide1.xml" Id="Ra238c810d2b24e63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6fd53a0db7e42c8" /><Relationship Type="http://schemas.openxmlformats.org/officeDocument/2006/relationships/notesSlide" Target="/ppt/notesSlides/notesSlide2.xml" Id="R9986ceba3989404e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5fad7f4345e40f8" /><Relationship Type="http://schemas.openxmlformats.org/officeDocument/2006/relationships/notesSlide" Target="/ppt/notesSlides/notesSlide3.xml" Id="R0a186a8dacac4cfb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9f3b12ad0574e1e" /><Relationship Type="http://schemas.openxmlformats.org/officeDocument/2006/relationships/chart" Target="/ppt/slides/charts/chart1.xml" Id="Rbb74e9ff88414d7d" /><Relationship Type="http://schemas.openxmlformats.org/officeDocument/2006/relationships/notesSlide" Target="/ppt/notesSlides/notesSlide4.xml" Id="Rc4b8f495bc87451c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45affeacf5e4f3c" /><Relationship Type="http://schemas.openxmlformats.org/officeDocument/2006/relationships/notesSlide" Target="/ppt/notesSlides/notesSlide5.xml" Id="R982a0b1b9d31493e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b64ec3a29c34d39" /><Relationship Type="http://schemas.openxmlformats.org/officeDocument/2006/relationships/chart" Target="/ppt/slides/charts/chart2.xml" Id="R8470898cc8cc4a92" /><Relationship Type="http://schemas.openxmlformats.org/officeDocument/2006/relationships/notesSlide" Target="/ppt/notesSlides/notesSlide6.xml" Id="R7d5d190ee8e7418d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2c150919aa2461e" /><Relationship Type="http://schemas.openxmlformats.org/officeDocument/2006/relationships/notesSlide" Target="/ppt/notesSlides/notesSlide7.xml" Id="Rab9e385c70dc4014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52f2530aa5647e4" /><Relationship Type="http://schemas.openxmlformats.org/officeDocument/2006/relationships/notesSlide" Target="/ppt/notesSlides/notesSlide8.xml" Id="R8732500a006e4bd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Planned</c:v>
          </c:tx>
          <c:spPr>
            <a:solidFill xmlns:a="http://schemas.openxmlformats.org/drawingml/2006/main">
              <a:srgbClr val="1F3A8A"/>
            </a:solidFill>
            <a:ln xmlns:a="http://schemas.openxmlformats.org/drawingml/2006/main" w="19050">
              <a:solidFill>
                <a:srgbClr val="1F3A8A"/>
              </a:solidFill>
              <a:prstDash val="solid"/>
            </a:ln>
          </c:spPr>
          <c:cat>
            <c:strLit>
              <c:ptCount val="5"/>
              <c:pt idx="0">
                <c:v>Leave</c:v>
              </c:pt>
              <c:pt idx="1">
                <c:v>Spot</c:v>
              </c:pt>
              <c:pt idx="2">
                <c:v>Drift</c:v>
              </c:pt>
              <c:pt idx="3">
                <c:v>Find</c:v>
              </c:pt>
              <c:pt idx="4">
                <c:v>Home</c:v>
              </c:pt>
            </c:strLit>
          </c:cat>
          <c:val>
            <c:numLit>
              <c:formatCode>General</c:formatCode>
              <c:ptCount val="5"/>
              <c:pt idx="0">
                <c:v>90</c:v>
              </c:pt>
              <c:pt idx="1">
                <c:v>76</c:v>
              </c:pt>
              <c:pt idx="2">
                <c:v>48</c:v>
              </c:pt>
              <c:pt idx="3">
                <c:v>26</c:v>
              </c:pt>
              <c:pt idx="4">
                <c:v>12</c:v>
              </c:pt>
            </c:numLit>
          </c:val>
        </c:ser>
        <c:ser>
          <c:idx val="1"/>
          <c:order val="1"/>
          <c:tx>
            <c:v>Discovered</c:v>
          </c:tx>
          <c:spPr>
            <a:solidFill xmlns:a="http://schemas.openxmlformats.org/drawingml/2006/main">
              <a:srgbClr val="C2342B"/>
            </a:solidFill>
            <a:ln xmlns:a="http://schemas.openxmlformats.org/drawingml/2006/main" w="19050">
              <a:solidFill>
                <a:srgbClr val="C2342B"/>
              </a:solidFill>
              <a:prstDash val="solid"/>
            </a:ln>
          </c:spPr>
          <c:cat>
            <c:strLit>
              <c:ptCount val="5"/>
              <c:pt idx="0">
                <c:v>Leave</c:v>
              </c:pt>
              <c:pt idx="1">
                <c:v>Spot</c:v>
              </c:pt>
              <c:pt idx="2">
                <c:v>Drift</c:v>
              </c:pt>
              <c:pt idx="3">
                <c:v>Find</c:v>
              </c:pt>
              <c:pt idx="4">
                <c:v>Home</c:v>
              </c:pt>
            </c:strLit>
          </c:cat>
          <c:val>
            <c:numLit>
              <c:formatCode>General</c:formatCode>
              <c:ptCount val="5"/>
              <c:pt idx="0">
                <c:v>18</c:v>
              </c:pt>
              <c:pt idx="1">
                <c:v>44</c:v>
              </c:pt>
              <c:pt idx="2">
                <c:v>74</c:v>
              </c:pt>
              <c:pt idx="3">
                <c:v>96</c:v>
              </c:pt>
              <c:pt idx="4">
                <c:v>84</c:v>
              </c:pt>
            </c:numLit>
          </c:val>
        </c:ser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CEA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Space Grotesk Text"/>
                <a:solidFill>
                  <a:srgbClr val="1F3A8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CEA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Space Grotesk Text"/>
                <a:solidFill>
                  <a:srgbClr val="1F3A8A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8F1D6"/>
        </a:solidFill>
        <a:ln xmlns:a="http://schemas.openxmlformats.org/drawingml/2006/main" w="9525">
          <a:solidFill>
            <a:srgbClr val="D7CEA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Space Grotesk Text"/>
              <a:solidFill>
                <a:srgbClr val="1F3A8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1D6"/>
    </a:solidFill>
    <a:ln xmlns:a="http://schemas.openxmlformats.org/drawingml/2006/main" w="0">
      <a:solidFill>
        <a:srgbClr val="F8F1D6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Energy</c:v>
          </c:tx>
          <c:spPr>
            <a:solidFill xmlns:a="http://schemas.openxmlformats.org/drawingml/2006/main">
              <a:srgbClr val="1F3A8A"/>
            </a:solidFill>
            <a:ln xmlns:a="http://schemas.openxmlformats.org/drawingml/2006/main" w="28575">
              <a:solidFill>
                <a:srgbClr val="1F3A8A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09:30</c:v>
              </c:pt>
              <c:pt idx="1">
                <c:v>10:00</c:v>
              </c:pt>
              <c:pt idx="2">
                <c:v>10:30</c:v>
              </c:pt>
              <c:pt idx="3">
                <c:v>11:00</c:v>
              </c:pt>
              <c:pt idx="4">
                <c:v>11:30</c:v>
              </c:pt>
              <c:pt idx="5">
                <c:v>12:00</c:v>
              </c:pt>
            </c:strLit>
          </c:cat>
          <c:val>
            <c:numLit>
              <c:formatCode>General</c:formatCode>
              <c:ptCount val="6"/>
              <c:pt idx="0">
                <c:v>72</c:v>
              </c:pt>
              <c:pt idx="1">
                <c:v>68</c:v>
              </c:pt>
              <c:pt idx="2">
                <c:v>74</c:v>
              </c:pt>
              <c:pt idx="3">
                <c:v>82</c:v>
              </c:pt>
              <c:pt idx="4">
                <c:v>78</c:v>
              </c:pt>
              <c:pt idx="5">
                <c:v>64</c:v>
              </c:pt>
            </c:numLit>
          </c:val>
        </c:ser>
        <c:ser>
          <c:idx val="1"/>
          <c:order val="1"/>
          <c:tx>
            <c:v>Novelty</c:v>
          </c:tx>
          <c:spPr>
            <a:solidFill xmlns:a="http://schemas.openxmlformats.org/drawingml/2006/main">
              <a:srgbClr val="C2342B"/>
            </a:solidFill>
            <a:ln xmlns:a="http://schemas.openxmlformats.org/drawingml/2006/main" w="28575">
              <a:solidFill>
                <a:srgbClr val="C2342B"/>
              </a:solidFill>
              <a:prstDash val="solid"/>
            </a:ln>
          </c:spPr>
          <c:marker>
            <c:symbol val="none"/>
          </c:marker>
          <c:cat>
            <c:strLit>
              <c:ptCount val="6"/>
              <c:pt idx="0">
                <c:v>09:30</c:v>
              </c:pt>
              <c:pt idx="1">
                <c:v>10:00</c:v>
              </c:pt>
              <c:pt idx="2">
                <c:v>10:30</c:v>
              </c:pt>
              <c:pt idx="3">
                <c:v>11:00</c:v>
              </c:pt>
              <c:pt idx="4">
                <c:v>11:30</c:v>
              </c:pt>
              <c:pt idx="5">
                <c:v>12:00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34</c:v>
              </c:pt>
              <c:pt idx="2">
                <c:v>52</c:v>
              </c:pt>
              <c:pt idx="3">
                <c:v>76</c:v>
              </c:pt>
              <c:pt idx="4">
                <c:v>88</c:v>
              </c:pt>
              <c:pt idx="5">
                <c:v>82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Space Grotesk Text"/>
                <a:solidFill>
                  <a:srgbClr val="1F3A8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CEA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latin typeface="Space Grotesk Text"/>
                <a:solidFill>
                  <a:srgbClr val="1F3A8A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8F1D6"/>
        </a:solidFill>
        <a:ln xmlns:a="http://schemas.openxmlformats.org/drawingml/2006/main" w="9525">
          <a:solidFill>
            <a:srgbClr val="D7CEA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Space Grotesk Text"/>
              <a:solidFill>
                <a:srgbClr val="1F3A8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1D6"/>
    </a:solidFill>
    <a:ln xmlns:a="http://schemas.openxmlformats.org/drawingml/2006/main" w="0">
      <a:solidFill>
        <a:srgbClr val="F8F1D6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5ECA0"/>
            </a:gs>
            <a:gs pos="100000">
              <a:srgbClr val="EFE56A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n-chrome-left-1">
            <a:extLst xmlns:a="http://schemas.openxmlformats.org/drawingml/2006/main">
              <a:ext uri="{FF2B5EF4-FFF2-40B4-BE49-F238E27FC236}">
                <a16:creationId xmlns:a16="http://schemas.microsoft.com/office/drawing/2014/main" id="{749FF8A7-2798-47C6-85B1-04D96FA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↤  TINY ADVENTURE CLUB  /  COVER</a:t>
            </a:r>
          </a:p>
        </p:txBody>
      </p:sp>
      <p:sp>
        <p:nvSpPr>
          <p:cNvPr id="2" name="pin-chrome-right-1">
            <a:extLst xmlns:a="http://schemas.openxmlformats.org/drawingml/2006/main">
              <a:ext uri="{FF2B5EF4-FFF2-40B4-BE49-F238E27FC236}">
                <a16:creationId xmlns:a16="http://schemas.microsoft.com/office/drawing/2014/main" id="{8F5F0913-7FBB-48D9-B22A-59EA2E23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01 / 08</a:t>
            </a:r>
          </a:p>
        </p:txBody>
      </p:sp>
      <p:sp>
        <p:nvSpPr>
          <p:cNvPr id="3" name="pin-foot-1">
            <a:extLst xmlns:a="http://schemas.openxmlformats.org/drawingml/2006/main">
              <a:ext uri="{FF2B5EF4-FFF2-40B4-BE49-F238E27FC236}">
                <a16:creationId xmlns:a16="http://schemas.microsoft.com/office/drawing/2014/main" id="{03354EF8-D68E-4F01-9A22-0D5F54F2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PIN &amp; PAPER · FIELD NOTES FOR CURIOUS PEOPLE</a:t>
            </a:r>
          </a:p>
        </p:txBody>
      </p:sp>
      <p:sp>
        <p:nvSpPr>
          <p:cNvPr id="4" name="pin-cover-title">
            <a:extLst xmlns:a="http://schemas.openxmlformats.org/drawingml/2006/main">
              <a:ext uri="{FF2B5EF4-FFF2-40B4-BE49-F238E27FC236}">
                <a16:creationId xmlns:a16="http://schemas.microsoft.com/office/drawing/2014/main" id="{7DEBFA5E-AF1C-4D43-89BE-7F78B3B9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78486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7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57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LEAVE THE MAP.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7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57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KEEP THE STORY.</a:t>
            </a:r>
          </a:p>
        </p:txBody>
      </p:sp>
      <p:sp>
        <p:nvSpPr>
          <p:cNvPr id="5" name="pin-cover-note-shadow">
            <a:extLst xmlns:a="http://schemas.openxmlformats.org/drawingml/2006/main">
              <a:ext uri="{FF2B5EF4-FFF2-40B4-BE49-F238E27FC236}">
                <a16:creationId xmlns:a16="http://schemas.microsoft.com/office/drawing/2014/main" id="{280756F8-E35E-49B4-81F4-13085C5C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8639175" y="1524000"/>
            <a:ext cx="28575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n-cover-note-surface">
            <a:extLst xmlns:a="http://schemas.openxmlformats.org/drawingml/2006/main">
              <a:ext uri="{FF2B5EF4-FFF2-40B4-BE49-F238E27FC236}">
                <a16:creationId xmlns:a16="http://schemas.microsoft.com/office/drawing/2014/main" id="{455100E7-BBCB-4D07-8480-E8D5A5E1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8572500" y="1447800"/>
            <a:ext cx="28575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8F1D6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7" name="pin-cover-note-pin">
            <a:extLst xmlns:a="http://schemas.openxmlformats.org/drawingml/2006/main">
              <a:ext uri="{FF2B5EF4-FFF2-40B4-BE49-F238E27FC236}">
                <a16:creationId xmlns:a16="http://schemas.microsoft.com/office/drawing/2014/main" id="{4543DF69-CAA3-416F-AB17-45C86CF6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257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8" name="pin-cover-note-title">
            <a:extLst xmlns:a="http://schemas.openxmlformats.org/drawingml/2006/main">
              <a:ext uri="{FF2B5EF4-FFF2-40B4-BE49-F238E27FC236}">
                <a16:creationId xmlns:a16="http://schemas.microsoft.com/office/drawing/2014/main" id="{F528484C-9793-43B8-A6B6-A0513D7F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85950"/>
            <a:ext cx="219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270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A two-hour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70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270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adventure hiding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70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270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in plain sight.</a:t>
            </a:r>
          </a:p>
        </p:txBody>
      </p:sp>
      <p:sp>
        <p:nvSpPr>
          <p:cNvPr id="9" name="pin-cover-note-arrow">
            <a:extLst xmlns:a="http://schemas.openxmlformats.org/drawingml/2006/main">
              <a:ext uri="{FF2B5EF4-FFF2-40B4-BE49-F238E27FC236}">
                <a16:creationId xmlns:a16="http://schemas.microsoft.com/office/drawing/2014/main" id="{3248537C-CD22-4310-87C4-0C86250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19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← begin somewhere close</a:t>
            </a:r>
          </a:p>
        </p:txBody>
      </p:sp>
      <p:sp>
        <p:nvSpPr>
          <p:cNvPr id="10" name="pin-cover-rule">
            <a:extLst xmlns:a="http://schemas.openxmlformats.org/drawingml/2006/main">
              <a:ext uri="{FF2B5EF4-FFF2-40B4-BE49-F238E27FC236}">
                <a16:creationId xmlns:a16="http://schemas.microsoft.com/office/drawing/2014/main" id="{BF990A90-DFBC-482C-83B8-6A0B5667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in-cover-sub">
            <a:extLst xmlns:a="http://schemas.openxmlformats.org/drawingml/2006/main">
              <a:ext uri="{FF2B5EF4-FFF2-40B4-BE49-F238E27FC236}">
                <a16:creationId xmlns:a16="http://schemas.microsoft.com/office/drawing/2014/main" id="{D6EFBCA7-5CB1-4D57-BAD5-3BA7490E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81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FIELD NOTE 01  ·  GO CLOSE  ·  NOTICE EVERYTHING</a:t>
            </a:r>
          </a:p>
        </p:txBody>
      </p:sp>
    </p:spTree>
    <p:extLst>
      <p:ext uri="{BB962C8B-B14F-4D97-AF65-F5344CB8AC3E}">
        <p14:creationId xmlns:p14="http://schemas.microsoft.com/office/powerpoint/2010/main" val="1807767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E5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n-chrome-left-2">
            <a:extLst xmlns:a="http://schemas.openxmlformats.org/drawingml/2006/main">
              <a:ext uri="{FF2B5EF4-FFF2-40B4-BE49-F238E27FC236}">
                <a16:creationId xmlns:a16="http://schemas.microsoft.com/office/drawing/2014/main" id="{74E8C4B7-F832-4AE8-B863-A3440171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↤  TINY ADVENTURE CLUB  /  PREMISE</a:t>
            </a:r>
          </a:p>
        </p:txBody>
      </p:sp>
      <p:sp>
        <p:nvSpPr>
          <p:cNvPr id="2" name="pin-chrome-right-2">
            <a:extLst xmlns:a="http://schemas.openxmlformats.org/drawingml/2006/main">
              <a:ext uri="{FF2B5EF4-FFF2-40B4-BE49-F238E27FC236}">
                <a16:creationId xmlns:a16="http://schemas.microsoft.com/office/drawing/2014/main" id="{172EB6D5-C476-4773-A5EF-846EF5DC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02 / 08</a:t>
            </a:r>
          </a:p>
        </p:txBody>
      </p:sp>
      <p:sp>
        <p:nvSpPr>
          <p:cNvPr id="3" name="pin-foot-2">
            <a:extLst xmlns:a="http://schemas.openxmlformats.org/drawingml/2006/main">
              <a:ext uri="{FF2B5EF4-FFF2-40B4-BE49-F238E27FC236}">
                <a16:creationId xmlns:a16="http://schemas.microsoft.com/office/drawing/2014/main" id="{88ACDEAE-20CE-4F38-88E0-5442D36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PIN &amp; PAPER · FIELD NOTES FOR CURIOUS PEOPLE</a:t>
            </a:r>
          </a:p>
        </p:txBody>
      </p:sp>
      <p:sp>
        <p:nvSpPr>
          <p:cNvPr id="4" name="pin-premise-title">
            <a:extLst xmlns:a="http://schemas.openxmlformats.org/drawingml/2006/main">
              <a:ext uri="{FF2B5EF4-FFF2-40B4-BE49-F238E27FC236}">
                <a16:creationId xmlns:a16="http://schemas.microsoft.com/office/drawing/2014/main" id="{92AC0866-10E0-4AD5-8F5B-6EBABDF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43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THE BEST DETOURS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43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START NEAR HOME.</a:t>
            </a:r>
          </a:p>
        </p:txBody>
      </p:sp>
      <p:sp>
        <p:nvSpPr>
          <p:cNvPr id="5" name="pin-premise-card-0-shadow">
            <a:extLst xmlns:a="http://schemas.openxmlformats.org/drawingml/2006/main">
              <a:ext uri="{FF2B5EF4-FFF2-40B4-BE49-F238E27FC236}">
                <a16:creationId xmlns:a16="http://schemas.microsoft.com/office/drawing/2014/main" id="{4257B1BD-B54C-4A50-B7D4-C9621734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29718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n-premise-card-0-surface">
            <a:extLst xmlns:a="http://schemas.openxmlformats.org/drawingml/2006/main">
              <a:ext uri="{FF2B5EF4-FFF2-40B4-BE49-F238E27FC236}">
                <a16:creationId xmlns:a16="http://schemas.microsoft.com/office/drawing/2014/main" id="{5D0D2F51-390C-46F9-A63E-2DA8A62D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8956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1D6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7" name="pin-premise-card-0-pin">
            <a:extLst xmlns:a="http://schemas.openxmlformats.org/drawingml/2006/main">
              <a:ext uri="{FF2B5EF4-FFF2-40B4-BE49-F238E27FC236}">
                <a16:creationId xmlns:a16="http://schemas.microsoft.com/office/drawing/2014/main" id="{428CE45B-DEA4-4BAF-8530-390C1167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05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8" name="pin-premise-card-label-0">
            <a:extLst xmlns:a="http://schemas.openxmlformats.org/drawingml/2006/main">
              <a:ext uri="{FF2B5EF4-FFF2-40B4-BE49-F238E27FC236}">
                <a16:creationId xmlns:a16="http://schemas.microsoft.com/office/drawing/2014/main" id="{34800AA3-613F-46CB-99B7-AC243FD4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TIME</a:t>
            </a:r>
          </a:p>
        </p:txBody>
      </p:sp>
      <p:sp>
        <p:nvSpPr>
          <p:cNvPr id="9" name="pin-premise-card-title-0">
            <a:extLst xmlns:a="http://schemas.openxmlformats.org/drawingml/2006/main">
              <a:ext uri="{FF2B5EF4-FFF2-40B4-BE49-F238E27FC236}">
                <a16:creationId xmlns:a16="http://schemas.microsoft.com/office/drawing/2014/main" id="{0543F399-033B-441E-A4B4-99FCB777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31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2 HOURS</a:t>
            </a:r>
          </a:p>
        </p:txBody>
      </p:sp>
      <p:sp>
        <p:nvSpPr>
          <p:cNvPr id="10" name="pin-premise-card-body-0">
            <a:extLst xmlns:a="http://schemas.openxmlformats.org/drawingml/2006/main">
              <a:ext uri="{FF2B5EF4-FFF2-40B4-BE49-F238E27FC236}">
                <a16:creationId xmlns:a16="http://schemas.microsoft.com/office/drawing/2014/main" id="{FBEE6002-A95D-49AC-BD92-CFD71A15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rPr>
              <a:t>Long enough to wander.</a:t>
            </a:r>
          </a:p>
        </p:txBody>
      </p:sp>
      <p:sp>
        <p:nvSpPr>
          <p:cNvPr id="11" name="pin-premise-card-1-shadow">
            <a:extLst xmlns:a="http://schemas.openxmlformats.org/drawingml/2006/main">
              <a:ext uri="{FF2B5EF4-FFF2-40B4-BE49-F238E27FC236}">
                <a16:creationId xmlns:a16="http://schemas.microsoft.com/office/drawing/2014/main" id="{8BAC3019-6E6C-4F14-8750-437D22B1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">
            <a:off x="4371975" y="29718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in-premise-card-1-surface">
            <a:extLst xmlns:a="http://schemas.openxmlformats.org/drawingml/2006/main">
              <a:ext uri="{FF2B5EF4-FFF2-40B4-BE49-F238E27FC236}">
                <a16:creationId xmlns:a16="http://schemas.microsoft.com/office/drawing/2014/main" id="{D45FA8EF-2636-4F71-A33B-9CA1EFE9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">
            <a:off x="4305300" y="28956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E6A4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13" name="pin-premise-card-1-pin">
            <a:extLst xmlns:a="http://schemas.openxmlformats.org/drawingml/2006/main">
              <a:ext uri="{FF2B5EF4-FFF2-40B4-BE49-F238E27FC236}">
                <a16:creationId xmlns:a16="http://schemas.microsoft.com/office/drawing/2014/main" id="{A890CAF1-4A7F-476C-A7C2-346E6DFC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05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14" name="pin-premise-card-label-1">
            <a:extLst xmlns:a="http://schemas.openxmlformats.org/drawingml/2006/main">
              <a:ext uri="{FF2B5EF4-FFF2-40B4-BE49-F238E27FC236}">
                <a16:creationId xmlns:a16="http://schemas.microsoft.com/office/drawing/2014/main" id="{B09A6699-317D-4C7A-8021-CC8BA01F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RADIUS</a:t>
            </a:r>
          </a:p>
        </p:txBody>
      </p:sp>
      <p:sp>
        <p:nvSpPr>
          <p:cNvPr id="15" name="pin-premise-card-title-1">
            <a:extLst xmlns:a="http://schemas.openxmlformats.org/drawingml/2006/main">
              <a:ext uri="{FF2B5EF4-FFF2-40B4-BE49-F238E27FC236}">
                <a16:creationId xmlns:a16="http://schemas.microsoft.com/office/drawing/2014/main" id="{72FCFABA-CA1C-4B19-9DBB-544B2BFE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31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5 KM</a:t>
            </a:r>
          </a:p>
        </p:txBody>
      </p:sp>
      <p:sp>
        <p:nvSpPr>
          <p:cNvPr id="16" name="pin-premise-card-body-1">
            <a:extLst xmlns:a="http://schemas.openxmlformats.org/drawingml/2006/main">
              <a:ext uri="{FF2B5EF4-FFF2-40B4-BE49-F238E27FC236}">
                <a16:creationId xmlns:a16="http://schemas.microsoft.com/office/drawing/2014/main" id="{21115026-63C6-4D2F-B66B-95717CEC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958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rPr>
              <a:t>Close enough to begin.</a:t>
            </a:r>
          </a:p>
        </p:txBody>
      </p:sp>
      <p:sp>
        <p:nvSpPr>
          <p:cNvPr id="17" name="pin-premise-card-2-shadow">
            <a:extLst xmlns:a="http://schemas.openxmlformats.org/drawingml/2006/main">
              <a:ext uri="{FF2B5EF4-FFF2-40B4-BE49-F238E27FC236}">
                <a16:creationId xmlns:a16="http://schemas.microsoft.com/office/drawing/2014/main" id="{7336A417-4F7B-46AC-9FD1-B7425E2B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9718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in-premise-card-2-surface">
            <a:extLst xmlns:a="http://schemas.openxmlformats.org/drawingml/2006/main">
              <a:ext uri="{FF2B5EF4-FFF2-40B4-BE49-F238E27FC236}">
                <a16:creationId xmlns:a16="http://schemas.microsoft.com/office/drawing/2014/main" id="{653128B9-F987-4C4F-AA58-89104E6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8956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1D6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19" name="pin-premise-card-2-pin">
            <a:extLst xmlns:a="http://schemas.openxmlformats.org/drawingml/2006/main">
              <a:ext uri="{FF2B5EF4-FFF2-40B4-BE49-F238E27FC236}">
                <a16:creationId xmlns:a16="http://schemas.microsoft.com/office/drawing/2014/main" id="{FCCBF45E-60F8-4C6E-AA77-1F0891D6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705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20" name="pin-premise-card-label-2">
            <a:extLst xmlns:a="http://schemas.openxmlformats.org/drawingml/2006/main">
              <a:ext uri="{FF2B5EF4-FFF2-40B4-BE49-F238E27FC236}">
                <a16:creationId xmlns:a16="http://schemas.microsoft.com/office/drawing/2014/main" id="{795CA7F0-51F6-46C5-BD2C-A0019345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PRIZE</a:t>
            </a:r>
          </a:p>
        </p:txBody>
      </p:sp>
      <p:sp>
        <p:nvSpPr>
          <p:cNvPr id="21" name="pin-premise-card-title-2">
            <a:extLst xmlns:a="http://schemas.openxmlformats.org/drawingml/2006/main">
              <a:ext uri="{FF2B5EF4-FFF2-40B4-BE49-F238E27FC236}">
                <a16:creationId xmlns:a16="http://schemas.microsoft.com/office/drawing/2014/main" id="{63CA5784-F4DE-4BA6-960B-D8B8CBD0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31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1 STORY</a:t>
            </a:r>
          </a:p>
        </p:txBody>
      </p:sp>
      <p:sp>
        <p:nvSpPr>
          <p:cNvPr id="22" name="pin-premise-card-body-2">
            <a:extLst xmlns:a="http://schemas.openxmlformats.org/drawingml/2006/main">
              <a:ext uri="{FF2B5EF4-FFF2-40B4-BE49-F238E27FC236}">
                <a16:creationId xmlns:a16="http://schemas.microsoft.com/office/drawing/2014/main" id="{C5A48FDD-FEFE-4DDA-8381-2D35A8CB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rPr>
              <a:t>Better than another scroll.</a:t>
            </a:r>
          </a:p>
        </p:txBody>
      </p:sp>
      <p:sp>
        <p:nvSpPr>
          <p:cNvPr id="23" name="pin-premise-scribble">
            <a:extLst xmlns:a="http://schemas.openxmlformats.org/drawingml/2006/main">
              <a:ext uri="{FF2B5EF4-FFF2-40B4-BE49-F238E27FC236}">
                <a16:creationId xmlns:a16="http://schemas.microsoft.com/office/drawing/2014/main" id="{03F22EDB-AA02-4D29-BD72-BE65E921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81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22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small plan, vivid memory</a:t>
            </a:r>
          </a:p>
        </p:txBody>
      </p:sp>
    </p:spTree>
    <p:extLst>
      <p:ext uri="{BB962C8B-B14F-4D97-AF65-F5344CB8AC3E}">
        <p14:creationId xmlns:p14="http://schemas.microsoft.com/office/powerpoint/2010/main" val="1703955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C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n-chrome-left-3">
            <a:extLst xmlns:a="http://schemas.openxmlformats.org/drawingml/2006/main">
              <a:ext uri="{FF2B5EF4-FFF2-40B4-BE49-F238E27FC236}">
                <a16:creationId xmlns:a16="http://schemas.microsoft.com/office/drawing/2014/main" id="{82CAFDCE-C3E5-48A2-A3E8-9C2041C4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↤  TINY ADVENTURE CLUB  /  DETOUR RULES</a:t>
            </a:r>
          </a:p>
        </p:txBody>
      </p:sp>
      <p:sp>
        <p:nvSpPr>
          <p:cNvPr id="2" name="pin-chrome-right-3">
            <a:extLst xmlns:a="http://schemas.openxmlformats.org/drawingml/2006/main">
              <a:ext uri="{FF2B5EF4-FFF2-40B4-BE49-F238E27FC236}">
                <a16:creationId xmlns:a16="http://schemas.microsoft.com/office/drawing/2014/main" id="{915AAD28-9BA1-4D21-9977-86D98F4E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03 / 08</a:t>
            </a:r>
          </a:p>
        </p:txBody>
      </p:sp>
      <p:sp>
        <p:nvSpPr>
          <p:cNvPr id="3" name="pin-foot-3">
            <a:extLst xmlns:a="http://schemas.openxmlformats.org/drawingml/2006/main">
              <a:ext uri="{FF2B5EF4-FFF2-40B4-BE49-F238E27FC236}">
                <a16:creationId xmlns:a16="http://schemas.microsoft.com/office/drawing/2014/main" id="{79848E32-6D87-4882-BD17-9B25E712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PIN &amp; PAPER · FIELD NOTES FOR CURIOUS PEOPLE</a:t>
            </a:r>
          </a:p>
        </p:txBody>
      </p:sp>
      <p:sp>
        <p:nvSpPr>
          <p:cNvPr id="4" name="pin-cap-title">
            <a:extLst xmlns:a="http://schemas.openxmlformats.org/drawingml/2006/main">
              <a:ext uri="{FF2B5EF4-FFF2-40B4-BE49-F238E27FC236}">
                <a16:creationId xmlns:a16="http://schemas.microsoft.com/office/drawing/2014/main" id="{439663AE-E1A4-4D8C-850E-320DE466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42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GET LOST—ON PURPOSE.</a:t>
            </a:r>
          </a:p>
        </p:txBody>
      </p:sp>
      <p:sp>
        <p:nvSpPr>
          <p:cNvPr id="5" name="pin-cap-card-0-shadow">
            <a:extLst xmlns:a="http://schemas.openxmlformats.org/drawingml/2006/main">
              <a:ext uri="{FF2B5EF4-FFF2-40B4-BE49-F238E27FC236}">
                <a16:creationId xmlns:a16="http://schemas.microsoft.com/office/drawing/2014/main" id="{80F20984-63F5-4ACB-9B8F-1EC09B0C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2209800"/>
            <a:ext cx="51054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n-cap-card-0-surface">
            <a:extLst xmlns:a="http://schemas.openxmlformats.org/drawingml/2006/main">
              <a:ext uri="{FF2B5EF4-FFF2-40B4-BE49-F238E27FC236}">
                <a16:creationId xmlns:a16="http://schemas.microsoft.com/office/drawing/2014/main" id="{50D4D886-20AB-405F-9E21-4ED2723D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133600"/>
            <a:ext cx="51054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8F1D6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7" name="pin-cap-card-0-pin">
            <a:extLst xmlns:a="http://schemas.openxmlformats.org/drawingml/2006/main">
              <a:ext uri="{FF2B5EF4-FFF2-40B4-BE49-F238E27FC236}">
                <a16:creationId xmlns:a16="http://schemas.microsoft.com/office/drawing/2014/main" id="{492D0069-D7EF-4DB2-9A5A-DCF64B50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8" name="pin-cap-num-0">
            <a:extLst xmlns:a="http://schemas.openxmlformats.org/drawingml/2006/main">
              <a:ext uri="{FF2B5EF4-FFF2-40B4-BE49-F238E27FC236}">
                <a16:creationId xmlns:a16="http://schemas.microsoft.com/office/drawing/2014/main" id="{AA3BB4AB-7DF7-4E13-B5DF-C39030D7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31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01</a:t>
            </a:r>
          </a:p>
        </p:txBody>
      </p:sp>
      <p:sp>
        <p:nvSpPr>
          <p:cNvPr id="9" name="pin-cap-head-0">
            <a:extLst xmlns:a="http://schemas.openxmlformats.org/drawingml/2006/main">
              <a:ext uri="{FF2B5EF4-FFF2-40B4-BE49-F238E27FC236}">
                <a16:creationId xmlns:a16="http://schemas.microsoft.com/office/drawing/2014/main" id="{007A6387-8C68-4FDD-BEBC-7376BEAC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22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LOOK UP</a:t>
            </a:r>
          </a:p>
        </p:txBody>
      </p:sp>
      <p:sp>
        <p:nvSpPr>
          <p:cNvPr id="10" name="pin-cap-body-0">
            <a:extLst xmlns:a="http://schemas.openxmlformats.org/drawingml/2006/main">
              <a:ext uri="{FF2B5EF4-FFF2-40B4-BE49-F238E27FC236}">
                <a16:creationId xmlns:a16="http://schemas.microsoft.com/office/drawing/2014/main" id="{922E4FBA-AFB2-433B-B262-F42CA155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71800"/>
            <a:ext cx="3638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rPr>
              <a:t>Rooflines, birds, weather, changing light.</a:t>
            </a:r>
          </a:p>
        </p:txBody>
      </p:sp>
      <p:sp>
        <p:nvSpPr>
          <p:cNvPr id="11" name="pin-cap-card-1-shadow">
            <a:extLst xmlns:a="http://schemas.openxmlformats.org/drawingml/2006/main">
              <a:ext uri="{FF2B5EF4-FFF2-40B4-BE49-F238E27FC236}">
                <a16:creationId xmlns:a16="http://schemas.microsoft.com/office/drawing/2014/main" id="{C2EB3DEB-C270-41B8-8313-DA66995B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">
            <a:off x="6124575" y="2209800"/>
            <a:ext cx="51054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in-cap-card-1-surface">
            <a:extLst xmlns:a="http://schemas.openxmlformats.org/drawingml/2006/main">
              <a:ext uri="{FF2B5EF4-FFF2-40B4-BE49-F238E27FC236}">
                <a16:creationId xmlns:a16="http://schemas.microsoft.com/office/drawing/2014/main" id="{490901DC-73F1-4DFC-88EE-7DEA6903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">
            <a:off x="6057900" y="2133600"/>
            <a:ext cx="51054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BE6A4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13" name="pin-cap-card-1-pin">
            <a:extLst xmlns:a="http://schemas.openxmlformats.org/drawingml/2006/main">
              <a:ext uri="{FF2B5EF4-FFF2-40B4-BE49-F238E27FC236}">
                <a16:creationId xmlns:a16="http://schemas.microsoft.com/office/drawing/2014/main" id="{4FAC2B05-1A91-4090-8DB5-36584236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14" name="pin-cap-num-1">
            <a:extLst xmlns:a="http://schemas.openxmlformats.org/drawingml/2006/main">
              <a:ext uri="{FF2B5EF4-FFF2-40B4-BE49-F238E27FC236}">
                <a16:creationId xmlns:a16="http://schemas.microsoft.com/office/drawing/2014/main" id="{066EA7FE-D339-4012-82C6-D0BA8C88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31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02</a:t>
            </a:r>
          </a:p>
        </p:txBody>
      </p:sp>
      <p:sp>
        <p:nvSpPr>
          <p:cNvPr id="15" name="pin-cap-head-1">
            <a:extLst xmlns:a="http://schemas.openxmlformats.org/drawingml/2006/main">
              <a:ext uri="{FF2B5EF4-FFF2-40B4-BE49-F238E27FC236}">
                <a16:creationId xmlns:a16="http://schemas.microsoft.com/office/drawing/2014/main" id="{DFE27D87-29BF-46CC-83C2-B49D2069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22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TURN LEFT</a:t>
            </a:r>
          </a:p>
        </p:txBody>
      </p:sp>
      <p:sp>
        <p:nvSpPr>
          <p:cNvPr id="16" name="pin-cap-body-1">
            <a:extLst xmlns:a="http://schemas.openxmlformats.org/drawingml/2006/main">
              <a:ext uri="{FF2B5EF4-FFF2-40B4-BE49-F238E27FC236}">
                <a16:creationId xmlns:a16="http://schemas.microsoft.com/office/drawing/2014/main" id="{AEDEC21B-798A-4EDC-AA8D-D49B837E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3638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rPr>
              <a:t>Choose the block you never take.</a:t>
            </a:r>
          </a:p>
        </p:txBody>
      </p:sp>
      <p:sp>
        <p:nvSpPr>
          <p:cNvPr id="17" name="pin-cap-card-2-shadow">
            <a:extLst xmlns:a="http://schemas.openxmlformats.org/drawingml/2006/main">
              <a:ext uri="{FF2B5EF4-FFF2-40B4-BE49-F238E27FC236}">
                <a16:creationId xmlns:a16="http://schemas.microsoft.com/office/drawing/2014/main" id="{5D0610FF-FE08-48E1-9088-4C000F6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">
            <a:off x="657225" y="4248150"/>
            <a:ext cx="51054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in-cap-card-2-surface">
            <a:extLst xmlns:a="http://schemas.openxmlformats.org/drawingml/2006/main">
              <a:ext uri="{FF2B5EF4-FFF2-40B4-BE49-F238E27FC236}">
                <a16:creationId xmlns:a16="http://schemas.microsoft.com/office/drawing/2014/main" id="{17FAEE1D-E3FD-4994-A3DF-397201E0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">
            <a:off x="590550" y="4171950"/>
            <a:ext cx="51054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8F1D6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19" name="pin-cap-card-2-pin">
            <a:extLst xmlns:a="http://schemas.openxmlformats.org/drawingml/2006/main">
              <a:ext uri="{FF2B5EF4-FFF2-40B4-BE49-F238E27FC236}">
                <a16:creationId xmlns:a16="http://schemas.microsoft.com/office/drawing/2014/main" id="{39E6F2F9-DDAA-4726-AAD1-5F0F9FE4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81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20" name="pin-cap-num-2">
            <a:extLst xmlns:a="http://schemas.openxmlformats.org/drawingml/2006/main">
              <a:ext uri="{FF2B5EF4-FFF2-40B4-BE49-F238E27FC236}">
                <a16:creationId xmlns:a16="http://schemas.microsoft.com/office/drawing/2014/main" id="{651F7856-7CFB-4B75-9499-A4D0FDCB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31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03</a:t>
            </a:r>
          </a:p>
        </p:txBody>
      </p:sp>
      <p:sp>
        <p:nvSpPr>
          <p:cNvPr id="21" name="pin-cap-head-2">
            <a:extLst xmlns:a="http://schemas.openxmlformats.org/drawingml/2006/main">
              <a:ext uri="{FF2B5EF4-FFF2-40B4-BE49-F238E27FC236}">
                <a16:creationId xmlns:a16="http://schemas.microsoft.com/office/drawing/2014/main" id="{5EEEDDB6-BC47-4EE3-B024-A05A3B7B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960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22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COLLECT</a:t>
            </a:r>
          </a:p>
        </p:txBody>
      </p:sp>
      <p:sp>
        <p:nvSpPr>
          <p:cNvPr id="22" name="pin-cap-body-2">
            <a:extLst xmlns:a="http://schemas.openxmlformats.org/drawingml/2006/main">
              <a:ext uri="{FF2B5EF4-FFF2-40B4-BE49-F238E27FC236}">
                <a16:creationId xmlns:a16="http://schemas.microsoft.com/office/drawing/2014/main" id="{1F379BEC-8BD1-4041-986C-300C7F66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10150"/>
            <a:ext cx="3638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rPr>
              <a:t>One sound, color, texture, and phrase.</a:t>
            </a:r>
          </a:p>
        </p:txBody>
      </p:sp>
      <p:sp>
        <p:nvSpPr>
          <p:cNvPr id="23" name="pin-cap-card-3-shadow">
            <a:extLst xmlns:a="http://schemas.openxmlformats.org/drawingml/2006/main">
              <a:ext uri="{FF2B5EF4-FFF2-40B4-BE49-F238E27FC236}">
                <a16:creationId xmlns:a16="http://schemas.microsoft.com/office/drawing/2014/main" id="{B6C78219-879A-4065-B6E7-F288C2C5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4248150"/>
            <a:ext cx="51054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in-cap-card-3-surface">
            <a:extLst xmlns:a="http://schemas.openxmlformats.org/drawingml/2006/main">
              <a:ext uri="{FF2B5EF4-FFF2-40B4-BE49-F238E27FC236}">
                <a16:creationId xmlns:a16="http://schemas.microsoft.com/office/drawing/2014/main" id="{59755826-022C-4254-AB57-190210D0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171950"/>
            <a:ext cx="51054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BE6A4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25" name="pin-cap-card-3-pin">
            <a:extLst xmlns:a="http://schemas.openxmlformats.org/drawingml/2006/main">
              <a:ext uri="{FF2B5EF4-FFF2-40B4-BE49-F238E27FC236}">
                <a16:creationId xmlns:a16="http://schemas.microsoft.com/office/drawing/2014/main" id="{4C328494-8442-43B4-8BCB-4EB182C0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981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26" name="pin-cap-num-3">
            <a:extLst xmlns:a="http://schemas.openxmlformats.org/drawingml/2006/main">
              <a:ext uri="{FF2B5EF4-FFF2-40B4-BE49-F238E27FC236}">
                <a16:creationId xmlns:a16="http://schemas.microsoft.com/office/drawing/2014/main" id="{049947F9-A4E3-4FED-A99A-BA3A215E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31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04</a:t>
            </a:r>
          </a:p>
        </p:txBody>
      </p:sp>
      <p:sp>
        <p:nvSpPr>
          <p:cNvPr id="27" name="pin-cap-head-3">
            <a:extLst xmlns:a="http://schemas.openxmlformats.org/drawingml/2006/main">
              <a:ext uri="{FF2B5EF4-FFF2-40B4-BE49-F238E27FC236}">
                <a16:creationId xmlns:a16="http://schemas.microsoft.com/office/drawing/2014/main" id="{67BA72B5-1C63-45B2-B3D2-DF9020B7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22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RETURN</a:t>
            </a:r>
          </a:p>
        </p:txBody>
      </p:sp>
      <p:sp>
        <p:nvSpPr>
          <p:cNvPr id="28" name="pin-cap-body-3">
            <a:extLst xmlns:a="http://schemas.openxmlformats.org/drawingml/2006/main">
              <a:ext uri="{FF2B5EF4-FFF2-40B4-BE49-F238E27FC236}">
                <a16:creationId xmlns:a16="http://schemas.microsoft.com/office/drawing/2014/main" id="{362373C7-70AC-4805-AE8E-0F127A29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10150"/>
            <a:ext cx="3638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defRPr>
            </a:pPr>
            <a:r>
              <a:rPr sz="1350" b="0" i="0">
                <a:solidFill>
                  <a:srgbClr val="1F3A8A"/>
                </a:solidFill>
                <a:latin typeface="Space Grotesk Text"/>
                <a:ea typeface="Space Grotesk Text"/>
                <a:cs typeface="Space Grotesk Text"/>
              </a:rPr>
              <a:t>Bring back a story, not a souvenir.</a:t>
            </a:r>
          </a:p>
        </p:txBody>
      </p:sp>
    </p:spTree>
    <p:extLst>
      <p:ext uri="{BB962C8B-B14F-4D97-AF65-F5344CB8AC3E}">
        <p14:creationId xmlns:p14="http://schemas.microsoft.com/office/powerpoint/2010/main" val="1705054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D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n-chrome-left-4">
            <a:extLst xmlns:a="http://schemas.openxmlformats.org/drawingml/2006/main">
              <a:ext uri="{FF2B5EF4-FFF2-40B4-BE49-F238E27FC236}">
                <a16:creationId xmlns:a16="http://schemas.microsoft.com/office/drawing/2014/main" id="{F33EB2D7-E3E9-4A35-8ADB-B75CC131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↤  TINY ADVENTURE CLUB  /  CURIOSITY CURVE</a:t>
            </a:r>
          </a:p>
        </p:txBody>
      </p:sp>
      <p:sp>
        <p:nvSpPr>
          <p:cNvPr id="2" name="pin-chrome-right-4">
            <a:extLst xmlns:a="http://schemas.openxmlformats.org/drawingml/2006/main">
              <a:ext uri="{FF2B5EF4-FFF2-40B4-BE49-F238E27FC236}">
                <a16:creationId xmlns:a16="http://schemas.microsoft.com/office/drawing/2014/main" id="{96B0B8C1-CD13-48B4-B4B4-DD185A2E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04 / 08</a:t>
            </a:r>
          </a:p>
        </p:txBody>
      </p:sp>
      <p:sp>
        <p:nvSpPr>
          <p:cNvPr id="3" name="pin-foot-4">
            <a:extLst xmlns:a="http://schemas.openxmlformats.org/drawingml/2006/main">
              <a:ext uri="{FF2B5EF4-FFF2-40B4-BE49-F238E27FC236}">
                <a16:creationId xmlns:a16="http://schemas.microsoft.com/office/drawing/2014/main" id="{67382226-E731-4BFF-B3F5-1134510E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PIN &amp; PAPER · FIELD NOTES FOR CURIOUS PEOPLE</a:t>
            </a:r>
          </a:p>
        </p:txBody>
      </p:sp>
      <p:sp>
        <p:nvSpPr>
          <p:cNvPr id="4" name="pin-chart-title">
            <a:extLst xmlns:a="http://schemas.openxmlformats.org/drawingml/2006/main">
              <a:ext uri="{FF2B5EF4-FFF2-40B4-BE49-F238E27FC236}">
                <a16:creationId xmlns:a16="http://schemas.microsoft.com/office/drawing/2014/main" id="{B69E63E0-A502-48E6-BC5E-BFE280F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36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CURIOSITY RISES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36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AS THE PLAN LOOSENS.</a:t>
            </a:r>
          </a:p>
        </p:txBody>
      </p:sp>
      <p:sp>
        <p:nvSpPr>
          <p:cNvPr id="5" name="pin-chart-card-shadow">
            <a:extLst xmlns:a="http://schemas.openxmlformats.org/drawingml/2006/main">
              <a:ext uri="{FF2B5EF4-FFF2-40B4-BE49-F238E27FC236}">
                <a16:creationId xmlns:a16="http://schemas.microsoft.com/office/drawing/2014/main" id="{8B57AF5F-9F15-4F49-8C3E-1ECB6830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2419350"/>
            <a:ext cx="76771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n-chart-card-surface">
            <a:extLst xmlns:a="http://schemas.openxmlformats.org/drawingml/2006/main">
              <a:ext uri="{FF2B5EF4-FFF2-40B4-BE49-F238E27FC236}">
                <a16:creationId xmlns:a16="http://schemas.microsoft.com/office/drawing/2014/main" id="{5AE4FB11-F35E-4452-8D6C-8D950FE6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343150"/>
            <a:ext cx="76771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8F1D6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7" name="pin-chart-card-pin">
            <a:extLst xmlns:a="http://schemas.openxmlformats.org/drawingml/2006/main">
              <a:ext uri="{FF2B5EF4-FFF2-40B4-BE49-F238E27FC236}">
                <a16:creationId xmlns:a16="http://schemas.microsoft.com/office/drawing/2014/main" id="{3A10D311-B05C-494C-95B3-85C0CA4D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graphicFrame>
        <p:nvGraphicFramePr>
          <p:cNvPr id="22" name="pin-native-capability-chart"/>
          <p:cNvGraphicFramePr/>
          <p:nvPr/>
        </p:nvGraphicFramePr>
        <p:xfrm>
          <a:off xmlns:a="http://schemas.openxmlformats.org/drawingml/2006/main" x="876300" y="2628900"/>
          <a:ext xmlns:a="http://schemas.openxmlformats.org/drawingml/2006/main" cx="708660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74e9ff88414d7d"/>
          </a:graphicData>
        </a:graphic>
      </p:graphicFrame>
      <p:sp>
        <p:nvSpPr>
          <p:cNvPr id="9" name="pin-chart-note-shadow">
            <a:extLst xmlns:a="http://schemas.openxmlformats.org/drawingml/2006/main">
              <a:ext uri="{FF2B5EF4-FFF2-40B4-BE49-F238E27FC236}">
                <a16:creationId xmlns:a16="http://schemas.microsoft.com/office/drawing/2014/main" id="{84428E09-92C0-4DD1-A5A3-FCDD2FB4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8772525" y="2419350"/>
            <a:ext cx="27241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n-chart-note-surface">
            <a:extLst xmlns:a="http://schemas.openxmlformats.org/drawingml/2006/main">
              <a:ext uri="{FF2B5EF4-FFF2-40B4-BE49-F238E27FC236}">
                <a16:creationId xmlns:a16="http://schemas.microsoft.com/office/drawing/2014/main" id="{5D52A1D7-E9B1-4192-A18D-9F2DC017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">
            <a:off x="8705850" y="2343150"/>
            <a:ext cx="27241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BE6A4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11" name="pin-chart-note-pin">
            <a:extLst xmlns:a="http://schemas.openxmlformats.org/drawingml/2006/main">
              <a:ext uri="{FF2B5EF4-FFF2-40B4-BE49-F238E27FC236}">
                <a16:creationId xmlns:a16="http://schemas.microsoft.com/office/drawing/2014/main" id="{B78E2734-E899-421C-9A1D-98DE793D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1526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12" name="pin-chart-note-label">
            <a:extLst xmlns:a="http://schemas.openxmlformats.org/drawingml/2006/main">
              <a:ext uri="{FF2B5EF4-FFF2-40B4-BE49-F238E27FC236}">
                <a16:creationId xmlns:a16="http://schemas.microsoft.com/office/drawing/2014/main" id="{754CAA16-9588-4A20-A4DE-A721E7F3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FIELD OBSERVATION</a:t>
            </a:r>
          </a:p>
        </p:txBody>
      </p:sp>
      <p:sp>
        <p:nvSpPr>
          <p:cNvPr id="13" name="pin-chart-note-copy">
            <a:extLst xmlns:a="http://schemas.openxmlformats.org/drawingml/2006/main">
              <a:ext uri="{FF2B5EF4-FFF2-40B4-BE49-F238E27FC236}">
                <a16:creationId xmlns:a16="http://schemas.microsoft.com/office/drawing/2014/main" id="{C0BDB7C4-0F4E-4CC9-A4DE-A98CD99B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86100"/>
            <a:ext cx="2038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2475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The plan shrinks.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475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2475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The story grows.</a:t>
            </a:r>
          </a:p>
        </p:txBody>
      </p:sp>
      <p:sp>
        <p:nvSpPr>
          <p:cNvPr id="14" name="pin-chart-stamp">
            <a:extLst xmlns:a="http://schemas.openxmlformats.org/drawingml/2006/main">
              <a:ext uri="{FF2B5EF4-FFF2-40B4-BE49-F238E27FC236}">
                <a16:creationId xmlns:a16="http://schemas.microsoft.com/office/drawing/2014/main" id="{9E37613C-3F0E-452B-BAC5-EFB26E56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054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2342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C2342B"/>
                </a:solidFill>
                <a:latin typeface="DM Mono Labels"/>
                <a:ea typeface="DM Mono Labels"/>
                <a:cs typeface="DM Mono Labels"/>
              </a:defRPr>
            </a:pPr>
            <a:r>
              <a:rPr sz="1275" b="0" i="0">
                <a:solidFill>
                  <a:srgbClr val="C2342B"/>
                </a:solidFill>
                <a:latin typeface="DM Mono Labels"/>
                <a:ea typeface="DM Mono Labels"/>
                <a:cs typeface="DM Mono Labels"/>
              </a:rPr>
              <a:t>TRY A DETOUR</a:t>
            </a:r>
          </a:p>
        </p:txBody>
      </p:sp>
    </p:spTree>
    <p:extLst>
      <p:ext uri="{BB962C8B-B14F-4D97-AF65-F5344CB8AC3E}">
        <p14:creationId xmlns:p14="http://schemas.microsoft.com/office/powerpoint/2010/main" val="525071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E5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n-chrome-left-5">
            <a:extLst xmlns:a="http://schemas.openxmlformats.org/drawingml/2006/main">
              <a:ext uri="{FF2B5EF4-FFF2-40B4-BE49-F238E27FC236}">
                <a16:creationId xmlns:a16="http://schemas.microsoft.com/office/drawing/2014/main" id="{5F028C2F-85CE-4722-8C1D-08D41863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↤  TINY ADVENTURE CLUB  /  FIELD KIT</a:t>
            </a:r>
          </a:p>
        </p:txBody>
      </p:sp>
      <p:sp>
        <p:nvSpPr>
          <p:cNvPr id="2" name="pin-chrome-right-5">
            <a:extLst xmlns:a="http://schemas.openxmlformats.org/drawingml/2006/main">
              <a:ext uri="{FF2B5EF4-FFF2-40B4-BE49-F238E27FC236}">
                <a16:creationId xmlns:a16="http://schemas.microsoft.com/office/drawing/2014/main" id="{C8A6BDC4-FAA5-4EB0-BD66-BF44D907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05 / 08</a:t>
            </a:r>
          </a:p>
        </p:txBody>
      </p:sp>
      <p:sp>
        <p:nvSpPr>
          <p:cNvPr id="3" name="pin-foot-5">
            <a:extLst xmlns:a="http://schemas.openxmlformats.org/drawingml/2006/main">
              <a:ext uri="{FF2B5EF4-FFF2-40B4-BE49-F238E27FC236}">
                <a16:creationId xmlns:a16="http://schemas.microsoft.com/office/drawing/2014/main" id="{FE6271E3-7E29-43CA-85E4-AC42DBE7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PIN &amp; PAPER · FIELD NOTES FOR CURIOUS PEOPLE</a:t>
            </a:r>
          </a:p>
        </p:txBody>
      </p:sp>
      <p:sp>
        <p:nvSpPr>
          <p:cNvPr id="4" name="pin-table-title">
            <a:extLst xmlns:a="http://schemas.openxmlformats.org/drawingml/2006/main">
              <a:ext uri="{FF2B5EF4-FFF2-40B4-BE49-F238E27FC236}">
                <a16:creationId xmlns:a16="http://schemas.microsoft.com/office/drawing/2014/main" id="{7185789F-B414-4AEA-A3BA-7120BA87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40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PACK LIGHT. NOTICE MORE.</a:t>
            </a:r>
          </a:p>
        </p:txBody>
      </p:sp>
      <p:sp>
        <p:nvSpPr>
          <p:cNvPr id="5" name="pin-table-card-shadow">
            <a:extLst xmlns:a="http://schemas.openxmlformats.org/drawingml/2006/main">
              <a:ext uri="{FF2B5EF4-FFF2-40B4-BE49-F238E27FC236}">
                <a16:creationId xmlns:a16="http://schemas.microsoft.com/office/drawing/2014/main" id="{BEC219CE-206C-405F-B42F-2857BC9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2057400"/>
            <a:ext cx="108394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n-table-card-surface">
            <a:extLst xmlns:a="http://schemas.openxmlformats.org/drawingml/2006/main">
              <a:ext uri="{FF2B5EF4-FFF2-40B4-BE49-F238E27FC236}">
                <a16:creationId xmlns:a16="http://schemas.microsoft.com/office/drawing/2014/main" id="{C63F06E4-8E21-44C1-A556-E55C58F1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981200"/>
            <a:ext cx="108394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8F1D6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7" name="pin-table-card-pin">
            <a:extLst xmlns:a="http://schemas.openxmlformats.org/drawingml/2006/main">
              <a:ext uri="{FF2B5EF4-FFF2-40B4-BE49-F238E27FC236}">
                <a16:creationId xmlns:a16="http://schemas.microsoft.com/office/drawing/2014/main" id="{698FCC13-35A4-4F04-AC45-684879EB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907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graphicFrame>
        <p:nvGraphicFramePr>
          <p:cNvPr id="17" name="pin-native-feature-matrix"/>
          <p:cNvGraphicFramePr/>
          <p:nvPr/>
        </p:nvGraphicFramePr>
        <p:xfrm>
          <a:off xmlns:a="http://schemas.openxmlformats.org/drawingml/2006/main" x="838200" y="2266950"/>
          <a:ext xmlns:a="http://schemas.openxmlformats.org/drawingml/2006/main" cx="103441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3453"/>
                <a:gridCol w="2146899"/>
                <a:gridCol w="2146899"/>
                <a:gridCol w="2146899"/>
              </a:tblGrid>
              <a:tr h="647700"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EFE56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Field kit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EFE56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Bring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EFE56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Optional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>
                          <a:solidFill>
                            <a:srgbClr val="EFE56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Skip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1F3A8A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Water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EFE56A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C2342B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C2342B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1F3A8A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Notebook</a:t>
                      </a:r>
                    </a:p>
                  </a:txBody>
                  <a:tcPr marL="91440" marR="91440" marT="45720" marB="45720">
                    <a:solidFill>
                      <a:srgbClr val="F5ECA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EFE56A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C2342B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5ECA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C2342B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5ECA0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1F3A8A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Camera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C2342B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EFE56A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C2342B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</a:tr>
              <a:tr h="647700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1F3A8A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Fixed route</a:t>
                      </a:r>
                    </a:p>
                  </a:txBody>
                  <a:tcPr marL="91440" marR="91440" marT="45720" marB="45720">
                    <a:solidFill>
                      <a:srgbClr val="F5ECA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C2342B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5ECA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C2342B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5ECA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>
                          <a:solidFill>
                            <a:srgbClr val="EFE56A"/>
                          </a:solidFill>
                          <a:latin typeface="Caveat Display"/>
                          <a:ea typeface="Caveat Display"/>
                          <a:cs typeface="Caveat Display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</a:tr>
            </a:tbl>
          </a:graphicData>
        </a:graphic>
      </p:graphicFrame>
      <p:sp>
        <p:nvSpPr>
          <p:cNvPr id="9" name="pin-table-stamp">
            <a:extLst xmlns:a="http://schemas.openxmlformats.org/drawingml/2006/main">
              <a:ext uri="{FF2B5EF4-FFF2-40B4-BE49-F238E27FC236}">
                <a16:creationId xmlns:a16="http://schemas.microsoft.com/office/drawing/2014/main" id="{BBF9E8BF-B970-4368-9CCB-AD1967A0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53100"/>
            <a:ext cx="211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2342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C2342B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2342B"/>
                </a:solidFill>
                <a:latin typeface="DM Mono Labels"/>
                <a:ea typeface="DM Mono Labels"/>
                <a:cs typeface="DM Mono Labels"/>
              </a:rPr>
              <a:t>PACKED LIGHT</a:t>
            </a:r>
          </a:p>
        </p:txBody>
      </p:sp>
    </p:spTree>
    <p:extLst>
      <p:ext uri="{BB962C8B-B14F-4D97-AF65-F5344CB8AC3E}">
        <p14:creationId xmlns:p14="http://schemas.microsoft.com/office/powerpoint/2010/main" val="254510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D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n-chrome-left-6">
            <a:extLst xmlns:a="http://schemas.openxmlformats.org/drawingml/2006/main">
              <a:ext uri="{FF2B5EF4-FFF2-40B4-BE49-F238E27FC236}">
                <a16:creationId xmlns:a16="http://schemas.microsoft.com/office/drawing/2014/main" id="{083E3690-1FD2-418C-9CB2-3BEA6108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↤  TINY ADVENTURE CLUB  /  SATURDAY LOG</a:t>
            </a:r>
          </a:p>
        </p:txBody>
      </p:sp>
      <p:sp>
        <p:nvSpPr>
          <p:cNvPr id="2" name="pin-chrome-right-6">
            <a:extLst xmlns:a="http://schemas.openxmlformats.org/drawingml/2006/main">
              <a:ext uri="{FF2B5EF4-FFF2-40B4-BE49-F238E27FC236}">
                <a16:creationId xmlns:a16="http://schemas.microsoft.com/office/drawing/2014/main" id="{A1EB7CA5-3224-4AAB-A911-AD66E30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06 / 08</a:t>
            </a:r>
          </a:p>
        </p:txBody>
      </p:sp>
      <p:sp>
        <p:nvSpPr>
          <p:cNvPr id="3" name="pin-foot-6">
            <a:extLst xmlns:a="http://schemas.openxmlformats.org/drawingml/2006/main">
              <a:ext uri="{FF2B5EF4-FFF2-40B4-BE49-F238E27FC236}">
                <a16:creationId xmlns:a16="http://schemas.microsoft.com/office/drawing/2014/main" id="{B296897A-89BC-4B40-B70F-F091A045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PIN &amp; PAPER · FIELD NOTES FOR CURIOUS PEOPLE</a:t>
            </a:r>
          </a:p>
        </p:txBody>
      </p:sp>
      <p:sp>
        <p:nvSpPr>
          <p:cNvPr id="4" name="pin-log-title">
            <a:extLst xmlns:a="http://schemas.openxmlformats.org/drawingml/2006/main">
              <a:ext uri="{FF2B5EF4-FFF2-40B4-BE49-F238E27FC236}">
                <a16:creationId xmlns:a16="http://schemas.microsoft.com/office/drawing/2014/main" id="{B389C489-0567-44DD-94A2-F6B602FD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6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36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THE BEST PART ARRIVES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6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360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AFTER THE TURN.</a:t>
            </a:r>
          </a:p>
        </p:txBody>
      </p:sp>
      <p:sp>
        <p:nvSpPr>
          <p:cNvPr id="5" name="pin-log-chart-card-shadow">
            <a:extLst xmlns:a="http://schemas.openxmlformats.org/drawingml/2006/main">
              <a:ext uri="{FF2B5EF4-FFF2-40B4-BE49-F238E27FC236}">
                <a16:creationId xmlns:a16="http://schemas.microsoft.com/office/drawing/2014/main" id="{117878E0-2A0A-44E0-8307-76CCEE19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2381250"/>
            <a:ext cx="7810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n-log-chart-card-surface">
            <a:extLst xmlns:a="http://schemas.openxmlformats.org/drawingml/2006/main">
              <a:ext uri="{FF2B5EF4-FFF2-40B4-BE49-F238E27FC236}">
                <a16:creationId xmlns:a16="http://schemas.microsoft.com/office/drawing/2014/main" id="{15561881-B624-4BD8-B906-4DC7AF71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305050"/>
            <a:ext cx="7810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8F1D6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7" name="pin-log-chart-card-pin">
            <a:extLst xmlns:a="http://schemas.openxmlformats.org/drawingml/2006/main">
              <a:ext uri="{FF2B5EF4-FFF2-40B4-BE49-F238E27FC236}">
                <a16:creationId xmlns:a16="http://schemas.microsoft.com/office/drawing/2014/main" id="{96A336E3-AF67-4AFA-83C7-AA0CEBDC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graphicFrame>
        <p:nvGraphicFramePr>
          <p:cNvPr id="23" name="pin-saturday-route-chart"/>
          <p:cNvGraphicFramePr/>
          <p:nvPr/>
        </p:nvGraphicFramePr>
        <p:xfrm>
          <a:off xmlns:a="http://schemas.openxmlformats.org/drawingml/2006/main" x="876300" y="2609850"/>
          <a:ext xmlns:a="http://schemas.openxmlformats.org/drawingml/2006/main" cx="7219950" cy="3009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70898cc8cc4a92"/>
          </a:graphicData>
        </a:graphic>
      </p:graphicFrame>
      <p:sp>
        <p:nvSpPr>
          <p:cNvPr id="9" name="pin-log-note-shadow">
            <a:extLst xmlns:a="http://schemas.openxmlformats.org/drawingml/2006/main">
              <a:ext uri="{FF2B5EF4-FFF2-40B4-BE49-F238E27FC236}">
                <a16:creationId xmlns:a16="http://schemas.microsoft.com/office/drawing/2014/main" id="{9400786A-4E4D-4FB1-B586-5495F8D5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">
            <a:off x="8848725" y="2381250"/>
            <a:ext cx="2647950" cy="36195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n-log-note-surface">
            <a:extLst xmlns:a="http://schemas.openxmlformats.org/drawingml/2006/main">
              <a:ext uri="{FF2B5EF4-FFF2-40B4-BE49-F238E27FC236}">
                <a16:creationId xmlns:a16="http://schemas.microsoft.com/office/drawing/2014/main" id="{8F21CB36-F892-409D-BEAE-6E159599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">
            <a:off x="8782050" y="2305050"/>
            <a:ext cx="2647950" cy="36195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BE6A4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11" name="pin-log-note-pin">
            <a:extLst xmlns:a="http://schemas.openxmlformats.org/drawingml/2006/main">
              <a:ext uri="{FF2B5EF4-FFF2-40B4-BE49-F238E27FC236}">
                <a16:creationId xmlns:a16="http://schemas.microsoft.com/office/drawing/2014/main" id="{AA86FCCF-9A3B-4B42-BE86-4C034374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12" name="pin-log-note-label">
            <a:extLst xmlns:a="http://schemas.openxmlformats.org/drawingml/2006/main">
              <a:ext uri="{FF2B5EF4-FFF2-40B4-BE49-F238E27FC236}">
                <a16:creationId xmlns:a16="http://schemas.microsoft.com/office/drawing/2014/main" id="{34F6C4DE-F17A-439F-93D4-F274D7AE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ROUTE LOG · PEAK</a:t>
            </a:r>
          </a:p>
        </p:txBody>
      </p:sp>
      <p:sp>
        <p:nvSpPr>
          <p:cNvPr id="13" name="pin-log-note-value">
            <a:extLst xmlns:a="http://schemas.openxmlformats.org/drawingml/2006/main">
              <a:ext uri="{FF2B5EF4-FFF2-40B4-BE49-F238E27FC236}">
                <a16:creationId xmlns:a16="http://schemas.microsoft.com/office/drawing/2014/main" id="{D77F60EB-02B1-4A4B-BF73-54E0972C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0" i="0">
                <a:solidFill>
                  <a:srgbClr val="C2342B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5700" b="0" i="0">
                <a:solidFill>
                  <a:srgbClr val="C2342B"/>
                </a:solidFill>
                <a:latin typeface="Space Grotesk Display"/>
                <a:ea typeface="Space Grotesk Display"/>
                <a:cs typeface="Space Grotesk Display"/>
              </a:rPr>
              <a:t>88</a:t>
            </a:r>
          </a:p>
        </p:txBody>
      </p:sp>
      <p:sp>
        <p:nvSpPr>
          <p:cNvPr id="14" name="pin-log-note-copy">
            <a:extLst xmlns:a="http://schemas.openxmlformats.org/drawingml/2006/main">
              <a:ext uri="{FF2B5EF4-FFF2-40B4-BE49-F238E27FC236}">
                <a16:creationId xmlns:a16="http://schemas.microsoft.com/office/drawing/2014/main" id="{742CEFA7-D97D-4191-A46D-978FE82F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719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325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2325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novelty score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325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2325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at 11:30</a:t>
            </a:r>
          </a:p>
        </p:txBody>
      </p:sp>
      <p:sp>
        <p:nvSpPr>
          <p:cNvPr id="15" name="pin-log-note-foot">
            <a:extLst xmlns:a="http://schemas.openxmlformats.org/drawingml/2006/main">
              <a:ext uri="{FF2B5EF4-FFF2-40B4-BE49-F238E27FC236}">
                <a16:creationId xmlns:a16="http://schemas.microsoft.com/office/drawing/2014/main" id="{9F9766AE-8D31-4769-B028-768ADD43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14950"/>
            <a:ext cx="201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0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Six checkpoints · one three-hour walk</a:t>
            </a:r>
          </a:p>
        </p:txBody>
      </p:sp>
    </p:spTree>
    <p:extLst>
      <p:ext uri="{BB962C8B-B14F-4D97-AF65-F5344CB8AC3E}">
        <p14:creationId xmlns:p14="http://schemas.microsoft.com/office/powerpoint/2010/main" val="7759317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E5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n-chrome-left-7">
            <a:extLst xmlns:a="http://schemas.openxmlformats.org/drawingml/2006/main">
              <a:ext uri="{FF2B5EF4-FFF2-40B4-BE49-F238E27FC236}">
                <a16:creationId xmlns:a16="http://schemas.microsoft.com/office/drawing/2014/main" id="{08EFAC0B-17FE-4F3A-8AA8-DAFB0DCB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↤  TINY ADVENTURE CLUB  /  ROUTE PLANNER</a:t>
            </a:r>
          </a:p>
        </p:txBody>
      </p:sp>
      <p:sp>
        <p:nvSpPr>
          <p:cNvPr id="2" name="pin-chrome-right-7">
            <a:extLst xmlns:a="http://schemas.openxmlformats.org/drawingml/2006/main">
              <a:ext uri="{FF2B5EF4-FFF2-40B4-BE49-F238E27FC236}">
                <a16:creationId xmlns:a16="http://schemas.microsoft.com/office/drawing/2014/main" id="{569C8A1C-D8A2-404B-B5E7-CC0FFF1E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07 / 08</a:t>
            </a:r>
          </a:p>
        </p:txBody>
      </p:sp>
      <p:sp>
        <p:nvSpPr>
          <p:cNvPr id="3" name="pin-foot-7">
            <a:extLst xmlns:a="http://schemas.openxmlformats.org/drawingml/2006/main">
              <a:ext uri="{FF2B5EF4-FFF2-40B4-BE49-F238E27FC236}">
                <a16:creationId xmlns:a16="http://schemas.microsoft.com/office/drawing/2014/main" id="{941C59E6-4FAC-4A0E-AEC0-717C4ACD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PIN &amp; PAPER · FIELD NOTES FOR CURIOUS PEOPLE</a:t>
            </a:r>
          </a:p>
        </p:txBody>
      </p:sp>
      <p:sp>
        <p:nvSpPr>
          <p:cNvPr id="4" name="pin-route-title">
            <a:extLst xmlns:a="http://schemas.openxmlformats.org/drawingml/2006/main">
              <a:ext uri="{FF2B5EF4-FFF2-40B4-BE49-F238E27FC236}">
                <a16:creationId xmlns:a16="http://schemas.microsoft.com/office/drawing/2014/main" id="{3BD1CF01-08F0-4748-8778-15DAC56D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37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THREE ROUTES.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7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3750" b="0" i="0">
                <a:solidFill>
                  <a:srgbClr val="1F3A8A"/>
                </a:solidFill>
                <a:latin typeface="Space Grotesk Display"/>
                <a:ea typeface="Space Grotesk Display"/>
                <a:cs typeface="Space Grotesk Display"/>
              </a:rPr>
              <a:t>ONE AFTERNOON.</a:t>
            </a:r>
          </a:p>
        </p:txBody>
      </p:sp>
      <p:sp>
        <p:nvSpPr>
          <p:cNvPr id="5" name="pin-route-table-card-shadow">
            <a:extLst xmlns:a="http://schemas.openxmlformats.org/drawingml/2006/main">
              <a:ext uri="{FF2B5EF4-FFF2-40B4-BE49-F238E27FC236}">
                <a16:creationId xmlns:a16="http://schemas.microsoft.com/office/drawing/2014/main" id="{209A8C6E-060D-4C71-8E46-9C6553C5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2286000"/>
            <a:ext cx="108394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n-route-table-card-surface">
            <a:extLst xmlns:a="http://schemas.openxmlformats.org/drawingml/2006/main">
              <a:ext uri="{FF2B5EF4-FFF2-40B4-BE49-F238E27FC236}">
                <a16:creationId xmlns:a16="http://schemas.microsoft.com/office/drawing/2014/main" id="{F1B19EEB-EEA0-46E9-9E96-478FB27D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209800"/>
            <a:ext cx="108394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8F1D6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7" name="pin-route-table-card-pin">
            <a:extLst xmlns:a="http://schemas.openxmlformats.org/drawingml/2006/main">
              <a:ext uri="{FF2B5EF4-FFF2-40B4-BE49-F238E27FC236}">
                <a16:creationId xmlns:a16="http://schemas.microsoft.com/office/drawing/2014/main" id="{E845BC46-0CAF-43BB-BCA9-F61F5F18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19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graphicFrame>
        <p:nvGraphicFramePr>
          <p:cNvPr id="17" name="pin-route-planner-table"/>
          <p:cNvGraphicFramePr/>
          <p:nvPr/>
        </p:nvGraphicFramePr>
        <p:xfrm>
          <a:off xmlns:a="http://schemas.openxmlformats.org/drawingml/2006/main" x="838200" y="2476500"/>
          <a:ext xmlns:a="http://schemas.openxmlformats.org/drawingml/2006/main" cx="1034415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3453"/>
                <a:gridCol w="2146899"/>
                <a:gridCol w="2146899"/>
                <a:gridCol w="2146899"/>
              </a:tblGrid>
              <a:tr h="757238">
                <a:tc>
                  <a:txBody>
                    <a:bodyPr anchor="ctr"/>
                    <a:lstStyle/>
                    <a:p>
                      <a:pPr algn="l"/>
                      <a:r>
                        <a:rPr sz="1275">
                          <a:solidFill>
                            <a:srgbClr val="EFE56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Route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EFE56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Distance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EFE56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EFE56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Budget</a:t>
                      </a:r>
                    </a:p>
                  </a:txBody>
                  <a:tcPr marL="91440" marR="91440" marT="45720" marB="45720">
                    <a:solidFill>
                      <a:srgbClr val="1F3A8A"/>
                    </a:solidFill>
                  </a:tcPr>
                </a:tc>
              </a:tr>
              <a:tr h="757238">
                <a:tc>
                  <a:txBody>
                    <a:bodyPr anchor="ctr"/>
                    <a:lstStyle/>
                    <a:p>
                      <a:pPr algn="l"/>
                      <a:r>
                        <a:rPr sz="1425">
                          <a:solidFill>
                            <a:srgbClr val="1F3A8A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River loop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F3A8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4.8 km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F3A8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1 h 40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F3A8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$4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</a:tr>
              <a:tr h="757238">
                <a:tc>
                  <a:txBody>
                    <a:bodyPr anchor="ctr"/>
                    <a:lstStyle/>
                    <a:p>
                      <a:pPr algn="l"/>
                      <a:r>
                        <a:rPr sz="1425">
                          <a:solidFill>
                            <a:srgbClr val="1F3A8A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Market thread</a:t>
                      </a:r>
                    </a:p>
                  </a:txBody>
                  <a:tcPr marL="91440" marR="91440" marT="45720" marB="45720">
                    <a:solidFill>
                      <a:srgbClr val="F5ECA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F3A8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3.2 km</a:t>
                      </a:r>
                    </a:p>
                  </a:txBody>
                  <a:tcPr marL="91440" marR="91440" marT="45720" marB="45720">
                    <a:solidFill>
                      <a:srgbClr val="F5ECA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F3A8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1 h 15</a:t>
                      </a:r>
                    </a:p>
                  </a:txBody>
                  <a:tcPr marL="91440" marR="91440" marT="45720" marB="45720">
                    <a:solidFill>
                      <a:srgbClr val="F5ECA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F3A8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$8</a:t>
                      </a:r>
                    </a:p>
                  </a:txBody>
                  <a:tcPr marL="91440" marR="91440" marT="45720" marB="45720">
                    <a:solidFill>
                      <a:srgbClr val="F5ECA0"/>
                    </a:solidFill>
                  </a:tcPr>
                </a:tc>
              </a:tr>
              <a:tr h="757238">
                <a:tc>
                  <a:txBody>
                    <a:bodyPr anchor="ctr"/>
                    <a:lstStyle/>
                    <a:p>
                      <a:pPr algn="l"/>
                      <a:r>
                        <a:rPr sz="1425">
                          <a:solidFill>
                            <a:srgbClr val="1F3A8A"/>
                          </a:solidFill>
                          <a:latin typeface="Space Grotesk Text"/>
                          <a:ea typeface="Space Grotesk Text"/>
                          <a:cs typeface="Space Grotesk Text"/>
                        </a:rPr>
                        <a:t>Hill &amp; tea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F3A8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6.1 km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F3A8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2 h 10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>
                          <a:solidFill>
                            <a:srgbClr val="1F3A8A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$6</a:t>
                      </a:r>
                    </a:p>
                  </a:txBody>
                  <a:tcPr marL="91440" marR="91440" marT="45720" marB="45720">
                    <a:solidFill>
                      <a:srgbClr val="F8F1D6"/>
                    </a:solidFill>
                  </a:tcPr>
                </a:tc>
              </a:tr>
            </a:tbl>
          </a:graphicData>
        </a:graphic>
      </p:graphicFrame>
      <p:sp>
        <p:nvSpPr>
          <p:cNvPr id="9" name="pin-route-footnote">
            <a:extLst xmlns:a="http://schemas.openxmlformats.org/drawingml/2006/main">
              <a:ext uri="{FF2B5EF4-FFF2-40B4-BE49-F238E27FC236}">
                <a16:creationId xmlns:a16="http://schemas.microsoft.com/office/drawing/2014/main" id="{837D1B90-7271-4C87-859C-09CDDF7D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00" b="0" i="0">
                <a:solidFill>
                  <a:srgbClr val="1F3A8A"/>
                </a:solidFill>
                <a:latin typeface="DM Mono Labels"/>
                <a:ea typeface="DM Mono Labels"/>
                <a:cs typeface="DM Mono Labels"/>
              </a:rPr>
              <a:t>Illustrative route planner · transit and snack budget included</a:t>
            </a:r>
          </a:p>
        </p:txBody>
      </p:sp>
    </p:spTree>
    <p:extLst>
      <p:ext uri="{BB962C8B-B14F-4D97-AF65-F5344CB8AC3E}">
        <p14:creationId xmlns:p14="http://schemas.microsoft.com/office/powerpoint/2010/main" val="2080337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F3A8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in-close-label">
            <a:extLst xmlns:a="http://schemas.openxmlformats.org/drawingml/2006/main">
              <a:ext uri="{FF2B5EF4-FFF2-40B4-BE49-F238E27FC236}">
                <a16:creationId xmlns:a16="http://schemas.microsoft.com/office/drawing/2014/main" id="{5AC757A7-4AC8-46DA-A0B2-AE6EA10D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EFE56A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EFE56A"/>
                </a:solidFill>
                <a:latin typeface="DM Mono Labels"/>
                <a:ea typeface="DM Mono Labels"/>
                <a:cs typeface="DM Mono Labels"/>
              </a:rPr>
              <a:t>FINAL NOTE / 08</a:t>
            </a:r>
          </a:p>
        </p:txBody>
      </p:sp>
      <p:sp>
        <p:nvSpPr>
          <p:cNvPr id="2" name="pin-close-title">
            <a:extLst xmlns:a="http://schemas.openxmlformats.org/drawingml/2006/main">
              <a:ext uri="{FF2B5EF4-FFF2-40B4-BE49-F238E27FC236}">
                <a16:creationId xmlns:a16="http://schemas.microsoft.com/office/drawing/2014/main" id="{E5D3F2E2-6F4C-4F54-8001-41526A01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10096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700" b="0" i="0">
                <a:solidFill>
                  <a:srgbClr val="EFE56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5700" b="0" i="0">
                <a:solidFill>
                  <a:srgbClr val="EFE56A"/>
                </a:solidFill>
                <a:latin typeface="Space Grotesk Display"/>
                <a:ea typeface="Space Grotesk Display"/>
                <a:cs typeface="Space Grotesk Display"/>
              </a:rPr>
              <a:t>GO CLOSE.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700" b="0" i="0">
                <a:solidFill>
                  <a:srgbClr val="EFE56A"/>
                </a:solidFill>
                <a:latin typeface="Space Grotesk Display"/>
                <a:ea typeface="Space Grotesk Display"/>
                <a:cs typeface="Space Grotesk Display"/>
              </a:defRPr>
            </a:pPr>
            <a:r>
              <a:rPr sz="5700" b="0" i="0">
                <a:solidFill>
                  <a:srgbClr val="EFE56A"/>
                </a:solidFill>
                <a:latin typeface="Space Grotesk Display"/>
                <a:ea typeface="Space Grotesk Display"/>
                <a:cs typeface="Space Grotesk Display"/>
              </a:rPr>
              <a:t>COME BACK DIFFERENT.</a:t>
            </a:r>
          </a:p>
        </p:txBody>
      </p:sp>
      <p:sp>
        <p:nvSpPr>
          <p:cNvPr id="3" name="pin-close-card-shadow">
            <a:extLst xmlns:a="http://schemas.openxmlformats.org/drawingml/2006/main">
              <a:ext uri="{FF2B5EF4-FFF2-40B4-BE49-F238E27FC236}">
                <a16:creationId xmlns:a16="http://schemas.microsoft.com/office/drawing/2014/main" id="{E6B8E550-5D2A-4C1E-A482-5C724563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">
            <a:off x="6943725" y="3962400"/>
            <a:ext cx="44386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F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in-close-card-surface">
            <a:extLst xmlns:a="http://schemas.openxmlformats.org/drawingml/2006/main">
              <a:ext uri="{FF2B5EF4-FFF2-40B4-BE49-F238E27FC236}">
                <a16:creationId xmlns:a16="http://schemas.microsoft.com/office/drawing/2014/main" id="{C4D22CD6-0D17-47C2-A67D-EE648866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">
            <a:off x="6877050" y="3886200"/>
            <a:ext cx="44386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F1D6"/>
          </a:solidFill>
          <a:ln xmlns:a="http://schemas.openxmlformats.org/drawingml/2006/main" w="14288">
            <a:solidFill>
              <a:srgbClr val="1F3A8A"/>
            </a:solidFill>
            <a:prstDash val="solid"/>
          </a:ln>
        </p:spPr>
      </p:sp>
      <p:sp>
        <p:nvSpPr>
          <p:cNvPr id="5" name="pin-close-card-pin">
            <a:extLst xmlns:a="http://schemas.openxmlformats.org/drawingml/2006/main">
              <a:ext uri="{FF2B5EF4-FFF2-40B4-BE49-F238E27FC236}">
                <a16:creationId xmlns:a16="http://schemas.microsoft.com/office/drawing/2014/main" id="{61F7D31C-55FA-4154-B673-0443AD55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957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defRPr>
            </a:pPr>
            <a:r>
              <a:rPr sz="2250" b="0" i="0">
                <a:solidFill>
                  <a:srgbClr val="1F3A8A"/>
                </a:solidFill>
                <a:latin typeface="Noto Color Emoji"/>
                <a:ea typeface="Noto Color Emoji"/>
                <a:cs typeface="Noto Color Emoji"/>
              </a:rPr>
              <a:t>🧷</a:t>
            </a:r>
          </a:p>
        </p:txBody>
      </p:sp>
      <p:sp>
        <p:nvSpPr>
          <p:cNvPr id="6" name="pin-close-card-copy">
            <a:extLst xmlns:a="http://schemas.openxmlformats.org/drawingml/2006/main">
              <a:ext uri="{FF2B5EF4-FFF2-40B4-BE49-F238E27FC236}">
                <a16:creationId xmlns:a16="http://schemas.microsoft.com/office/drawing/2014/main" id="{2C90E0D6-96B4-4B83-A515-E8260B3F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4815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25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Ordinary places feel new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5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defRPr>
            </a:pPr>
            <a:r>
              <a:rPr sz="2550" b="0" i="0">
                <a:solidFill>
                  <a:srgbClr val="1F3A8A"/>
                </a:solidFill>
                <a:latin typeface="Caveat Display"/>
                <a:ea typeface="Caveat Display"/>
                <a:cs typeface="Caveat Display"/>
              </a:rPr>
              <a:t>when attention changes.</a:t>
            </a:r>
          </a:p>
        </p:txBody>
      </p:sp>
      <p:sp>
        <p:nvSpPr>
          <p:cNvPr id="7" name="pin-close-attribution">
            <a:extLst xmlns:a="http://schemas.openxmlformats.org/drawingml/2006/main">
              <a:ext uri="{FF2B5EF4-FFF2-40B4-BE49-F238E27FC236}">
                <a16:creationId xmlns:a16="http://schemas.microsoft.com/office/drawing/2014/main" id="{C804ACAF-F27D-4EA9-B05C-1E439218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FE56A"/>
                </a:solidFill>
                <a:latin typeface="DM Mono Labels"/>
                <a:ea typeface="DM Mono Labels"/>
                <a:cs typeface="DM Mono Labels"/>
              </a:defRPr>
            </a:pPr>
            <a:r>
              <a:rPr sz="825" b="0" i="0">
                <a:solidFill>
                  <a:srgbClr val="EFE56A"/>
                </a:solidFill>
                <a:latin typeface="DM Mono Labels"/>
                <a:ea typeface="DM Mono Labels"/>
                <a:cs typeface="DM Mono Labels"/>
              </a:rPr>
              <a:t>VISUAL DIRECTION: PIN &amp; PAPER · ZARA ZHANG · MIT</a:t>
            </a:r>
          </a:p>
        </p:txBody>
      </p:sp>
    </p:spTree>
    <p:extLst>
      <p:ext uri="{BB962C8B-B14F-4D97-AF65-F5344CB8AC3E}">
        <p14:creationId xmlns:p14="http://schemas.microsoft.com/office/powerpoint/2010/main" val="1930895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2026-07-25T15:50:37.6620000Z</dcterms:created>
  <dcterms:modified xsi:type="dcterms:W3CDTF">2026-07-25T15:50:37.6620000Z</dcterms:modified>
</coreProperties>
</file>