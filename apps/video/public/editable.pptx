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fntdata" ContentType="application/x-fontdata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2997a00c2f403d" /><Relationship Type="http://schemas.openxmlformats.org/officeDocument/2006/relationships/extended-properties" Target="/docProps/app.xml" Id="R869c5bc9c7b94063" /><Relationship Type="http://schemas.openxmlformats.org/officeDocument/2006/relationships/officeDocument" Target="/ppt/presentation.xml" Id="R47646dd72dd143d1" /></Relationships>
</file>

<file path=ppt/presentation.xml><?xml version="1.0" encoding="utf-8"?>
<p:presentation xmlns:p="http://schemas.openxmlformats.org/presentationml/2006/main" embedTrueTypeFonts="1">
  <p:sldMasterIdLst>
    <p:sldMasterId xmlns:r="http://schemas.openxmlformats.org/officeDocument/2006/relationships" id="2147483648" r:id="R249aecd27dfc47f6"/>
  </p:sldMasterIdLst>
  <p:notesMasterIdLst>
    <p:notesMasterId xmlns:r="http://schemas.openxmlformats.org/officeDocument/2006/relationships" r:id="Ra1a9027d24cb41c8"/>
  </p:notesMasterIdLst>
  <p:sldIdLst>
    <p:sldId xmlns:r="http://schemas.openxmlformats.org/officeDocument/2006/relationships" id="256" r:id="Rec5fe40e26434537"/>
    <p:sldId xmlns:r="http://schemas.openxmlformats.org/officeDocument/2006/relationships" id="257" r:id="Rfb61393f07984605"/>
    <p:sldId xmlns:r="http://schemas.openxmlformats.org/officeDocument/2006/relationships" id="258" r:id="R3b1d5d8699cd4102"/>
    <p:sldId xmlns:r="http://schemas.openxmlformats.org/officeDocument/2006/relationships" id="259" r:id="R5e217bab01e14d81"/>
    <p:sldId xmlns:r="http://schemas.openxmlformats.org/officeDocument/2006/relationships" id="260" r:id="R43a65bfad5d34fd6"/>
    <p:sldId xmlns:r="http://schemas.openxmlformats.org/officeDocument/2006/relationships" id="261" r:id="Re8d46aa4226a476a"/>
    <p:sldId xmlns:r="http://schemas.openxmlformats.org/officeDocument/2006/relationships" id="262" r:id="Red1229e6bbf14f03"/>
    <p:sldId xmlns:r="http://schemas.openxmlformats.org/officeDocument/2006/relationships" id="263" r:id="Re8b4a70a2af14412"/>
    <p:sldId xmlns:r="http://schemas.openxmlformats.org/officeDocument/2006/relationships" id="264" r:id="R12f3aa0cb9ab4081"/>
    <p:sldId xmlns:r="http://schemas.openxmlformats.org/officeDocument/2006/relationships" id="265" r:id="R7c28c177401642c8"/>
  </p:sldIdLst>
  <p:sldSz cx="18288000" cy="10287000"/>
  <p:notesSz cx="6858000" cy="9144000"/>
  <p:embeddedFontLst>
    <p:embeddedFont>
      <p:font typeface="Source Serif 4" pitchFamily="18" charset="0"/>
      <p:regular xmlns:r="http://schemas.openxmlformats.org/officeDocument/2006/relationships" r:id="rFont1"/>
    </p:embeddedFont>
    <p:embeddedFont>
      <p:font typeface="Source Serif 4 Medium" pitchFamily="18" charset="0"/>
      <p:regular xmlns:r="http://schemas.openxmlformats.org/officeDocument/2006/relationships" r:id="rFont2"/>
    </p:embeddedFont>
    <p:embeddedFont>
      <p:font typeface="JetBrains Mono Medium" pitchFamily="49" charset="0"/>
      <p:regular xmlns:r="http://schemas.openxmlformats.org/officeDocument/2006/relationships" r:id="rFont3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fddd9629f84101" /><Relationship Type="http://schemas.openxmlformats.org/officeDocument/2006/relationships/slideMaster" Target="/ppt/slideMasters/slideMaster1.xml" Id="R249aecd27dfc47f6" /><Relationship Type="http://schemas.openxmlformats.org/officeDocument/2006/relationships/notesMaster" Target="/ppt/notesMasters/notesMaster1.xml" Id="Ra1a9027d24cb41c8" /><Relationship Type="http://schemas.openxmlformats.org/officeDocument/2006/relationships/presProps" Target="/ppt/presProps.xml" Id="R252cbf9c8d02454e" /><Relationship Type="http://schemas.openxmlformats.org/officeDocument/2006/relationships/tableStyles" Target="/ppt/tableStyles.xml" Id="R3d89bba2a52b4dab" /><Relationship Type="http://schemas.openxmlformats.org/officeDocument/2006/relationships/slide" Target="/ppt/slides/slide1.xml" Id="Rec5fe40e26434537" /><Relationship Type="http://schemas.openxmlformats.org/officeDocument/2006/relationships/slide" Target="/ppt/slides/slide2.xml" Id="Rfb61393f07984605" /><Relationship Type="http://schemas.openxmlformats.org/officeDocument/2006/relationships/slide" Target="/ppt/slides/slide3.xml" Id="R3b1d5d8699cd4102" /><Relationship Type="http://schemas.openxmlformats.org/officeDocument/2006/relationships/slide" Target="/ppt/slides/slide4.xml" Id="R5e217bab01e14d81" /><Relationship Type="http://schemas.openxmlformats.org/officeDocument/2006/relationships/slide" Target="/ppt/slides/slide5.xml" Id="R43a65bfad5d34fd6" /><Relationship Type="http://schemas.openxmlformats.org/officeDocument/2006/relationships/slide" Target="/ppt/slides/slide6.xml" Id="Re8d46aa4226a476a" /><Relationship Type="http://schemas.openxmlformats.org/officeDocument/2006/relationships/slide" Target="/ppt/slides/slide7.xml" Id="Red1229e6bbf14f03" /><Relationship Type="http://schemas.openxmlformats.org/officeDocument/2006/relationships/slide" Target="/ppt/slides/slide8.xml" Id="Re8b4a70a2af14412" /><Relationship Type="http://schemas.openxmlformats.org/officeDocument/2006/relationships/slide" Target="/ppt/slides/slide9.xml" Id="R12f3aa0cb9ab4081" /><Relationship Type="http://schemas.openxmlformats.org/officeDocument/2006/relationships/slide" Target="/ppt/slides/slide10.xml" Id="R7c28c177401642c8" /><Relationship Type="http://schemas.openxmlformats.org/officeDocument/2006/relationships/font" Target="fonts/font1.fntdata" Id="rFont1" /><Relationship Type="http://schemas.openxmlformats.org/officeDocument/2006/relationships/font" Target="fonts/font2.fntdata" Id="rFont2" /><Relationship Type="http://schemas.openxmlformats.org/officeDocument/2006/relationships/font" Target="fonts/font3.fntdata" Id="rFont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aefc14abea47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JetBrains Mono Medium"/>
        <a:ea typeface="Calibri Light"/>
        <a:cs typeface="Calibri Light"/>
      </a:majorFont>
      <a:minorFont>
        <a:latin typeface="JetBrains Mono Medium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806a20301d4c68" /><Relationship Type="http://schemas.openxmlformats.org/officeDocument/2006/relationships/notesMaster" Target="/ppt/notesMasters/notesMaster1.xml" Id="R6fe6a36b662a42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d0d2ea671c42df" /><Relationship Type="http://schemas.openxmlformats.org/officeDocument/2006/relationships/notesMaster" Target="/ppt/notesMasters/notesMaster1.xml" Id="R6f155378d93345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4bb6ce4d2d4a67" /><Relationship Type="http://schemas.openxmlformats.org/officeDocument/2006/relationships/notesMaster" Target="/ppt/notesMasters/notesMaster1.xml" Id="Rd2b7f8acef2549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f09de38c9145cd" /><Relationship Type="http://schemas.openxmlformats.org/officeDocument/2006/relationships/notesMaster" Target="/ppt/notesMasters/notesMaster1.xml" Id="R4842131e1cff46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d1bcdde13445e9" /><Relationship Type="http://schemas.openxmlformats.org/officeDocument/2006/relationships/notesMaster" Target="/ppt/notesMasters/notesMaster1.xml" Id="R51ad0c18cb1e48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1e19822aa444a9" /><Relationship Type="http://schemas.openxmlformats.org/officeDocument/2006/relationships/notesMaster" Target="/ppt/notesMasters/notesMaster1.xml" Id="R0b77191634fc4f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7e67d7812845ba" /><Relationship Type="http://schemas.openxmlformats.org/officeDocument/2006/relationships/notesMaster" Target="/ppt/notesMasters/notesMaster1.xml" Id="Ra36e85ec530549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6d329deca94d5d" /><Relationship Type="http://schemas.openxmlformats.org/officeDocument/2006/relationships/notesMaster" Target="/ppt/notesMasters/notesMaster1.xml" Id="R551bd26d09a44d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8010988db642fd" /><Relationship Type="http://schemas.openxmlformats.org/officeDocument/2006/relationships/notesMaster" Target="/ppt/notesMasters/notesMaster1.xml" Id="R38c212c0a4464f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31b0faac7b4d81" /><Relationship Type="http://schemas.openxmlformats.org/officeDocument/2006/relationships/notesMaster" Target="/ppt/notesMasters/notesMaster1.xml" Id="R9b3bf03cb6c549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Replace the studio name, presenter and year directly in PowerPoint.</a:t>
            </a:r>
          </a:p>
          <a:p xmlns:a="http://schemas.openxmlformats.org/drawingml/2006/main">
            <a:r>
              <a:t>All objects on this slide are native editable text and shapes.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table of contents. Every tile is editable and can be recolored or reordered.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opener: set the context before presenting the KPIs.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KPI values. Replace them with real figures; the numbers and descriptions are editable 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Native editable PowerPoint chart. Double-click the chart to edit its sample data.</a:t>
            </a:r>
          </a:p>
          <a:p xmlns:a="http://schemas.openxmlformats.org/drawingml/2006/main">
            <a:r>
              <a:t>Sample values: this year 62, 74, 81, 88, 92; last year 48, 55, 67, 72, 78.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turn the chart into a clear interpretation rather than presenting numbers alone.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Native editable PowerPoint doughnut chart using illustrative revenue-mix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 editable roadmap cards. Keep the order or duplicate a card for a fourth step.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executive synthesis: three conclusions, one clear implication.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statement. Replace the footer with the meeting date or next review milestone.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a2271c876349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5e10a912b94bb9" /><Relationship Type="http://schemas.openxmlformats.org/officeDocument/2006/relationships/slideLayout" Target="/ppt/slideLayouts/slideLayout1.xml" Id="R1e68991c6a3240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68991c6a3240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JetBrains Mono Medium"/>
        <a:ea typeface="Calibri Light"/>
        <a:cs typeface="Calibri Light"/>
      </a:majorFont>
      <a:minorFont>
        <a:latin typeface="JetBrains Mono Medium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3635623f2843d8" /><Relationship Type="http://schemas.openxmlformats.org/officeDocument/2006/relationships/notesSlide" Target="/ppt/notesSlides/notesSlide1.xml" Id="R67fd137efc8c49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ea3b52f154c8f" /><Relationship Type="http://schemas.openxmlformats.org/officeDocument/2006/relationships/notesSlide" Target="/ppt/notesSlides/notesSlide2.xml" Id="R14371594a96645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35aa0d91d44ea" /><Relationship Type="http://schemas.openxmlformats.org/officeDocument/2006/relationships/notesSlide" Target="/ppt/notesSlides/notesSlide3.xml" Id="Rda430f50006448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04d3bc42e4f8b" /><Relationship Type="http://schemas.openxmlformats.org/officeDocument/2006/relationships/notesSlide" Target="/ppt/notesSlides/notesSlide4.xml" Id="R3bd65364204645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4d56c479d0467d" /><Relationship Type="http://schemas.openxmlformats.org/officeDocument/2006/relationships/chart" Target="/ppt/slides/charts/chart1.xml" Id="Rdb87510a9a284c6d" /><Relationship Type="http://schemas.openxmlformats.org/officeDocument/2006/relationships/notesSlide" Target="/ppt/notesSlides/notesSlide5.xml" Id="Re6972f99dd1e4b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b8519caa74410" /><Relationship Type="http://schemas.openxmlformats.org/officeDocument/2006/relationships/notesSlide" Target="/ppt/notesSlides/notesSlide6.xml" Id="R2beefecf07f24e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e901da49784520" /><Relationship Type="http://schemas.openxmlformats.org/officeDocument/2006/relationships/chart" Target="/ppt/slides/charts/chart2.xml" Id="R04508c234bb24022" /><Relationship Type="http://schemas.openxmlformats.org/officeDocument/2006/relationships/notesSlide" Target="/ppt/notesSlides/notesSlide7.xml" Id="R9513a36adb284b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f0b1a266740ff" /><Relationship Type="http://schemas.openxmlformats.org/officeDocument/2006/relationships/notesSlide" Target="/ppt/notesSlides/notesSlide8.xml" Id="Rb7df82e96fba44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6846c1b33c4477" /><Relationship Type="http://schemas.openxmlformats.org/officeDocument/2006/relationships/notesSlide" Target="/ppt/notesSlides/notesSlide9.xml" Id="Rb747469d195c48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97c99ad594c2e" /><Relationship Type="http://schemas.openxmlformats.org/officeDocument/2006/relationships/notesSlide" Target="/ppt/notesSlides/notesSlide10.xml" Id="Rf419bba958494a5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THIS YEAR</c:v>
          </c:tx>
          <c:spPr>
            <a:solidFill xmlns:a="http://schemas.openxmlformats.org/drawingml/2006/main">
              <a:srgbClr val="E89CB1"/>
            </a:solidFill>
            <a:ln xmlns:a="http://schemas.openxmlformats.org/drawingml/2006/main" w="0">
              <a:solidFill>
                <a:srgbClr val="E89CB1"/>
              </a:solidFill>
              <a:prstDash val="solid"/>
            </a:ln>
          </c:spPr>
          <c:cat>
            <c:strLit>
              <c:ptCount val="5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YTD</c:v>
              </c:pt>
            </c:strLit>
          </c:cat>
          <c:val>
            <c:numLit>
              <c:formatCode>General</c:formatCode>
              <c:ptCount val="5"/>
              <c:pt idx="0">
                <c:v>62</c:v>
              </c:pt>
              <c:pt idx="1">
                <c:v>74</c:v>
              </c:pt>
              <c:pt idx="2">
                <c:v>81</c:v>
              </c:pt>
              <c:pt idx="3">
                <c:v>88</c:v>
              </c:pt>
              <c:pt idx="4">
                <c:v>92</c:v>
              </c:pt>
            </c:numLit>
          </c:val>
        </c:ser>
        <c:ser>
          <c:idx val="1"/>
          <c:order val="1"/>
          <c:tx>
            <c:v>LAST YEAR</c:v>
          </c:tx>
          <c:spPr>
            <a:solidFill xmlns:a="http://schemas.openxmlformats.org/drawingml/2006/main">
              <a:srgbClr val="EFE7D4"/>
            </a:solidFill>
            <a:ln xmlns:a="http://schemas.openxmlformats.org/drawingml/2006/main" w="0">
              <a:solidFill>
                <a:srgbClr val="EFE7D4"/>
              </a:solidFill>
              <a:prstDash val="solid"/>
            </a:ln>
          </c:spPr>
          <c:cat>
            <c:strLit>
              <c:ptCount val="5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YTD</c:v>
              </c:pt>
            </c:strLit>
          </c:cat>
          <c:val>
            <c:numLit>
              <c:formatCode>General</c:formatCode>
              <c:ptCount val="5"/>
              <c:pt idx="0">
                <c:v>48</c:v>
              </c:pt>
              <c:pt idx="1">
                <c:v>55</c:v>
              </c:pt>
              <c:pt idx="2">
                <c:v>67</c:v>
              </c:pt>
              <c:pt idx="3">
                <c:v>72</c:v>
              </c:pt>
              <c:pt idx="4">
                <c:v>78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0">
                  <a:solidFill>
                    <a:srgbClr val="EFE7D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FE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FE7D4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FE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FE7D4"/>
                </a:solidFill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2E4A2A"/>
        </a:solidFill>
        <a:ln xmlns:a="http://schemas.openxmlformats.org/drawingml/2006/main" w="0">
          <a:noFill/>
          <a:prstDash val="solid"/>
        </a:ln>
      </c:spPr>
    </c:plotArea>
    <c:legend>
      <c:legendPos val="tr"/>
      <c:overlay val="0"/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EFE7D4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2E4A2A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Revenue mix</c:v>
          </c:tx>
          <c:dPt>
            <c:idx val="0"/>
            <c:spPr>
              <a:solidFill xmlns:a="http://schemas.openxmlformats.org/drawingml/2006/main">
                <a:srgbClr val="243A21"/>
              </a:solidFill>
              <a:ln xmlns:a="http://schemas.openxmlformats.org/drawingml/2006/main" w="0">
                <a:solidFill>
                  <a:srgbClr val="243A21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EFE7D4"/>
              </a:solidFill>
              <a:ln xmlns:a="http://schemas.openxmlformats.org/drawingml/2006/main" w="0">
                <a:solidFill>
                  <a:srgbClr val="EFE7D4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3A5A36"/>
              </a:solidFill>
              <a:ln xmlns:a="http://schemas.openxmlformats.org/drawingml/2006/main" w="0">
                <a:solidFill>
                  <a:srgbClr val="3A5A36"/>
                </a:solidFill>
                <a:prstDash val="solid"/>
              </a:ln>
            </c:spPr>
          </c:dPt>
          <c:cat>
            <c:strLit>
              <c:ptCount val="3"/>
              <c:pt idx="0">
                <c:v>CORE</c:v>
              </c:pt>
              <c:pt idx="1">
                <c:v>EXPANSION</c:v>
              </c:pt>
              <c:pt idx="2">
                <c:v>NEW BETS</c:v>
              </c:pt>
            </c:strLit>
          </c:cat>
          <c:val>
            <c:numLit>
              <c:formatCode>General</c:formatCode>
              <c:ptCount val="3"/>
              <c:pt idx="0">
                <c:v>44</c:v>
              </c:pt>
              <c:pt idx="1">
                <c:v>31</c:v>
              </c:pt>
              <c:pt idx="2">
                <c:v>25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0">
                  <a:solidFill>
                    <a:srgbClr val="243A21"/>
                  </a:solidFill>
                </a:defRPr>
              </a:pPr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showLeaderLines val="0"/>
        </c:dLbls>
        <c:firstSliceAng val="270"/>
        <c:holeSize val="65"/>
      </c:doughnutChart>
      <c:spPr>
        <a:solidFill xmlns:a="http://schemas.openxmlformats.org/drawingml/2006/main">
          <a:srgbClr val="E89CB1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E89CB1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E4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1A811A-4F0D-4757-9536-7FD03B59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763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A PRESENTATION TEMPLATE</a:t>
            </a:r>
          </a:p>
        </p:txBody>
      </p:sp>
      <p:sp>
        <p:nvSpPr>
          <p:cNvPr id="2" name="monogram-circle">
            <a:extLst xmlns:a="http://schemas.openxmlformats.org/drawingml/2006/main">
              <a:ext uri="{FF2B5EF4-FFF2-40B4-BE49-F238E27FC236}">
                <a16:creationId xmlns:a16="http://schemas.microsoft.com/office/drawing/2014/main" id="{4FEE5192-601D-4D8E-BBAC-AD6705B5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4875" y="619125"/>
            <a:ext cx="990600" cy="990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9CB1"/>
            </a:solidFill>
            <a:prstDash val="solid"/>
          </a:ln>
        </p:spPr>
      </p:sp>
      <p:sp>
        <p:nvSpPr>
          <p:cNvPr id="3" name="monogram-text">
            <a:extLst xmlns:a="http://schemas.openxmlformats.org/drawingml/2006/main">
              <a:ext uri="{FF2B5EF4-FFF2-40B4-BE49-F238E27FC236}">
                <a16:creationId xmlns:a16="http://schemas.microsoft.com/office/drawing/2014/main" id="{3BF27655-936F-4329-8704-A0790CD9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9239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01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344727F-91D4-4D45-ADF4-170343EB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66875"/>
            <a:ext cx="11239500" cy="628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375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12375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rPr>
              <a:t>Quarterly</a:t>
            </a:r>
          </a:p>
          <a:p xmlns:a="http://schemas.openxmlformats.org/drawingml/2006/main">
            <a:pPr algn="l">
              <a:defRPr sz="12375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12375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rPr>
              <a:t>Review</a:t>
            </a:r>
          </a:p>
          <a:p xmlns:a="http://schemas.openxmlformats.org/drawingml/2006/main">
            <a:pPr algn="l">
              <a:defRPr sz="12375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12375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rPr>
              <a:t>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B2BA6B-83C5-42F6-B78F-DD1698CD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763000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STUDIO PLACEHOLDER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F8A29-3295-46D0-9B01-4CC0E89B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876300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PRESENTED BY NAME PLACEHOLDER</a:t>
            </a:r>
          </a:p>
        </p:txBody>
      </p:sp>
    </p:spTree>
    <p:extLst>
      <p:ext uri="{BB962C8B-B14F-4D97-AF65-F5344CB8AC3E}">
        <p14:creationId xmlns:p14="http://schemas.microsoft.com/office/powerpoint/2010/main" val="12070975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FE7D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genda-title">
            <a:extLst xmlns:a="http://schemas.openxmlformats.org/drawingml/2006/main">
              <a:ext uri="{FF2B5EF4-FFF2-40B4-BE49-F238E27FC236}">
                <a16:creationId xmlns:a16="http://schemas.microsoft.com/office/drawing/2014/main" id="{3C2BBC55-FDC3-4CB5-ACFF-111F12E0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"/>
            <a:ext cx="5905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0" i="0">
                <a:solidFill>
                  <a:srgbClr val="2E4A2A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5400" b="0" i="0">
                <a:solidFill>
                  <a:srgbClr val="2E4A2A"/>
                </a:solidFill>
                <a:latin typeface="Source Serif 4 Medium"/>
                <a:ea typeface="Source Serif 4 Medium"/>
                <a:cs typeface="Source Serif 4 Medium"/>
              </a:rPr>
              <a:t>Agenda.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32958-72E7-45DA-A5CE-E9AB99F5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810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rPr>
              <a:t>FIVE TOPICS · NINETY MINUTES</a:t>
            </a:r>
          </a:p>
        </p:txBody>
      </p:sp>
      <p:sp>
        <p:nvSpPr>
          <p:cNvPr id="3" name="tile-01">
            <a:extLst xmlns:a="http://schemas.openxmlformats.org/drawingml/2006/main">
              <a:ext uri="{FF2B5EF4-FFF2-40B4-BE49-F238E27FC236}">
                <a16:creationId xmlns:a16="http://schemas.microsoft.com/office/drawing/2014/main" id="{AFC3ED2F-D027-455C-9842-71D9BCC0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66875"/>
            <a:ext cx="6191250" cy="6477000"/>
          </a:xfrm>
          <a:prstGeom xmlns:a="http://schemas.openxmlformats.org/drawingml/2006/main" prst="roundRect">
            <a:avLst>
              <a:gd name="adj" fmla="val 1231"/>
            </a:avLst>
          </a:prstGeom>
          <a:solidFill xmlns:a="http://schemas.openxmlformats.org/drawingml/2006/main">
            <a:srgbClr val="2E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le-01-ordinal">
            <a:extLst xmlns:a="http://schemas.openxmlformats.org/drawingml/2006/main">
              <a:ext uri="{FF2B5EF4-FFF2-40B4-BE49-F238E27FC236}">
                <a16:creationId xmlns:a16="http://schemas.microsoft.com/office/drawing/2014/main" id="{5E982AD4-9CE6-4327-87DD-B02C5355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9547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01</a:t>
            </a:r>
          </a:p>
        </p:txBody>
      </p:sp>
      <p:sp>
        <p:nvSpPr>
          <p:cNvPr id="5" name="tile-01-title">
            <a:extLst xmlns:a="http://schemas.openxmlformats.org/drawingml/2006/main">
              <a:ext uri="{FF2B5EF4-FFF2-40B4-BE49-F238E27FC236}">
                <a16:creationId xmlns:a16="http://schemas.microsoft.com/office/drawing/2014/main" id="{89949578-E516-40BC-B0AC-683C001E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71725"/>
            <a:ext cx="5657850" cy="528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100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5100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rPr>
              <a:t>Where</a:t>
            </a:r>
          </a:p>
          <a:p xmlns:a="http://schemas.openxmlformats.org/drawingml/2006/main">
            <a:pPr algn="l">
              <a:defRPr sz="5100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5100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rPr>
              <a:t>we stand</a:t>
            </a:r>
          </a:p>
          <a:p xmlns:a="http://schemas.openxmlformats.org/drawingml/2006/main">
            <a:pPr algn="l">
              <a:defRPr sz="5100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5100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rPr>
              <a:t>today.</a:t>
            </a:r>
          </a:p>
        </p:txBody>
      </p:sp>
      <p:sp>
        <p:nvSpPr>
          <p:cNvPr id="6" name="tile-01-footer">
            <a:extLst xmlns:a="http://schemas.openxmlformats.org/drawingml/2006/main">
              <a:ext uri="{FF2B5EF4-FFF2-40B4-BE49-F238E27FC236}">
                <a16:creationId xmlns:a16="http://schemas.microsoft.com/office/drawing/2014/main" id="{54ED632F-EC02-44F7-895D-31DE8D67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7705725"/>
            <a:ext cx="565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20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CONTEXT</a:t>
            </a:r>
          </a:p>
        </p:txBody>
      </p:sp>
      <p:sp>
        <p:nvSpPr>
          <p:cNvPr id="7" name="tile-02">
            <a:extLst xmlns:a="http://schemas.openxmlformats.org/drawingml/2006/main">
              <a:ext uri="{FF2B5EF4-FFF2-40B4-BE49-F238E27FC236}">
                <a16:creationId xmlns:a16="http://schemas.microsoft.com/office/drawing/2014/main" id="{1FD89519-B10D-4D72-AEF7-2DC0452D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666875"/>
            <a:ext cx="4143375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89C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le-02-ordinal">
            <a:extLst xmlns:a="http://schemas.openxmlformats.org/drawingml/2006/main">
              <a:ext uri="{FF2B5EF4-FFF2-40B4-BE49-F238E27FC236}">
                <a16:creationId xmlns:a16="http://schemas.microsoft.com/office/drawing/2014/main" id="{A6C74D85-0F03-436B-ABC2-3228C4A9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89547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rPr>
              <a:t>02</a:t>
            </a:r>
          </a:p>
        </p:txBody>
      </p:sp>
      <p:sp>
        <p:nvSpPr>
          <p:cNvPr id="9" name="tile-02-title">
            <a:extLst xmlns:a="http://schemas.openxmlformats.org/drawingml/2006/main">
              <a:ext uri="{FF2B5EF4-FFF2-40B4-BE49-F238E27FC236}">
                <a16:creationId xmlns:a16="http://schemas.microsoft.com/office/drawing/2014/main" id="{580BB4A2-1988-4F2D-996D-0447B38E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371725"/>
            <a:ext cx="360997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0" i="0">
                <a:solidFill>
                  <a:srgbClr val="243A2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3450" b="0" i="0">
                <a:solidFill>
                  <a:srgbClr val="243A21"/>
                </a:solidFill>
                <a:latin typeface="Source Serif 4 Medium"/>
                <a:ea typeface="Source Serif 4 Medium"/>
                <a:cs typeface="Source Serif 4 Medium"/>
              </a:rPr>
              <a:t>The big shift.</a:t>
            </a:r>
          </a:p>
        </p:txBody>
      </p:sp>
      <p:sp>
        <p:nvSpPr>
          <p:cNvPr id="10" name="tile-02-footer">
            <a:extLst xmlns:a="http://schemas.openxmlformats.org/drawingml/2006/main">
              <a:ext uri="{FF2B5EF4-FFF2-40B4-BE49-F238E27FC236}">
                <a16:creationId xmlns:a16="http://schemas.microsoft.com/office/drawing/2014/main" id="{D19EF981-2952-4980-BEBF-4528FF0A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276725"/>
            <a:ext cx="3609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20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rPr>
              <a:t>INSIGHT</a:t>
            </a:r>
          </a:p>
        </p:txBody>
      </p:sp>
      <p:sp>
        <p:nvSpPr>
          <p:cNvPr id="11" name="tile-03">
            <a:extLst xmlns:a="http://schemas.openxmlformats.org/drawingml/2006/main">
              <a:ext uri="{FF2B5EF4-FFF2-40B4-BE49-F238E27FC236}">
                <a16:creationId xmlns:a16="http://schemas.microsoft.com/office/drawing/2014/main" id="{1C52D5F9-BB7A-49DE-B857-AD46606E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1666875"/>
            <a:ext cx="5191125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6DCC4"/>
          </a:solidFill>
          <a:ln xmlns:a="http://schemas.openxmlformats.org/drawingml/2006/main" w="19050">
            <a:solidFill>
              <a:srgbClr val="2E4A2A"/>
            </a:solidFill>
            <a:prstDash val="solid"/>
          </a:ln>
        </p:spPr>
      </p:sp>
      <p:sp>
        <p:nvSpPr>
          <p:cNvPr id="12" name="tile-03-ordinal">
            <a:extLst xmlns:a="http://schemas.openxmlformats.org/drawingml/2006/main">
              <a:ext uri="{FF2B5EF4-FFF2-40B4-BE49-F238E27FC236}">
                <a16:creationId xmlns:a16="http://schemas.microsoft.com/office/drawing/2014/main" id="{14440D32-1D10-48C8-8DDE-917EB75E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0575" y="189547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rPr>
              <a:t>03</a:t>
            </a:r>
          </a:p>
        </p:txBody>
      </p:sp>
      <p:sp>
        <p:nvSpPr>
          <p:cNvPr id="13" name="tile-03-title">
            <a:extLst xmlns:a="http://schemas.openxmlformats.org/drawingml/2006/main">
              <a:ext uri="{FF2B5EF4-FFF2-40B4-BE49-F238E27FC236}">
                <a16:creationId xmlns:a16="http://schemas.microsoft.com/office/drawing/2014/main" id="{2A5FDB98-AA9A-430B-B3C3-1E6623C4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0575" y="2371725"/>
            <a:ext cx="465772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0" i="0">
                <a:solidFill>
                  <a:srgbClr val="2E4A2A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3450" b="0" i="0">
                <a:solidFill>
                  <a:srgbClr val="2E4A2A"/>
                </a:solidFill>
                <a:latin typeface="Source Serif 4 Medium"/>
                <a:ea typeface="Source Serif 4 Medium"/>
                <a:cs typeface="Source Serif 4 Medium"/>
              </a:rPr>
              <a:t>By the numbers.</a:t>
            </a:r>
          </a:p>
        </p:txBody>
      </p:sp>
      <p:sp>
        <p:nvSpPr>
          <p:cNvPr id="14" name="tile-03-footer">
            <a:extLst xmlns:a="http://schemas.openxmlformats.org/drawingml/2006/main">
              <a:ext uri="{FF2B5EF4-FFF2-40B4-BE49-F238E27FC236}">
                <a16:creationId xmlns:a16="http://schemas.microsoft.com/office/drawing/2014/main" id="{05D8496B-E48C-4FFA-9E52-2F0B3E20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0575" y="4276725"/>
            <a:ext cx="4657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20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rPr>
              <a:t>DATA</a:t>
            </a:r>
          </a:p>
        </p:txBody>
      </p:sp>
      <p:sp>
        <p:nvSpPr>
          <p:cNvPr id="15" name="tile-04">
            <a:extLst xmlns:a="http://schemas.openxmlformats.org/drawingml/2006/main">
              <a:ext uri="{FF2B5EF4-FFF2-40B4-BE49-F238E27FC236}">
                <a16:creationId xmlns:a16="http://schemas.microsoft.com/office/drawing/2014/main" id="{B2907D5C-FDC1-4521-897D-969D595E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953000"/>
            <a:ext cx="4143375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3A5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ile-04-ordinal">
            <a:extLst xmlns:a="http://schemas.openxmlformats.org/drawingml/2006/main">
              <a:ext uri="{FF2B5EF4-FFF2-40B4-BE49-F238E27FC236}">
                <a16:creationId xmlns:a16="http://schemas.microsoft.com/office/drawing/2014/main" id="{DD6F1FE4-3CC3-44D1-A797-D8F858EB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1816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04</a:t>
            </a:r>
          </a:p>
        </p:txBody>
      </p:sp>
      <p:sp>
        <p:nvSpPr>
          <p:cNvPr id="17" name="tile-04-title">
            <a:extLst xmlns:a="http://schemas.openxmlformats.org/drawingml/2006/main">
              <a:ext uri="{FF2B5EF4-FFF2-40B4-BE49-F238E27FC236}">
                <a16:creationId xmlns:a16="http://schemas.microsoft.com/office/drawing/2014/main" id="{6F713DC1-146F-4DFE-A911-98220F2F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657850"/>
            <a:ext cx="36099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3150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rPr>
              <a:t>How we'll get there.</a:t>
            </a:r>
          </a:p>
        </p:txBody>
      </p:sp>
      <p:sp>
        <p:nvSpPr>
          <p:cNvPr id="18" name="tile-04-footer">
            <a:extLst xmlns:a="http://schemas.openxmlformats.org/drawingml/2006/main">
              <a:ext uri="{FF2B5EF4-FFF2-40B4-BE49-F238E27FC236}">
                <a16:creationId xmlns:a16="http://schemas.microsoft.com/office/drawing/2014/main" id="{6A071F27-0CD3-4988-BC26-7FA0053C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7705725"/>
            <a:ext cx="3609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20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PLAN</a:t>
            </a:r>
          </a:p>
        </p:txBody>
      </p:sp>
      <p:sp>
        <p:nvSpPr>
          <p:cNvPr id="19" name="tile-05">
            <a:extLst xmlns:a="http://schemas.openxmlformats.org/drawingml/2006/main">
              <a:ext uri="{FF2B5EF4-FFF2-40B4-BE49-F238E27FC236}">
                <a16:creationId xmlns:a16="http://schemas.microsoft.com/office/drawing/2014/main" id="{032D3F2D-1FEF-4DBB-9E1E-5CAB3709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4953000"/>
            <a:ext cx="5191125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E89C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ile-05-ordinal">
            <a:extLst xmlns:a="http://schemas.openxmlformats.org/drawingml/2006/main">
              <a:ext uri="{FF2B5EF4-FFF2-40B4-BE49-F238E27FC236}">
                <a16:creationId xmlns:a16="http://schemas.microsoft.com/office/drawing/2014/main" id="{98584AE8-6C1E-447B-AC66-FE83B799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0575" y="51816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rPr>
              <a:t>05</a:t>
            </a:r>
          </a:p>
        </p:txBody>
      </p:sp>
      <p:sp>
        <p:nvSpPr>
          <p:cNvPr id="21" name="tile-05-title">
            <a:extLst xmlns:a="http://schemas.openxmlformats.org/drawingml/2006/main">
              <a:ext uri="{FF2B5EF4-FFF2-40B4-BE49-F238E27FC236}">
                <a16:creationId xmlns:a16="http://schemas.microsoft.com/office/drawing/2014/main" id="{EA32CA79-D4CB-4D46-A568-710C7053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0575" y="5657850"/>
            <a:ext cx="46577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243A2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3150" b="0" i="0">
                <a:solidFill>
                  <a:srgbClr val="243A21"/>
                </a:solidFill>
                <a:latin typeface="Source Serif 4 Medium"/>
                <a:ea typeface="Source Serif 4 Medium"/>
                <a:cs typeface="Source Serif 4 Medium"/>
              </a:rPr>
              <a:t>What it adds up to.</a:t>
            </a:r>
          </a:p>
        </p:txBody>
      </p:sp>
      <p:sp>
        <p:nvSpPr>
          <p:cNvPr id="22" name="tile-05-footer">
            <a:extLst xmlns:a="http://schemas.openxmlformats.org/drawingml/2006/main">
              <a:ext uri="{FF2B5EF4-FFF2-40B4-BE49-F238E27FC236}">
                <a16:creationId xmlns:a16="http://schemas.microsoft.com/office/drawing/2014/main" id="{B3090F9A-84D5-46E2-88A1-1E462E13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0575" y="7705725"/>
            <a:ext cx="4657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20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rPr>
              <a:t>OUTCOMES</a:t>
            </a:r>
          </a:p>
        </p:txBody>
      </p:sp>
      <p:sp>
        <p:nvSpPr>
          <p:cNvPr id="23" name="footline-rule">
            <a:extLst xmlns:a="http://schemas.openxmlformats.org/drawingml/2006/main">
              <a:ext uri="{FF2B5EF4-FFF2-40B4-BE49-F238E27FC236}">
                <a16:creationId xmlns:a16="http://schemas.microsoft.com/office/drawing/2014/main" id="{81ABEA3C-C18F-4082-B09D-3FA81E68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334500"/>
            <a:ext cx="1600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ootline-left">
            <a:extLst xmlns:a="http://schemas.openxmlformats.org/drawingml/2006/main">
              <a:ext uri="{FF2B5EF4-FFF2-40B4-BE49-F238E27FC236}">
                <a16:creationId xmlns:a16="http://schemas.microsoft.com/office/drawing/2014/main" id="{22DA0B36-6E12-46D1-8982-D3950D9C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5440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rPr>
              <a:t>QUARTERLY REVIEW · CONTENTS</a:t>
            </a:r>
          </a:p>
        </p:txBody>
      </p:sp>
      <p:sp>
        <p:nvSpPr>
          <p:cNvPr id="25" name="footline-right">
            <a:extLst xmlns:a="http://schemas.openxmlformats.org/drawingml/2006/main">
              <a:ext uri="{FF2B5EF4-FFF2-40B4-BE49-F238E27FC236}">
                <a16:creationId xmlns:a16="http://schemas.microsoft.com/office/drawing/2014/main" id="{F207D2C0-B468-4168-A733-AC67B178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95440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rPr>
              <a:t>02 / 10</a:t>
            </a:r>
          </a:p>
        </p:txBody>
      </p:sp>
    </p:spTree>
    <p:extLst>
      <p:ext uri="{BB962C8B-B14F-4D97-AF65-F5344CB8AC3E}">
        <p14:creationId xmlns:p14="http://schemas.microsoft.com/office/powerpoint/2010/main" val="1546729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89CB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bar-label">
            <a:extLst xmlns:a="http://schemas.openxmlformats.org/drawingml/2006/main">
              <a:ext uri="{FF2B5EF4-FFF2-40B4-BE49-F238E27FC236}">
                <a16:creationId xmlns:a16="http://schemas.microsoft.com/office/drawing/2014/main" id="{DEE43469-8427-4AC6-8473-1445E8DD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667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rPr>
              <a:t>01 · WHERE WE STAND TODAY</a:t>
            </a:r>
          </a:p>
        </p:txBody>
      </p:sp>
      <p:sp>
        <p:nvSpPr>
          <p:cNvPr id="2" name="page-counter">
            <a:extLst xmlns:a="http://schemas.openxmlformats.org/drawingml/2006/main">
              <a:ext uri="{FF2B5EF4-FFF2-40B4-BE49-F238E27FC236}">
                <a16:creationId xmlns:a16="http://schemas.microsoft.com/office/drawing/2014/main" id="{16394CF5-6948-4CF6-A4C3-4F926DBD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6667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rPr>
              <a:t>03 / 10</a:t>
            </a:r>
          </a:p>
        </p:txBody>
      </p:sp>
      <p:sp>
        <p:nvSpPr>
          <p:cNvPr id="3" name="section-opener-title">
            <a:extLst xmlns:a="http://schemas.openxmlformats.org/drawingml/2006/main">
              <a:ext uri="{FF2B5EF4-FFF2-40B4-BE49-F238E27FC236}">
                <a16:creationId xmlns:a16="http://schemas.microsoft.com/office/drawing/2014/main" id="{22A03744-2746-46DB-A428-5F5402BA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15049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75" b="0" i="0">
                <a:solidFill>
                  <a:srgbClr val="243A2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7875" b="0" i="0">
                <a:solidFill>
                  <a:srgbClr val="243A21"/>
                </a:solidFill>
                <a:latin typeface="Source Serif 4 Medium"/>
                <a:ea typeface="Source Serif 4 Medium"/>
                <a:cs typeface="Source Serif 4 Medium"/>
              </a:rPr>
              <a:t>Momentum is real.</a:t>
            </a:r>
          </a:p>
          <a:p xmlns:a="http://schemas.openxmlformats.org/drawingml/2006/main">
            <a:pPr algn="l">
              <a:defRPr sz="7875" b="0" i="0">
                <a:solidFill>
                  <a:srgbClr val="243A2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7875" b="0" i="0">
                <a:solidFill>
                  <a:srgbClr val="243A21"/>
                </a:solidFill>
                <a:latin typeface="Source Serif 4 Medium"/>
                <a:ea typeface="Source Serif 4 Medium"/>
                <a:cs typeface="Source Serif 4 Medium"/>
              </a:rPr>
              <a:t>So is the work ahead.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ECF705-ACDE-4F40-AED2-3965E9D5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334125"/>
            <a:ext cx="1600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A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-opener-body">
            <a:extLst xmlns:a="http://schemas.openxmlformats.org/drawingml/2006/main">
              <a:ext uri="{FF2B5EF4-FFF2-40B4-BE49-F238E27FC236}">
                <a16:creationId xmlns:a16="http://schemas.microsoft.com/office/drawing/2014/main" id="{3DF1D374-A1C4-43DC-8FEE-986222A4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810375"/>
            <a:ext cx="1143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43A2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800" b="0" i="0">
                <a:solidFill>
                  <a:srgbClr val="243A21"/>
                </a:solidFill>
                <a:latin typeface="Source Serif 4"/>
                <a:ea typeface="Source Serif 4"/>
                <a:cs typeface="Source Serif 4"/>
              </a:rPr>
              <a:t>A stronger base gives us permission to be more selective about the next quarter.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F20D46-696C-4602-BD93-90C4578B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7153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rPr>
              <a:t>CONTEXT BEFORE CONCLUSIONS</a:t>
            </a:r>
          </a:p>
        </p:txBody>
      </p:sp>
      <p:sp>
        <p:nvSpPr>
          <p:cNvPr id="7" name="footline-rule">
            <a:extLst xmlns:a="http://schemas.openxmlformats.org/drawingml/2006/main">
              <a:ext uri="{FF2B5EF4-FFF2-40B4-BE49-F238E27FC236}">
                <a16:creationId xmlns:a16="http://schemas.microsoft.com/office/drawing/2014/main" id="{8BD9E0EA-073C-4394-9E65-961958EC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334500"/>
            <a:ext cx="1600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A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otline-left">
            <a:extLst xmlns:a="http://schemas.openxmlformats.org/drawingml/2006/main">
              <a:ext uri="{FF2B5EF4-FFF2-40B4-BE49-F238E27FC236}">
                <a16:creationId xmlns:a16="http://schemas.microsoft.com/office/drawing/2014/main" id="{FBF1E593-6E21-4228-848F-0C71A775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5440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rPr>
              <a:t>QUARTERLY REVIEW · CONTEXT</a:t>
            </a:r>
          </a:p>
        </p:txBody>
      </p:sp>
      <p:sp>
        <p:nvSpPr>
          <p:cNvPr id="9" name="footline-right">
            <a:extLst xmlns:a="http://schemas.openxmlformats.org/drawingml/2006/main">
              <a:ext uri="{FF2B5EF4-FFF2-40B4-BE49-F238E27FC236}">
                <a16:creationId xmlns:a16="http://schemas.microsoft.com/office/drawing/2014/main" id="{339AD013-B5C6-407B-9333-A2E1CD33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95440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rPr>
              <a:t>03 / 10</a:t>
            </a:r>
          </a:p>
        </p:txBody>
      </p:sp>
    </p:spTree>
    <p:extLst>
      <p:ext uri="{BB962C8B-B14F-4D97-AF65-F5344CB8AC3E}">
        <p14:creationId xmlns:p14="http://schemas.microsoft.com/office/powerpoint/2010/main" val="17445172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E4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bar-label">
            <a:extLst xmlns:a="http://schemas.openxmlformats.org/drawingml/2006/main">
              <a:ext uri="{FF2B5EF4-FFF2-40B4-BE49-F238E27FC236}">
                <a16:creationId xmlns:a16="http://schemas.microsoft.com/office/drawing/2014/main" id="{CC94867E-3FDD-4DBB-87EC-102ED99E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667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BY THE NUMBERS</a:t>
            </a:r>
          </a:p>
        </p:txBody>
      </p:sp>
      <p:sp>
        <p:nvSpPr>
          <p:cNvPr id="2" name="page-counter">
            <a:extLst xmlns:a="http://schemas.openxmlformats.org/drawingml/2006/main">
              <a:ext uri="{FF2B5EF4-FFF2-40B4-BE49-F238E27FC236}">
                <a16:creationId xmlns:a16="http://schemas.microsoft.com/office/drawing/2014/main" id="{F18B7C35-A0B9-419E-A499-ABFFF6BB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6667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04 / 10</a:t>
            </a:r>
          </a:p>
        </p:txBody>
      </p:sp>
      <p:sp>
        <p:nvSpPr>
          <p:cNvPr id="3" name="kpi-title">
            <a:extLst xmlns:a="http://schemas.openxmlformats.org/drawingml/2006/main">
              <a:ext uri="{FF2B5EF4-FFF2-40B4-BE49-F238E27FC236}">
                <a16:creationId xmlns:a16="http://schemas.microsoft.com/office/drawing/2014/main" id="{33B86745-F559-4668-A228-956C7E87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33500"/>
            <a:ext cx="1381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725" b="0" i="0">
                <a:solidFill>
                  <a:srgbClr val="EFE7D4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4725" b="0" i="0">
                <a:solidFill>
                  <a:srgbClr val="EFE7D4"/>
                </a:solidFill>
                <a:latin typeface="Source Serif 4 Medium"/>
                <a:ea typeface="Source Serif 4 Medium"/>
                <a:cs typeface="Source Serif 4 Medium"/>
              </a:rPr>
              <a:t>The year at a glance.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2DCD4-B653-4F2D-9CF4-2ED6FF95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1600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9C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kpi-label-1">
            <a:extLst xmlns:a="http://schemas.openxmlformats.org/drawingml/2006/main">
              <a:ext uri="{FF2B5EF4-FFF2-40B4-BE49-F238E27FC236}">
                <a16:creationId xmlns:a16="http://schemas.microsoft.com/office/drawing/2014/main" id="{02047A9E-A73C-4CAF-A3E0-776EEEF8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REVENUE GROWTH</a:t>
            </a:r>
          </a:p>
        </p:txBody>
      </p:sp>
      <p:sp>
        <p:nvSpPr>
          <p:cNvPr id="6" name="kpi-value-1">
            <a:extLst xmlns:a="http://schemas.openxmlformats.org/drawingml/2006/main">
              <a:ext uri="{FF2B5EF4-FFF2-40B4-BE49-F238E27FC236}">
                <a16:creationId xmlns:a16="http://schemas.microsoft.com/office/drawing/2014/main" id="{D639A7A5-1893-44C7-8D38-6BE2D959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48125"/>
            <a:ext cx="4953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375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12375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rPr>
              <a:t>+18%</a:t>
            </a:r>
          </a:p>
        </p:txBody>
      </p:sp>
      <p:sp>
        <p:nvSpPr>
          <p:cNvPr id="7" name="kpi-body-1">
            <a:extLst xmlns:a="http://schemas.openxmlformats.org/drawingml/2006/main">
              <a:ext uri="{FF2B5EF4-FFF2-40B4-BE49-F238E27FC236}">
                <a16:creationId xmlns:a16="http://schemas.microsoft.com/office/drawing/2014/main" id="{51829027-7D45-49D9-96C9-D62A2724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76275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EFE7D4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00" b="0" i="0">
                <a:solidFill>
                  <a:srgbClr val="EFE7D4"/>
                </a:solidFill>
                <a:latin typeface="Source Serif 4"/>
                <a:ea typeface="Source Serif 4"/>
                <a:cs typeface="Source Serif 4"/>
              </a:rPr>
              <a:t>Year over year, with contribution across every quarter.</a:t>
            </a:r>
          </a:p>
        </p:txBody>
      </p:sp>
      <p:sp>
        <p:nvSpPr>
          <p:cNvPr id="8" name="kpi-label-2">
            <a:extLst xmlns:a="http://schemas.openxmlformats.org/drawingml/2006/main">
              <a:ext uri="{FF2B5EF4-FFF2-40B4-BE49-F238E27FC236}">
                <a16:creationId xmlns:a16="http://schemas.microsoft.com/office/drawing/2014/main" id="{F42F4250-4D7F-4218-9209-59339563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7147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RECURRING MIX</a:t>
            </a:r>
          </a:p>
        </p:txBody>
      </p:sp>
      <p:sp>
        <p:nvSpPr>
          <p:cNvPr id="9" name="kpi-value-2">
            <a:extLst xmlns:a="http://schemas.openxmlformats.org/drawingml/2006/main">
              <a:ext uri="{FF2B5EF4-FFF2-40B4-BE49-F238E27FC236}">
                <a16:creationId xmlns:a16="http://schemas.microsoft.com/office/drawing/2014/main" id="{A4F56F31-3C91-4B53-AEF4-F1246EC5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048125"/>
            <a:ext cx="4953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375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12375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rPr>
              <a:t>62%</a:t>
            </a:r>
          </a:p>
        </p:txBody>
      </p:sp>
      <p:sp>
        <p:nvSpPr>
          <p:cNvPr id="10" name="kpi-body-2">
            <a:extLst xmlns:a="http://schemas.openxmlformats.org/drawingml/2006/main">
              <a:ext uri="{FF2B5EF4-FFF2-40B4-BE49-F238E27FC236}">
                <a16:creationId xmlns:a16="http://schemas.microsoft.com/office/drawing/2014/main" id="{5CB130AB-B849-4BA9-9065-D78A3E84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76275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EFE7D4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00" b="0" i="0">
                <a:solidFill>
                  <a:srgbClr val="EFE7D4"/>
                </a:solidFill>
                <a:latin typeface="Source Serif 4"/>
                <a:ea typeface="Source Serif 4"/>
                <a:cs typeface="Source Serif 4"/>
              </a:rPr>
              <a:t>A larger share of revenue now arrives predictably.</a:t>
            </a:r>
          </a:p>
        </p:txBody>
      </p:sp>
      <p:sp>
        <p:nvSpPr>
          <p:cNvPr id="11" name="kpi-label-3">
            <a:extLst xmlns:a="http://schemas.openxmlformats.org/drawingml/2006/main">
              <a:ext uri="{FF2B5EF4-FFF2-40B4-BE49-F238E27FC236}">
                <a16:creationId xmlns:a16="http://schemas.microsoft.com/office/drawing/2014/main" id="{C1928105-27DA-4B14-81D0-50B950D7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7147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PIPELINE COVER</a:t>
            </a:r>
          </a:p>
        </p:txBody>
      </p:sp>
      <p:sp>
        <p:nvSpPr>
          <p:cNvPr id="12" name="kpi-value-3">
            <a:extLst xmlns:a="http://schemas.openxmlformats.org/drawingml/2006/main">
              <a:ext uri="{FF2B5EF4-FFF2-40B4-BE49-F238E27FC236}">
                <a16:creationId xmlns:a16="http://schemas.microsoft.com/office/drawing/2014/main" id="{2D3B3C40-0284-429C-931B-D0F47BA1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048125"/>
            <a:ext cx="4953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375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12375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rPr>
              <a:t>4.7×</a:t>
            </a:r>
          </a:p>
        </p:txBody>
      </p:sp>
      <p:sp>
        <p:nvSpPr>
          <p:cNvPr id="13" name="kpi-body-3">
            <a:extLst xmlns:a="http://schemas.openxmlformats.org/drawingml/2006/main">
              <a:ext uri="{FF2B5EF4-FFF2-40B4-BE49-F238E27FC236}">
                <a16:creationId xmlns:a16="http://schemas.microsoft.com/office/drawing/2014/main" id="{3FAB3FC3-EF7A-4D0F-B259-BDFA087F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676275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EFE7D4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00" b="0" i="0">
                <a:solidFill>
                  <a:srgbClr val="EFE7D4"/>
                </a:solidFill>
                <a:latin typeface="Source Serif 4"/>
                <a:ea typeface="Source Serif 4"/>
                <a:cs typeface="Source Serif 4"/>
              </a:rPr>
              <a:t>Enough qualified opportunity to stay selective.</a:t>
            </a:r>
          </a:p>
        </p:txBody>
      </p:sp>
      <p:sp>
        <p:nvSpPr>
          <p:cNvPr id="14" name="footline-rule">
            <a:extLst xmlns:a="http://schemas.openxmlformats.org/drawingml/2006/main">
              <a:ext uri="{FF2B5EF4-FFF2-40B4-BE49-F238E27FC236}">
                <a16:creationId xmlns:a16="http://schemas.microsoft.com/office/drawing/2014/main" id="{C7272D55-B6E3-472B-B9D9-2D0654D1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334500"/>
            <a:ext cx="1600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7E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line-left">
            <a:extLst xmlns:a="http://schemas.openxmlformats.org/drawingml/2006/main">
              <a:ext uri="{FF2B5EF4-FFF2-40B4-BE49-F238E27FC236}">
                <a16:creationId xmlns:a16="http://schemas.microsoft.com/office/drawing/2014/main" id="{37357785-7F93-4C4F-9A4F-5928B7C1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5440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ILLUSTRATIVE FIGURES · REPLACE WITH ACTUALS</a:t>
            </a:r>
          </a:p>
        </p:txBody>
      </p:sp>
      <p:sp>
        <p:nvSpPr>
          <p:cNvPr id="16" name="footline-right">
            <a:extLst xmlns:a="http://schemas.openxmlformats.org/drawingml/2006/main">
              <a:ext uri="{FF2B5EF4-FFF2-40B4-BE49-F238E27FC236}">
                <a16:creationId xmlns:a16="http://schemas.microsoft.com/office/drawing/2014/main" id="{DAB073D3-D1D2-4A4E-9474-654AA2E4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95440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04 / 10</a:t>
            </a:r>
          </a:p>
        </p:txBody>
      </p:sp>
    </p:spTree>
    <p:extLst>
      <p:ext uri="{BB962C8B-B14F-4D97-AF65-F5344CB8AC3E}">
        <p14:creationId xmlns:p14="http://schemas.microsoft.com/office/powerpoint/2010/main" val="4948093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E4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hart-slide-background">
            <a:extLst xmlns:a="http://schemas.openxmlformats.org/drawingml/2006/main">
              <a:ext uri="{FF2B5EF4-FFF2-40B4-BE49-F238E27FC236}">
                <a16:creationId xmlns:a16="http://schemas.microsoft.com/office/drawing/2014/main" id="{9D601A93-6409-4168-AFC5-9F1E5C27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bar-label">
            <a:extLst xmlns:a="http://schemas.openxmlformats.org/drawingml/2006/main">
              <a:ext uri="{FF2B5EF4-FFF2-40B4-BE49-F238E27FC236}">
                <a16:creationId xmlns:a16="http://schemas.microsoft.com/office/drawing/2014/main" id="{21B1181B-FA9C-40EE-8BCA-35AB84AA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667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BY THE NUMBERS</a:t>
            </a:r>
          </a:p>
        </p:txBody>
      </p:sp>
      <p:sp>
        <p:nvSpPr>
          <p:cNvPr id="3" name="page-counter">
            <a:extLst xmlns:a="http://schemas.openxmlformats.org/drawingml/2006/main">
              <a:ext uri="{FF2B5EF4-FFF2-40B4-BE49-F238E27FC236}">
                <a16:creationId xmlns:a16="http://schemas.microsoft.com/office/drawing/2014/main" id="{14944712-04E3-4FE9-BEE5-01E8993B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6667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05 / 10</a:t>
            </a:r>
          </a:p>
        </p:txBody>
      </p:sp>
      <p:sp>
        <p:nvSpPr>
          <p:cNvPr id="4" name="revenue-title">
            <a:extLst xmlns:a="http://schemas.openxmlformats.org/drawingml/2006/main">
              <a:ext uri="{FF2B5EF4-FFF2-40B4-BE49-F238E27FC236}">
                <a16:creationId xmlns:a16="http://schemas.microsoft.com/office/drawing/2014/main" id="{8551C8C0-09B7-4126-A41E-5958F841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95375"/>
            <a:ext cx="11049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725" b="0" i="0">
                <a:solidFill>
                  <a:srgbClr val="EFE7D4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4725" b="0" i="0">
                <a:solidFill>
                  <a:srgbClr val="EFE7D4"/>
                </a:solidFill>
                <a:latin typeface="Source Serif 4 Medium"/>
                <a:ea typeface="Source Serif 4 Medium"/>
                <a:cs typeface="Source Serif 4 Medium"/>
              </a:rPr>
              <a:t>Revenue by quarter,</a:t>
            </a:r>
          </a:p>
          <a:p xmlns:a="http://schemas.openxmlformats.org/drawingml/2006/main">
            <a:pPr algn="l">
              <a:defRPr sz="4725" b="0" i="0">
                <a:solidFill>
                  <a:srgbClr val="EFE7D4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4725" b="0" i="0">
                <a:solidFill>
                  <a:srgbClr val="EFE7D4"/>
                </a:solidFill>
                <a:latin typeface="Source Serif 4 Medium"/>
                <a:ea typeface="Source Serif 4 Medium"/>
                <a:cs typeface="Source Serif 4 Medium"/>
              </a:rPr>
              <a:t>year over year.</a:t>
            </a:r>
          </a:p>
        </p:txBody>
      </p:sp>
      <p:sp>
        <p:nvSpPr>
          <p:cNvPr id="5" name="revenue-chart-backplate">
            <a:extLst xmlns:a="http://schemas.openxmlformats.org/drawingml/2006/main">
              <a:ext uri="{FF2B5EF4-FFF2-40B4-BE49-F238E27FC236}">
                <a16:creationId xmlns:a16="http://schemas.microsoft.com/office/drawing/2014/main" id="{5D038128-3C9E-4D6B-8384-5C785ADF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95625"/>
            <a:ext cx="125730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2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2762250" y="3095625"/>
          <a:ext xmlns:a="http://schemas.openxmlformats.org/drawingml/2006/main" cx="12573000" cy="495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b87510a9a284c6d"/>
          </a:graphicData>
        </a:graphic>
      </p:graphicFrame>
      <p:sp>
        <p:nvSpPr>
          <p:cNvPr id="7" name="footline-rule">
            <a:extLst xmlns:a="http://schemas.openxmlformats.org/drawingml/2006/main">
              <a:ext uri="{FF2B5EF4-FFF2-40B4-BE49-F238E27FC236}">
                <a16:creationId xmlns:a16="http://schemas.microsoft.com/office/drawing/2014/main" id="{14C98058-3225-4F32-8CB3-99CEE87F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334500"/>
            <a:ext cx="1600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7E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otline-left">
            <a:extLst xmlns:a="http://schemas.openxmlformats.org/drawingml/2006/main">
              <a:ext uri="{FF2B5EF4-FFF2-40B4-BE49-F238E27FC236}">
                <a16:creationId xmlns:a16="http://schemas.microsoft.com/office/drawing/2014/main" id="{C101D173-8B87-47AD-BD88-A924030D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5440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SOURCE · ILLUSTRATIVE INTERNAL DATA</a:t>
            </a:r>
          </a:p>
        </p:txBody>
      </p:sp>
      <p:sp>
        <p:nvSpPr>
          <p:cNvPr id="9" name="footline-right">
            <a:extLst xmlns:a="http://schemas.openxmlformats.org/drawingml/2006/main">
              <a:ext uri="{FF2B5EF4-FFF2-40B4-BE49-F238E27FC236}">
                <a16:creationId xmlns:a16="http://schemas.microsoft.com/office/drawing/2014/main" id="{0F8354D2-C402-49AA-A9CB-1CD5D009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95440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INDEXED TO PLAN</a:t>
            </a:r>
          </a:p>
        </p:txBody>
      </p:sp>
    </p:spTree>
    <p:extLst>
      <p:ext uri="{BB962C8B-B14F-4D97-AF65-F5344CB8AC3E}">
        <p14:creationId xmlns:p14="http://schemas.microsoft.com/office/powerpoint/2010/main" val="8517364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FE7D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bar-label">
            <a:extLst xmlns:a="http://schemas.openxmlformats.org/drawingml/2006/main">
              <a:ext uri="{FF2B5EF4-FFF2-40B4-BE49-F238E27FC236}">
                <a16:creationId xmlns:a16="http://schemas.microsoft.com/office/drawing/2014/main" id="{DBE05777-4F1D-4F96-81C8-F771B693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667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rPr>
              <a:t>02 · THE BIG SHIFT</a:t>
            </a:r>
          </a:p>
        </p:txBody>
      </p:sp>
      <p:sp>
        <p:nvSpPr>
          <p:cNvPr id="2" name="page-counter">
            <a:extLst xmlns:a="http://schemas.openxmlformats.org/drawingml/2006/main">
              <a:ext uri="{FF2B5EF4-FFF2-40B4-BE49-F238E27FC236}">
                <a16:creationId xmlns:a16="http://schemas.microsoft.com/office/drawing/2014/main" id="{6B7F8F3C-8BC6-49CC-9E6D-65FB2C93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6667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rPr>
              <a:t>06 / 10</a:t>
            </a:r>
          </a:p>
        </p:txBody>
      </p:sp>
      <p:sp>
        <p:nvSpPr>
          <p:cNvPr id="3" name="insight-title">
            <a:extLst xmlns:a="http://schemas.openxmlformats.org/drawingml/2006/main">
              <a:ext uri="{FF2B5EF4-FFF2-40B4-BE49-F238E27FC236}">
                <a16:creationId xmlns:a16="http://schemas.microsoft.com/office/drawing/2014/main" id="{CBAE1A66-AEEB-48C4-934B-6D10E541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285875"/>
            <a:ext cx="97155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0" i="0">
                <a:solidFill>
                  <a:srgbClr val="2E4A2A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5400" b="0" i="0">
                <a:solidFill>
                  <a:srgbClr val="2E4A2A"/>
                </a:solidFill>
                <a:latin typeface="Source Serif 4 Medium"/>
                <a:ea typeface="Source Serif 4 Medium"/>
                <a:cs typeface="Source Serif 4 Medium"/>
              </a:rPr>
              <a:t>Growth is becoming</a:t>
            </a:r>
          </a:p>
          <a:p xmlns:a="http://schemas.openxmlformats.org/drawingml/2006/main">
            <a:pPr algn="l">
              <a:defRPr sz="5400" b="0" i="0">
                <a:solidFill>
                  <a:srgbClr val="2E4A2A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5400" b="0" i="0">
                <a:solidFill>
                  <a:srgbClr val="2E4A2A"/>
                </a:solidFill>
                <a:latin typeface="Source Serif 4 Medium"/>
                <a:ea typeface="Source Serif 4 Medium"/>
                <a:cs typeface="Source Serif 4 Medium"/>
              </a:rPr>
              <a:t>more predictable.</a:t>
            </a:r>
          </a:p>
        </p:txBody>
      </p:sp>
      <p:sp>
        <p:nvSpPr>
          <p:cNvPr id="4" name="insight-body">
            <a:extLst xmlns:a="http://schemas.openxmlformats.org/drawingml/2006/main">
              <a:ext uri="{FF2B5EF4-FFF2-40B4-BE49-F238E27FC236}">
                <a16:creationId xmlns:a16="http://schemas.microsoft.com/office/drawing/2014/main" id="{FCF7AC6F-8554-46BB-895F-FA8B0EBE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0125"/>
            <a:ext cx="7429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A1A17"/>
                </a:solidFill>
                <a:latin typeface="Source Serif 4"/>
                <a:ea typeface="Source Serif 4"/>
                <a:cs typeface="Source Serif 4"/>
              </a:defRPr>
            </a:pPr>
            <a:r>
              <a:rPr sz="1800" b="0" i="0">
                <a:solidFill>
                  <a:srgbClr val="1A1A17"/>
                </a:solidFill>
                <a:latin typeface="Source Serif 4"/>
                <a:ea typeface="Source Serif 4"/>
                <a:cs typeface="Source Serif 4"/>
              </a:rPr>
              <a:t>The strongest change is not simply that the top line grew. More of that growth now comes from repeatable motions: retained customers, clearer packaging and a healthier mix of recurring revenue.</a:t>
            </a:r>
          </a:p>
        </p:txBody>
      </p:sp>
      <p:sp>
        <p:nvSpPr>
          <p:cNvPr id="5" name="pull-quote-card">
            <a:extLst xmlns:a="http://schemas.openxmlformats.org/drawingml/2006/main">
              <a:ext uri="{FF2B5EF4-FFF2-40B4-BE49-F238E27FC236}">
                <a16:creationId xmlns:a16="http://schemas.microsoft.com/office/drawing/2014/main" id="{DFA8224B-BC13-4DAF-97A5-E8533F17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05000"/>
            <a:ext cx="7143750" cy="5619750"/>
          </a:xfrm>
          <a:prstGeom xmlns:a="http://schemas.openxmlformats.org/drawingml/2006/main" prst="roundRect">
            <a:avLst>
              <a:gd name="adj" fmla="val 1356"/>
            </a:avLst>
          </a:prstGeom>
          <a:solidFill xmlns:a="http://schemas.openxmlformats.org/drawingml/2006/main">
            <a:srgbClr val="2E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04B30F-53CE-4491-809B-DEFD1A17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3812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THE SIGNAL</a:t>
            </a:r>
          </a:p>
        </p:txBody>
      </p:sp>
      <p:sp>
        <p:nvSpPr>
          <p:cNvPr id="7" name="pull-quote">
            <a:extLst xmlns:a="http://schemas.openxmlformats.org/drawingml/2006/main">
              <a:ext uri="{FF2B5EF4-FFF2-40B4-BE49-F238E27FC236}">
                <a16:creationId xmlns:a16="http://schemas.microsoft.com/office/drawing/2014/main" id="{CD14B954-1911-43DB-B255-69AC3B2E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952750"/>
            <a:ext cx="6096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825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3825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rPr>
              <a:t>“The business is</a:t>
            </a:r>
          </a:p>
          <a:p xmlns:a="http://schemas.openxmlformats.org/drawingml/2006/main">
            <a:pPr algn="l">
              <a:defRPr sz="3825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3825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rPr>
              <a:t>less dependent on</a:t>
            </a:r>
          </a:p>
          <a:p xmlns:a="http://schemas.openxmlformats.org/drawingml/2006/main">
            <a:pPr algn="l">
              <a:defRPr sz="3825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3825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rPr>
              <a:t>one-off wins.”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D70C39-390B-47C7-A73C-67F0240E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571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9C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A9EB2E-4675-4AA2-8CCD-FE709C1F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715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EFE7D4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200" b="0" i="0">
                <a:solidFill>
                  <a:srgbClr val="EFE7D4"/>
                </a:solidFill>
                <a:latin typeface="JetBrains Mono Medium"/>
                <a:ea typeface="JetBrains Mono Medium"/>
                <a:cs typeface="JetBrains Mono Medium"/>
              </a:rPr>
              <a:t>OPERATING REVIEW · 2026</a:t>
            </a:r>
          </a:p>
        </p:txBody>
      </p:sp>
      <p:sp>
        <p:nvSpPr>
          <p:cNvPr id="10" name="footline-rule">
            <a:extLst xmlns:a="http://schemas.openxmlformats.org/drawingml/2006/main">
              <a:ext uri="{FF2B5EF4-FFF2-40B4-BE49-F238E27FC236}">
                <a16:creationId xmlns:a16="http://schemas.microsoft.com/office/drawing/2014/main" id="{7DF1E836-F376-4CBE-BD91-768DFEC0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334500"/>
            <a:ext cx="1600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line-left">
            <a:extLst xmlns:a="http://schemas.openxmlformats.org/drawingml/2006/main">
              <a:ext uri="{FF2B5EF4-FFF2-40B4-BE49-F238E27FC236}">
                <a16:creationId xmlns:a16="http://schemas.microsoft.com/office/drawing/2014/main" id="{E611A537-4388-4DAC-912A-C7EAE2A5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5440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rPr>
              <a:t>QUARTERLY REVIEW · INTERPRETATION</a:t>
            </a:r>
          </a:p>
        </p:txBody>
      </p:sp>
      <p:sp>
        <p:nvSpPr>
          <p:cNvPr id="12" name="footline-right">
            <a:extLst xmlns:a="http://schemas.openxmlformats.org/drawingml/2006/main">
              <a:ext uri="{FF2B5EF4-FFF2-40B4-BE49-F238E27FC236}">
                <a16:creationId xmlns:a16="http://schemas.microsoft.com/office/drawing/2014/main" id="{4520F37B-6F79-46AB-8358-38374E10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95440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rPr>
              <a:t>06 / 10</a:t>
            </a:r>
          </a:p>
        </p:txBody>
      </p:sp>
    </p:spTree>
    <p:extLst>
      <p:ext uri="{BB962C8B-B14F-4D97-AF65-F5344CB8AC3E}">
        <p14:creationId xmlns:p14="http://schemas.microsoft.com/office/powerpoint/2010/main" val="98932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89CB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bar-label">
            <a:extLst xmlns:a="http://schemas.openxmlformats.org/drawingml/2006/main">
              <a:ext uri="{FF2B5EF4-FFF2-40B4-BE49-F238E27FC236}">
                <a16:creationId xmlns:a16="http://schemas.microsoft.com/office/drawing/2014/main" id="{90F639D1-CB0E-4E80-B20B-3C437554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667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rPr>
              <a:t>03 · MIX BY SEGMENT</a:t>
            </a:r>
          </a:p>
        </p:txBody>
      </p:sp>
      <p:sp>
        <p:nvSpPr>
          <p:cNvPr id="2" name="page-counter">
            <a:extLst xmlns:a="http://schemas.openxmlformats.org/drawingml/2006/main">
              <a:ext uri="{FF2B5EF4-FFF2-40B4-BE49-F238E27FC236}">
                <a16:creationId xmlns:a16="http://schemas.microsoft.com/office/drawing/2014/main" id="{18516153-9C27-4E37-942D-892A0E5E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6667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rPr>
              <a:t>07 / 10</a:t>
            </a:r>
          </a:p>
        </p:txBody>
      </p:sp>
      <p:sp>
        <p:nvSpPr>
          <p:cNvPr id="3" name="mix-title">
            <a:extLst xmlns:a="http://schemas.openxmlformats.org/drawingml/2006/main">
              <a:ext uri="{FF2B5EF4-FFF2-40B4-BE49-F238E27FC236}">
                <a16:creationId xmlns:a16="http://schemas.microsoft.com/office/drawing/2014/main" id="{B9BDA449-8779-4061-9C5F-430FD60A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90625"/>
            <a:ext cx="8572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0" i="0">
                <a:solidFill>
                  <a:srgbClr val="243A2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5400" b="0" i="0">
                <a:solidFill>
                  <a:srgbClr val="243A21"/>
                </a:solidFill>
                <a:latin typeface="Source Serif 4 Medium"/>
                <a:ea typeface="Source Serif 4 Medium"/>
                <a:cs typeface="Source Serif 4 Medium"/>
              </a:rPr>
              <a:t>Revenue is less</a:t>
            </a:r>
          </a:p>
          <a:p xmlns:a="http://schemas.openxmlformats.org/drawingml/2006/main">
            <a:pPr algn="l">
              <a:defRPr sz="5400" b="0" i="0">
                <a:solidFill>
                  <a:srgbClr val="243A2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5400" b="0" i="0">
                <a:solidFill>
                  <a:srgbClr val="243A21"/>
                </a:solidFill>
                <a:latin typeface="Source Serif 4 Medium"/>
                <a:ea typeface="Source Serif 4 Medium"/>
                <a:cs typeface="Source Serif 4 Medium"/>
              </a:rPr>
              <a:t>concentrated.</a:t>
            </a:r>
          </a:p>
        </p:txBody>
      </p:sp>
      <p:graphicFrame>
        <p:nvGraphicFramePr>
          <p:cNvPr id="20" name="editable-revenue-mix-chart"/>
          <p:cNvGraphicFramePr/>
          <p:nvPr/>
        </p:nvGraphicFramePr>
        <p:xfrm>
          <a:off xmlns:a="http://schemas.openxmlformats.org/drawingml/2006/main" x="8858250" y="1952625"/>
          <a:ext xmlns:a="http://schemas.openxmlformats.org/drawingml/2006/main" cx="7239000" cy="561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508c234bb2402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7136F3-4C05-4670-A717-15663056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rPr>
              <a:t>44%</a:t>
            </a:r>
          </a:p>
        </p:txBody>
      </p:sp>
      <p:sp>
        <p:nvSpPr>
          <p:cNvPr id="6" name="mix-label-1">
            <a:extLst xmlns:a="http://schemas.openxmlformats.org/drawingml/2006/main">
              <a:ext uri="{FF2B5EF4-FFF2-40B4-BE49-F238E27FC236}">
                <a16:creationId xmlns:a16="http://schemas.microsoft.com/office/drawing/2014/main" id="{9467E5BF-2F89-460F-B4D2-F91AA8A8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052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0" i="0">
                <a:solidFill>
                  <a:srgbClr val="243A2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2475" b="0" i="0">
                <a:solidFill>
                  <a:srgbClr val="243A21"/>
                </a:solidFill>
                <a:latin typeface="Source Serif 4 Medium"/>
                <a:ea typeface="Source Serif 4 Medium"/>
                <a:cs typeface="Source Serif 4 Medium"/>
              </a:rPr>
              <a:t>Core business</a:t>
            </a:r>
          </a:p>
        </p:txBody>
      </p:sp>
      <p:sp>
        <p:nvSpPr>
          <p:cNvPr id="7" name="mix-body-1">
            <a:extLst xmlns:a="http://schemas.openxmlformats.org/drawingml/2006/main">
              <a:ext uri="{FF2B5EF4-FFF2-40B4-BE49-F238E27FC236}">
                <a16:creationId xmlns:a16="http://schemas.microsoft.com/office/drawing/2014/main" id="{8C68E626-75C2-4977-BD02-2A3DB7D7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00550"/>
            <a:ext cx="533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43A2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00" b="0" i="0">
                <a:solidFill>
                  <a:srgbClr val="243A21"/>
                </a:solidFill>
                <a:latin typeface="Source Serif 4"/>
                <a:ea typeface="Source Serif 4"/>
                <a:cs typeface="Source Serif 4"/>
              </a:rPr>
              <a:t>Still the anchor, no longer the whole story.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D59B2C-B981-4639-84B1-FB55C7F7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816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rPr>
              <a:t>31%</a:t>
            </a:r>
          </a:p>
        </p:txBody>
      </p:sp>
      <p:sp>
        <p:nvSpPr>
          <p:cNvPr id="9" name="mix-label-2">
            <a:extLst xmlns:a="http://schemas.openxmlformats.org/drawingml/2006/main">
              <a:ext uri="{FF2B5EF4-FFF2-40B4-BE49-F238E27FC236}">
                <a16:creationId xmlns:a16="http://schemas.microsoft.com/office/drawing/2014/main" id="{06FE473C-70D8-4C45-9421-776E56C7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86375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0" i="0">
                <a:solidFill>
                  <a:srgbClr val="243A2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2475" b="0" i="0">
                <a:solidFill>
                  <a:srgbClr val="243A21"/>
                </a:solidFill>
                <a:latin typeface="Source Serif 4 Medium"/>
                <a:ea typeface="Source Serif 4 Medium"/>
                <a:cs typeface="Source Serif 4 Medium"/>
              </a:rPr>
              <a:t>Expansion</a:t>
            </a:r>
          </a:p>
        </p:txBody>
      </p:sp>
      <p:sp>
        <p:nvSpPr>
          <p:cNvPr id="10" name="mix-body-2">
            <a:extLst xmlns:a="http://schemas.openxmlformats.org/drawingml/2006/main">
              <a:ext uri="{FF2B5EF4-FFF2-40B4-BE49-F238E27FC236}">
                <a16:creationId xmlns:a16="http://schemas.microsoft.com/office/drawing/2014/main" id="{09F07E45-E2D7-4901-B904-7358E175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81675"/>
            <a:ext cx="533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43A2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00" b="0" i="0">
                <a:solidFill>
                  <a:srgbClr val="243A21"/>
                </a:solidFill>
                <a:latin typeface="Source Serif 4"/>
                <a:ea typeface="Source Serif 4"/>
                <a:cs typeface="Source Serif 4"/>
              </a:rPr>
              <a:t>Existing relationships are carrying more weight.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933C83-FC2B-4E69-B7E7-B690FFF0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7627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rPr>
              <a:t>25%</a:t>
            </a:r>
          </a:p>
        </p:txBody>
      </p:sp>
      <p:sp>
        <p:nvSpPr>
          <p:cNvPr id="12" name="mix-label-3">
            <a:extLst xmlns:a="http://schemas.openxmlformats.org/drawingml/2006/main">
              <a:ext uri="{FF2B5EF4-FFF2-40B4-BE49-F238E27FC236}">
                <a16:creationId xmlns:a16="http://schemas.microsoft.com/office/drawing/2014/main" id="{3DDC9CFE-D41B-4EA9-9247-D01FFBA4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6675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0" i="0">
                <a:solidFill>
                  <a:srgbClr val="243A2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2475" b="0" i="0">
                <a:solidFill>
                  <a:srgbClr val="243A21"/>
                </a:solidFill>
                <a:latin typeface="Source Serif 4 Medium"/>
                <a:ea typeface="Source Serif 4 Medium"/>
                <a:cs typeface="Source Serif 4 Medium"/>
              </a:rPr>
              <a:t>New bets</a:t>
            </a:r>
          </a:p>
        </p:txBody>
      </p:sp>
      <p:sp>
        <p:nvSpPr>
          <p:cNvPr id="13" name="mix-body-3">
            <a:extLst xmlns:a="http://schemas.openxmlformats.org/drawingml/2006/main">
              <a:ext uri="{FF2B5EF4-FFF2-40B4-BE49-F238E27FC236}">
                <a16:creationId xmlns:a16="http://schemas.microsoft.com/office/drawing/2014/main" id="{A5F7AED2-DB20-4302-B619-1DB12E3F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7162800"/>
            <a:ext cx="533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43A2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00" b="0" i="0">
                <a:solidFill>
                  <a:srgbClr val="243A21"/>
                </a:solidFill>
                <a:latin typeface="Source Serif 4"/>
                <a:ea typeface="Source Serif 4"/>
                <a:cs typeface="Source Serif 4"/>
              </a:rPr>
              <a:t>A meaningful contribution without overexposure.</a:t>
            </a:r>
          </a:p>
        </p:txBody>
      </p:sp>
      <p:sp>
        <p:nvSpPr>
          <p:cNvPr id="14" name="footline-rule">
            <a:extLst xmlns:a="http://schemas.openxmlformats.org/drawingml/2006/main">
              <a:ext uri="{FF2B5EF4-FFF2-40B4-BE49-F238E27FC236}">
                <a16:creationId xmlns:a16="http://schemas.microsoft.com/office/drawing/2014/main" id="{5DDEBFF9-66C0-49D9-B74D-987E4E57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334500"/>
            <a:ext cx="1600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A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line-left">
            <a:extLst xmlns:a="http://schemas.openxmlformats.org/drawingml/2006/main">
              <a:ext uri="{FF2B5EF4-FFF2-40B4-BE49-F238E27FC236}">
                <a16:creationId xmlns:a16="http://schemas.microsoft.com/office/drawing/2014/main" id="{4B747F2D-DE3E-432C-A33C-C972F1C9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5440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rPr>
              <a:t>ILLUSTRATIVE MIX · REPLACE WITH ACTUALS</a:t>
            </a:r>
          </a:p>
        </p:txBody>
      </p:sp>
      <p:sp>
        <p:nvSpPr>
          <p:cNvPr id="16" name="footline-right">
            <a:extLst xmlns:a="http://schemas.openxmlformats.org/drawingml/2006/main">
              <a:ext uri="{FF2B5EF4-FFF2-40B4-BE49-F238E27FC236}">
                <a16:creationId xmlns:a16="http://schemas.microsoft.com/office/drawing/2014/main" id="{B1CAF197-55AC-493B-AC02-452CCD00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95440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rPr>
              <a:t>07 / 10</a:t>
            </a:r>
          </a:p>
        </p:txBody>
      </p:sp>
    </p:spTree>
    <p:extLst>
      <p:ext uri="{BB962C8B-B14F-4D97-AF65-F5344CB8AC3E}">
        <p14:creationId xmlns:p14="http://schemas.microsoft.com/office/powerpoint/2010/main" val="7747407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FE7D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bar-label">
            <a:extLst xmlns:a="http://schemas.openxmlformats.org/drawingml/2006/main">
              <a:ext uri="{FF2B5EF4-FFF2-40B4-BE49-F238E27FC236}">
                <a16:creationId xmlns:a16="http://schemas.microsoft.com/office/drawing/2014/main" id="{DAA88B1D-081C-4863-A338-77B0126F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667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rPr>
              <a:t>04 · HOW WE'LL GET THERE</a:t>
            </a:r>
          </a:p>
        </p:txBody>
      </p:sp>
      <p:sp>
        <p:nvSpPr>
          <p:cNvPr id="2" name="page-counter">
            <a:extLst xmlns:a="http://schemas.openxmlformats.org/drawingml/2006/main">
              <a:ext uri="{FF2B5EF4-FFF2-40B4-BE49-F238E27FC236}">
                <a16:creationId xmlns:a16="http://schemas.microsoft.com/office/drawing/2014/main" id="{24D61C27-BE69-416D-9CCD-58E196D5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6667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rPr>
              <a:t>08 / 10</a:t>
            </a:r>
          </a:p>
        </p:txBody>
      </p:sp>
      <p:sp>
        <p:nvSpPr>
          <p:cNvPr id="3" name="roadmap-title">
            <a:extLst xmlns:a="http://schemas.openxmlformats.org/drawingml/2006/main">
              <a:ext uri="{FF2B5EF4-FFF2-40B4-BE49-F238E27FC236}">
                <a16:creationId xmlns:a16="http://schemas.microsoft.com/office/drawing/2014/main" id="{76BA23F8-9D2A-4FF5-91B5-71D88D1C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15049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0" i="0">
                <a:solidFill>
                  <a:srgbClr val="2E4A2A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5400" b="0" i="0">
                <a:solidFill>
                  <a:srgbClr val="2E4A2A"/>
                </a:solidFill>
                <a:latin typeface="Source Serif 4 Medium"/>
                <a:ea typeface="Source Serif 4 Medium"/>
                <a:cs typeface="Source Serif 4 Medium"/>
              </a:rPr>
              <a:t>Three moves for the next quarter.</a:t>
            </a:r>
          </a:p>
        </p:txBody>
      </p:sp>
      <p:sp>
        <p:nvSpPr>
          <p:cNvPr id="4" name="step-card-1">
            <a:extLst xmlns:a="http://schemas.openxmlformats.org/drawingml/2006/main">
              <a:ext uri="{FF2B5EF4-FFF2-40B4-BE49-F238E27FC236}">
                <a16:creationId xmlns:a16="http://schemas.microsoft.com/office/drawing/2014/main" id="{62A287F9-B9DB-4150-92B1-89A30007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90875"/>
            <a:ext cx="485775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E6DCC4"/>
          </a:solidFill>
          <a:ln xmlns:a="http://schemas.openxmlformats.org/drawingml/2006/main" w="19050">
            <a:solidFill>
              <a:srgbClr val="2E4A2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79E35-BB5F-42D8-98FB-1332ED0A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5242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rPr>
              <a:t>01</a:t>
            </a:r>
          </a:p>
        </p:txBody>
      </p:sp>
      <p:sp>
        <p:nvSpPr>
          <p:cNvPr id="6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1097D85E-6269-4487-A0D8-4CB14D4D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52875"/>
            <a:ext cx="4238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825" b="0" i="0">
                <a:solidFill>
                  <a:srgbClr val="2E4A2A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3825" b="0" i="0">
                <a:solidFill>
                  <a:srgbClr val="2E4A2A"/>
                </a:solidFill>
                <a:latin typeface="Source Serif 4 Medium"/>
                <a:ea typeface="Source Serif 4 Medium"/>
                <a:cs typeface="Source Serif 4 Medium"/>
              </a:rPr>
              <a:t>Protect</a:t>
            </a:r>
          </a:p>
          <a:p xmlns:a="http://schemas.openxmlformats.org/drawingml/2006/main">
            <a:pPr algn="l">
              <a:defRPr sz="3825" b="0" i="0">
                <a:solidFill>
                  <a:srgbClr val="2E4A2A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3825" b="0" i="0">
                <a:solidFill>
                  <a:srgbClr val="2E4A2A"/>
                </a:solidFill>
                <a:latin typeface="Source Serif 4 Medium"/>
                <a:ea typeface="Source Serif 4 Medium"/>
                <a:cs typeface="Source Serif 4 Medium"/>
              </a:rPr>
              <a:t>the core.</a:t>
            </a:r>
          </a:p>
        </p:txBody>
      </p:sp>
      <p:sp>
        <p:nvSpPr>
          <p:cNvPr id="7" name="step-body-1">
            <a:extLst xmlns:a="http://schemas.openxmlformats.org/drawingml/2006/main">
              <a:ext uri="{FF2B5EF4-FFF2-40B4-BE49-F238E27FC236}">
                <a16:creationId xmlns:a16="http://schemas.microsoft.com/office/drawing/2014/main" id="{C216A569-732E-4818-B77D-13BEFA6D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096000"/>
            <a:ext cx="409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E4A2A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00" b="0" i="0">
                <a:solidFill>
                  <a:srgbClr val="2E4A2A"/>
                </a:solidFill>
                <a:latin typeface="Source Serif 4"/>
                <a:ea typeface="Source Serif 4"/>
                <a:cs typeface="Source Serif 4"/>
              </a:rPr>
              <a:t>Retain high-fit customers and remove avoidable friction from renewal.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B8D78B-C3AE-40E7-8A2F-AC272D2D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334250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385D2D-4757-4E6E-841B-9E291A13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5438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20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rPr>
              <a:t>OWNER · TIMING · PROOF</a:t>
            </a:r>
          </a:p>
        </p:txBody>
      </p:sp>
      <p:sp>
        <p:nvSpPr>
          <p:cNvPr id="10" name="step-card-2">
            <a:extLst xmlns:a="http://schemas.openxmlformats.org/drawingml/2006/main">
              <a:ext uri="{FF2B5EF4-FFF2-40B4-BE49-F238E27FC236}">
                <a16:creationId xmlns:a16="http://schemas.microsoft.com/office/drawing/2014/main" id="{AD436E07-DE01-4E3B-A3D1-0397BCA4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90875"/>
            <a:ext cx="485775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2E4A2A"/>
          </a:solidFill>
          <a:ln xmlns:a="http://schemas.openxmlformats.org/drawingml/2006/main" w="19050">
            <a:solidFill>
              <a:srgbClr val="2E4A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AB01AD-CB6A-4331-9023-9EBF8B21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242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FE7D4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EFE7D4"/>
                </a:solidFill>
                <a:latin typeface="JetBrains Mono Medium"/>
                <a:ea typeface="JetBrains Mono Medium"/>
                <a:cs typeface="JetBrains Mono Medium"/>
              </a:rPr>
              <a:t>02</a:t>
            </a:r>
          </a:p>
        </p:txBody>
      </p:sp>
      <p:sp>
        <p:nvSpPr>
          <p:cNvPr id="12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628C4EF7-8316-4545-A631-4CFA46DF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52875"/>
            <a:ext cx="4238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825" b="0" i="0">
                <a:solidFill>
                  <a:srgbClr val="EFE7D4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3825" b="0" i="0">
                <a:solidFill>
                  <a:srgbClr val="EFE7D4"/>
                </a:solidFill>
                <a:latin typeface="Source Serif 4 Medium"/>
                <a:ea typeface="Source Serif 4 Medium"/>
                <a:cs typeface="Source Serif 4 Medium"/>
              </a:rPr>
              <a:t>Build</a:t>
            </a:r>
          </a:p>
          <a:p xmlns:a="http://schemas.openxmlformats.org/drawingml/2006/main">
            <a:pPr algn="l">
              <a:defRPr sz="3825" b="0" i="0">
                <a:solidFill>
                  <a:srgbClr val="EFE7D4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3825" b="0" i="0">
                <a:solidFill>
                  <a:srgbClr val="EFE7D4"/>
                </a:solidFill>
                <a:latin typeface="Source Serif 4 Medium"/>
                <a:ea typeface="Source Serif 4 Medium"/>
                <a:cs typeface="Source Serif 4 Medium"/>
              </a:rPr>
              <a:t>repeatability.</a:t>
            </a:r>
          </a:p>
        </p:txBody>
      </p:sp>
      <p:sp>
        <p:nvSpPr>
          <p:cNvPr id="13" name="step-body-2">
            <a:extLst xmlns:a="http://schemas.openxmlformats.org/drawingml/2006/main">
              <a:ext uri="{FF2B5EF4-FFF2-40B4-BE49-F238E27FC236}">
                <a16:creationId xmlns:a16="http://schemas.microsoft.com/office/drawing/2014/main" id="{DC22F8F8-AC17-4370-B7E7-70947272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096000"/>
            <a:ext cx="409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EFE7D4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00" b="0" i="0">
                <a:solidFill>
                  <a:srgbClr val="EFE7D4"/>
                </a:solidFill>
                <a:latin typeface="Source Serif 4"/>
                <a:ea typeface="Source Serif 4"/>
                <a:cs typeface="Source Serif 4"/>
              </a:rPr>
              <a:t>Standardize the motions already producing reliable outcomes.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3523A0-9699-43E2-9B15-CA8155AA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7334250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6BCBA3-0865-4B84-8910-F09FB5FE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75438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EFE7D4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200" b="0" i="0">
                <a:solidFill>
                  <a:srgbClr val="EFE7D4"/>
                </a:solidFill>
                <a:latin typeface="JetBrains Mono Medium"/>
                <a:ea typeface="JetBrains Mono Medium"/>
                <a:cs typeface="JetBrains Mono Medium"/>
              </a:rPr>
              <a:t>OWNER · TIMING · PROOF</a:t>
            </a:r>
          </a:p>
        </p:txBody>
      </p:sp>
      <p:sp>
        <p:nvSpPr>
          <p:cNvPr id="16" name="step-card-3">
            <a:extLst xmlns:a="http://schemas.openxmlformats.org/drawingml/2006/main">
              <a:ext uri="{FF2B5EF4-FFF2-40B4-BE49-F238E27FC236}">
                <a16:creationId xmlns:a16="http://schemas.microsoft.com/office/drawing/2014/main" id="{331E2995-CC44-492B-A267-A99C862E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190875"/>
            <a:ext cx="485775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E89CB1"/>
          </a:solidFill>
          <a:ln xmlns:a="http://schemas.openxmlformats.org/drawingml/2006/main" w="19050">
            <a:solidFill>
              <a:srgbClr val="D27E9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A9AA43-C9D9-42D6-A6F3-EEA980B5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35242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rPr>
              <a:t>03</a:t>
            </a:r>
          </a:p>
        </p:txBody>
      </p:sp>
      <p:sp>
        <p:nvSpPr>
          <p:cNvPr id="18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F074E5A3-16D6-498E-820C-D3E474F9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3952875"/>
            <a:ext cx="4238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825" b="0" i="0">
                <a:solidFill>
                  <a:srgbClr val="243A2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3825" b="0" i="0">
                <a:solidFill>
                  <a:srgbClr val="243A21"/>
                </a:solidFill>
                <a:latin typeface="Source Serif 4 Medium"/>
                <a:ea typeface="Source Serif 4 Medium"/>
                <a:cs typeface="Source Serif 4 Medium"/>
              </a:rPr>
              <a:t>Fund the</a:t>
            </a:r>
          </a:p>
          <a:p xmlns:a="http://schemas.openxmlformats.org/drawingml/2006/main">
            <a:pPr algn="l">
              <a:defRPr sz="3825" b="0" i="0">
                <a:solidFill>
                  <a:srgbClr val="243A2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3825" b="0" i="0">
                <a:solidFill>
                  <a:srgbClr val="243A21"/>
                </a:solidFill>
                <a:latin typeface="Source Serif 4 Medium"/>
                <a:ea typeface="Source Serif 4 Medium"/>
                <a:cs typeface="Source Serif 4 Medium"/>
              </a:rPr>
              <a:t>next curve.</a:t>
            </a:r>
          </a:p>
        </p:txBody>
      </p:sp>
      <p:sp>
        <p:nvSpPr>
          <p:cNvPr id="19" name="step-body-3">
            <a:extLst xmlns:a="http://schemas.openxmlformats.org/drawingml/2006/main">
              <a:ext uri="{FF2B5EF4-FFF2-40B4-BE49-F238E27FC236}">
                <a16:creationId xmlns:a16="http://schemas.microsoft.com/office/drawing/2014/main" id="{23D19774-DD8B-49D8-8B3F-A26C89FC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6096000"/>
            <a:ext cx="409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43A2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00" b="0" i="0">
                <a:solidFill>
                  <a:srgbClr val="243A21"/>
                </a:solidFill>
                <a:latin typeface="Source Serif 4"/>
                <a:ea typeface="Source Serif 4"/>
                <a:cs typeface="Source Serif 4"/>
              </a:rPr>
              <a:t>Invest deliberately in adjacent growth without diluting focus.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0D38C6-6FEC-4EE8-9907-F7E73196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7334250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A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1EB37D-64DB-4F07-8CEC-3AC61007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75438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20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rPr>
              <a:t>OWNER · TIMING · PROOF</a:t>
            </a:r>
          </a:p>
        </p:txBody>
      </p:sp>
      <p:sp>
        <p:nvSpPr>
          <p:cNvPr id="22" name="footline-rule">
            <a:extLst xmlns:a="http://schemas.openxmlformats.org/drawingml/2006/main">
              <a:ext uri="{FF2B5EF4-FFF2-40B4-BE49-F238E27FC236}">
                <a16:creationId xmlns:a16="http://schemas.microsoft.com/office/drawing/2014/main" id="{62CD51CC-2812-461F-8DC5-9727B283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334500"/>
            <a:ext cx="1600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line-left">
            <a:extLst xmlns:a="http://schemas.openxmlformats.org/drawingml/2006/main">
              <a:ext uri="{FF2B5EF4-FFF2-40B4-BE49-F238E27FC236}">
                <a16:creationId xmlns:a16="http://schemas.microsoft.com/office/drawing/2014/main" id="{BF285691-3671-4751-83F3-49B7DD53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5440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rPr>
              <a:t>QUARTERLY REVIEW · EXECUTION PLAN</a:t>
            </a:r>
          </a:p>
        </p:txBody>
      </p:sp>
      <p:sp>
        <p:nvSpPr>
          <p:cNvPr id="24" name="footline-right">
            <a:extLst xmlns:a="http://schemas.openxmlformats.org/drawingml/2006/main">
              <a:ext uri="{FF2B5EF4-FFF2-40B4-BE49-F238E27FC236}">
                <a16:creationId xmlns:a16="http://schemas.microsoft.com/office/drawing/2014/main" id="{0D55209F-A0C1-4F8C-9F05-F4FCA76E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95440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rPr>
              <a:t>08 / 10</a:t>
            </a:r>
          </a:p>
        </p:txBody>
      </p:sp>
    </p:spTree>
    <p:extLst>
      <p:ext uri="{BB962C8B-B14F-4D97-AF65-F5344CB8AC3E}">
        <p14:creationId xmlns:p14="http://schemas.microsoft.com/office/powerpoint/2010/main" val="807985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E4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bar-label">
            <a:extLst xmlns:a="http://schemas.openxmlformats.org/drawingml/2006/main">
              <a:ext uri="{FF2B5EF4-FFF2-40B4-BE49-F238E27FC236}">
                <a16:creationId xmlns:a16="http://schemas.microsoft.com/office/drawing/2014/main" id="{657B6754-53CB-4BEC-84A3-5DBE7C8D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667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05 · WHAT IT ADDS UP TO</a:t>
            </a:r>
          </a:p>
        </p:txBody>
      </p:sp>
      <p:sp>
        <p:nvSpPr>
          <p:cNvPr id="2" name="monogram-circle">
            <a:extLst xmlns:a="http://schemas.openxmlformats.org/drawingml/2006/main">
              <a:ext uri="{FF2B5EF4-FFF2-40B4-BE49-F238E27FC236}">
                <a16:creationId xmlns:a16="http://schemas.microsoft.com/office/drawing/2014/main" id="{182E91B5-E0D5-43F2-8E0E-14D228ED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4875" y="619125"/>
            <a:ext cx="990600" cy="990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9CB1"/>
            </a:solidFill>
            <a:prstDash val="solid"/>
          </a:ln>
        </p:spPr>
      </p:sp>
      <p:sp>
        <p:nvSpPr>
          <p:cNvPr id="3" name="monogram-text">
            <a:extLst xmlns:a="http://schemas.openxmlformats.org/drawingml/2006/main">
              <a:ext uri="{FF2B5EF4-FFF2-40B4-BE49-F238E27FC236}">
                <a16:creationId xmlns:a16="http://schemas.microsoft.com/office/drawing/2014/main" id="{1D522384-241F-4840-B1F6-B4DE2E73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9239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EF</a:t>
            </a:r>
          </a:p>
        </p:txBody>
      </p:sp>
      <p:sp>
        <p:nvSpPr>
          <p:cNvPr id="4" name="synthesis-title">
            <a:extLst xmlns:a="http://schemas.openxmlformats.org/drawingml/2006/main">
              <a:ext uri="{FF2B5EF4-FFF2-40B4-BE49-F238E27FC236}">
                <a16:creationId xmlns:a16="http://schemas.microsoft.com/office/drawing/2014/main" id="{71D2CF23-2AA3-4827-BE08-9040259A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238250"/>
            <a:ext cx="11239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5400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rPr>
              <a:t>A stronger base.</a:t>
            </a:r>
          </a:p>
          <a:p xmlns:a="http://schemas.openxmlformats.org/drawingml/2006/main">
            <a:pPr algn="l">
              <a:defRPr sz="5400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5400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rPr>
              <a:t>Clearer bets.</a:t>
            </a:r>
          </a:p>
          <a:p xmlns:a="http://schemas.openxmlformats.org/drawingml/2006/main">
            <a:pPr algn="l">
              <a:defRPr sz="5400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5400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rPr>
              <a:t>More discipline.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05CF3-3C86-40A8-9130-7F04DE6E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912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9C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1DF316-7484-414C-814A-6D0C16DA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960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01</a:t>
            </a:r>
          </a:p>
        </p:txBody>
      </p:sp>
      <p:sp>
        <p:nvSpPr>
          <p:cNvPr id="7" name="synthesis-point-1">
            <a:extLst xmlns:a="http://schemas.openxmlformats.org/drawingml/2006/main">
              <a:ext uri="{FF2B5EF4-FFF2-40B4-BE49-F238E27FC236}">
                <a16:creationId xmlns:a16="http://schemas.microsoft.com/office/drawing/2014/main" id="{ED138331-0F19-4820-ACD9-85FC4D10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95325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0" i="0">
                <a:solidFill>
                  <a:srgbClr val="EFE7D4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2475" b="0" i="0">
                <a:solidFill>
                  <a:srgbClr val="EFE7D4"/>
                </a:solidFill>
                <a:latin typeface="Source Serif 4 Medium"/>
                <a:ea typeface="Source Serif 4 Medium"/>
                <a:cs typeface="Source Serif 4 Medium"/>
              </a:rPr>
              <a:t>Protect what compounds</a:t>
            </a:r>
          </a:p>
        </p:txBody>
      </p:sp>
      <p:sp>
        <p:nvSpPr>
          <p:cNvPr id="8" name="synthesis-body-1">
            <a:extLst xmlns:a="http://schemas.openxmlformats.org/drawingml/2006/main">
              <a:ext uri="{FF2B5EF4-FFF2-40B4-BE49-F238E27FC236}">
                <a16:creationId xmlns:a16="http://schemas.microsoft.com/office/drawing/2014/main" id="{EF082B5D-80F8-4069-9237-8F206C67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667625"/>
            <a:ext cx="4667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EFE7D4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00" b="0" i="0">
                <a:solidFill>
                  <a:srgbClr val="EFE7D4"/>
                </a:solidFill>
                <a:latin typeface="Source Serif 4"/>
                <a:ea typeface="Source Serif 4"/>
                <a:cs typeface="Source Serif 4"/>
              </a:rPr>
              <a:t>The core is healthier when retention and recurring revenue reinforce each other.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9B19C7-1BF2-4D66-9A93-94038BF1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1912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9C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50A38F-FBDD-4FFC-9A99-D2BF3180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4960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02</a:t>
            </a:r>
          </a:p>
        </p:txBody>
      </p:sp>
      <p:sp>
        <p:nvSpPr>
          <p:cNvPr id="11" name="synthesis-point-2">
            <a:extLst xmlns:a="http://schemas.openxmlformats.org/drawingml/2006/main">
              <a:ext uri="{FF2B5EF4-FFF2-40B4-BE49-F238E27FC236}">
                <a16:creationId xmlns:a16="http://schemas.microsoft.com/office/drawing/2014/main" id="{E50E2489-813D-442A-B6E3-DDD5CA63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95325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0" i="0">
                <a:solidFill>
                  <a:srgbClr val="EFE7D4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2475" b="0" i="0">
                <a:solidFill>
                  <a:srgbClr val="EFE7D4"/>
                </a:solidFill>
                <a:latin typeface="Source Serif 4 Medium"/>
                <a:ea typeface="Source Serif 4 Medium"/>
                <a:cs typeface="Source Serif 4 Medium"/>
              </a:rPr>
              <a:t>Choose the next bets</a:t>
            </a:r>
          </a:p>
        </p:txBody>
      </p:sp>
      <p:sp>
        <p:nvSpPr>
          <p:cNvPr id="12" name="synthesis-body-2">
            <a:extLst xmlns:a="http://schemas.openxmlformats.org/drawingml/2006/main">
              <a:ext uri="{FF2B5EF4-FFF2-40B4-BE49-F238E27FC236}">
                <a16:creationId xmlns:a16="http://schemas.microsoft.com/office/drawing/2014/main" id="{43845422-2B1D-40FA-97AB-A93EFD52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667625"/>
            <a:ext cx="4667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EFE7D4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00" b="0" i="0">
                <a:solidFill>
                  <a:srgbClr val="EFE7D4"/>
                </a:solidFill>
                <a:latin typeface="Source Serif 4"/>
                <a:ea typeface="Source Serif 4"/>
                <a:cs typeface="Source Serif 4"/>
              </a:rPr>
              <a:t>A diversified mix gives us room to invest without chasing every opportunity.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A08F65-C207-43F1-8BDE-5090F8B9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1912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9C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6A0382-7AF2-4CDE-8FA4-72799B3B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4960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03</a:t>
            </a:r>
          </a:p>
        </p:txBody>
      </p:sp>
      <p:sp>
        <p:nvSpPr>
          <p:cNvPr id="15" name="synthesis-point-3">
            <a:extLst xmlns:a="http://schemas.openxmlformats.org/drawingml/2006/main">
              <a:ext uri="{FF2B5EF4-FFF2-40B4-BE49-F238E27FC236}">
                <a16:creationId xmlns:a16="http://schemas.microsoft.com/office/drawing/2014/main" id="{17B16699-04CD-4E98-BA0D-2BFBD7CB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95325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0" i="0">
                <a:solidFill>
                  <a:srgbClr val="EFE7D4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2475" b="0" i="0">
                <a:solidFill>
                  <a:srgbClr val="EFE7D4"/>
                </a:solidFill>
                <a:latin typeface="Source Serif 4 Medium"/>
                <a:ea typeface="Source Serif 4 Medium"/>
                <a:cs typeface="Source Serif 4 Medium"/>
              </a:rPr>
              <a:t>Measure the proof</a:t>
            </a:r>
          </a:p>
        </p:txBody>
      </p:sp>
      <p:sp>
        <p:nvSpPr>
          <p:cNvPr id="16" name="synthesis-body-3">
            <a:extLst xmlns:a="http://schemas.openxmlformats.org/drawingml/2006/main">
              <a:ext uri="{FF2B5EF4-FFF2-40B4-BE49-F238E27FC236}">
                <a16:creationId xmlns:a16="http://schemas.microsoft.com/office/drawing/2014/main" id="{17DC8FDF-E939-41D2-90B8-512BFEFA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667625"/>
            <a:ext cx="4667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EFE7D4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00" b="0" i="0">
                <a:solidFill>
                  <a:srgbClr val="EFE7D4"/>
                </a:solidFill>
                <a:latin typeface="Source Serif 4"/>
                <a:ea typeface="Source Serif 4"/>
                <a:cs typeface="Source Serif 4"/>
              </a:rPr>
              <a:t>The next quarter should be judged by repeatability, not only top-line movement.</a:t>
            </a:r>
          </a:p>
        </p:txBody>
      </p:sp>
      <p:sp>
        <p:nvSpPr>
          <p:cNvPr id="17" name="footline-rule">
            <a:extLst xmlns:a="http://schemas.openxmlformats.org/drawingml/2006/main">
              <a:ext uri="{FF2B5EF4-FFF2-40B4-BE49-F238E27FC236}">
                <a16:creationId xmlns:a16="http://schemas.microsoft.com/office/drawing/2014/main" id="{87018E66-D0DC-4FB0-AA62-CBDA8288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334500"/>
            <a:ext cx="1600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7E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line-left">
            <a:extLst xmlns:a="http://schemas.openxmlformats.org/drawingml/2006/main">
              <a:ext uri="{FF2B5EF4-FFF2-40B4-BE49-F238E27FC236}">
                <a16:creationId xmlns:a16="http://schemas.microsoft.com/office/drawing/2014/main" id="{A19AEC6D-F480-4141-A600-B0448C98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5440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QUARTERLY REVIEW · SYNTHESIS</a:t>
            </a:r>
          </a:p>
        </p:txBody>
      </p:sp>
      <p:sp>
        <p:nvSpPr>
          <p:cNvPr id="19" name="footline-right">
            <a:extLst xmlns:a="http://schemas.openxmlformats.org/drawingml/2006/main">
              <a:ext uri="{FF2B5EF4-FFF2-40B4-BE49-F238E27FC236}">
                <a16:creationId xmlns:a16="http://schemas.microsoft.com/office/drawing/2014/main" id="{3C7E38D5-4188-4F06-8E4B-0FF06E88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95440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09 / 10</a:t>
            </a:r>
          </a:p>
        </p:txBody>
      </p:sp>
    </p:spTree>
    <p:extLst>
      <p:ext uri="{BB962C8B-B14F-4D97-AF65-F5344CB8AC3E}">
        <p14:creationId xmlns:p14="http://schemas.microsoft.com/office/powerpoint/2010/main" val="10496448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89CB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557812-AFD7-4775-A631-B73AAD13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763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rPr>
              <a:t>QUARTERLY REVIEW · CLOSING</a:t>
            </a:r>
          </a:p>
        </p:txBody>
      </p:sp>
      <p:sp>
        <p:nvSpPr>
          <p:cNvPr id="2" name="monogram-circle">
            <a:extLst xmlns:a="http://schemas.openxmlformats.org/drawingml/2006/main">
              <a:ext uri="{FF2B5EF4-FFF2-40B4-BE49-F238E27FC236}">
                <a16:creationId xmlns:a16="http://schemas.microsoft.com/office/drawing/2014/main" id="{9810577B-1750-44E8-95DE-3C7020E6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4875" y="619125"/>
            <a:ext cx="990600" cy="990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4A2A"/>
            </a:solidFill>
            <a:prstDash val="solid"/>
          </a:ln>
        </p:spPr>
      </p:sp>
      <p:sp>
        <p:nvSpPr>
          <p:cNvPr id="3" name="monogram-text">
            <a:extLst xmlns:a="http://schemas.openxmlformats.org/drawingml/2006/main">
              <a:ext uri="{FF2B5EF4-FFF2-40B4-BE49-F238E27FC236}">
                <a16:creationId xmlns:a16="http://schemas.microsoft.com/office/drawing/2014/main" id="{23447C3D-13D8-47F7-B0C7-D7F5269F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9239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rPr>
              <a:t>10</a:t>
            </a:r>
          </a:p>
        </p:txBody>
      </p:sp>
      <p:sp>
        <p:nvSpPr>
          <p:cNvPr id="4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76700FC8-6F5E-4BDE-8446-529FC617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71625"/>
            <a:ext cx="14097000" cy="619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0" b="0" i="0">
                <a:solidFill>
                  <a:srgbClr val="243A2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12000" b="0" i="0">
                <a:solidFill>
                  <a:srgbClr val="243A21"/>
                </a:solidFill>
                <a:latin typeface="Source Serif 4 Medium"/>
                <a:ea typeface="Source Serif 4 Medium"/>
                <a:cs typeface="Source Serif 4 Medium"/>
              </a:rPr>
              <a:t>Next quarter</a:t>
            </a:r>
          </a:p>
          <a:p xmlns:a="http://schemas.openxmlformats.org/drawingml/2006/main">
            <a:pPr algn="l">
              <a:defRPr sz="12000" b="0" i="0">
                <a:solidFill>
                  <a:srgbClr val="243A2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12000" b="0" i="0">
                <a:solidFill>
                  <a:srgbClr val="243A21"/>
                </a:solidFill>
                <a:latin typeface="Source Serif 4 Medium"/>
                <a:ea typeface="Source Serif 4 Medium"/>
                <a:cs typeface="Source Serif 4 Medium"/>
              </a:rPr>
              <a:t>starts with</a:t>
            </a:r>
          </a:p>
          <a:p xmlns:a="http://schemas.openxmlformats.org/drawingml/2006/main">
            <a:pPr algn="l">
              <a:defRPr sz="12000" b="0" i="0">
                <a:solidFill>
                  <a:srgbClr val="243A2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12000" b="0" i="0">
                <a:solidFill>
                  <a:srgbClr val="243A21"/>
                </a:solidFill>
                <a:latin typeface="Source Serif 4 Medium"/>
                <a:ea typeface="Source Serif 4 Medium"/>
                <a:cs typeface="Source Serif 4 Medium"/>
              </a:rPr>
              <a:t>focus.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C3487-1F87-450A-BE4C-50AD396B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905750"/>
            <a:ext cx="1562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A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EDB152-B544-48CE-B102-8110FA97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2867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rPr>
              <a:t>DECISIONS MADE · OWNERS CLEAR · WORK BEGINS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A0F873-E510-4F52-A9BB-3787B9EB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82867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35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rPr>
              <a:t>STUDIO PLACEHOLDER · 2026</a:t>
            </a:r>
          </a:p>
        </p:txBody>
      </p:sp>
    </p:spTree>
    <p:extLst>
      <p:ext uri="{BB962C8B-B14F-4D97-AF65-F5344CB8AC3E}">
        <p14:creationId xmlns:p14="http://schemas.microsoft.com/office/powerpoint/2010/main" val="8152402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JetBrains Mono Medium"/>
        <a:ea typeface="Calibri Light"/>
        <a:cs typeface="Calibri Light"/>
      </a:majorFont>
      <a:minorFont>
        <a:latin typeface="JetBrains Mono Medium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2026-07-14T15:12:11.1920000Z</dcterms:created>
  <dcterms:modified xsi:type="dcterms:W3CDTF">2026-07-14T15:12:11.1920000Z</dcterms:modified>
</coreProperties>
</file>