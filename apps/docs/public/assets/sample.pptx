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Viewer approach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Open-source viewers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HTML</c:v>
                </c:pt>
                <c:pt idx="1">
                  <c:v>Canvas</c:v>
                </c:pt>
                <c:pt idx="2">
                  <c:v>Iframe</c:v>
                </c:pt>
                <c:pt idx="3">
                  <c:v>Hybrid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25</c:v>
                </c:pt>
                <c:pt idx="2">
                  <c:v>45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30-4BD7-A906-35088B2387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Customization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HTML</c:v>
                </c:pt>
                <c:pt idx="1">
                  <c:v>Canvas</c:v>
                </c:pt>
                <c:pt idx="2">
                  <c:v>Iframe</c:v>
                </c:pt>
                <c:pt idx="3">
                  <c:v>Hybrid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</c:v>
                </c:pt>
                <c:pt idx="1">
                  <c:v>48</c:v>
                </c:pt>
                <c:pt idx="2">
                  <c:v>18</c:v>
                </c:pt>
                <c:pt idx="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30-4BD7-A906-35088B2387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Renderer effort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Format complexity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C7F-43C4-9D8C-22E54993E728}"/>
              </c:ext>
            </c:extLst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C7F-43C4-9D8C-22E54993E728}"/>
              </c:ext>
            </c:extLst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C7F-43C4-9D8C-22E54993E728}"/>
              </c:ext>
            </c:extLst>
          </c:dPt>
          <c:dPt>
            <c:idx val="3"/>
            <c:bubble3D val="0"/>
            <c:spPr>
              <a:solidFill>
                <a:srgbClr val="F17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C7F-43C4-9D8C-22E54993E728}"/>
              </c:ext>
            </c:extLst>
          </c:dPt>
          <c:dPt>
            <c:idx val="4"/>
            <c:bubble3D val="0"/>
            <c:spPr>
              <a:solidFill>
                <a:srgbClr val="B291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C7F-43C4-9D8C-22E54993E72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C7F-43C4-9D8C-22E54993E72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C7F-43C4-9D8C-22E54993E72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C7F-43C4-9D8C-22E54993E72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C7F-43C4-9D8C-22E54993E728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C7F-43C4-9D8C-22E54993E72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Shapes</c:v>
                </c:pt>
                <c:pt idx="2">
                  <c:v>Images</c:v>
                </c:pt>
                <c:pt idx="3">
                  <c:v>Charts</c:v>
                </c:pt>
                <c:pt idx="4">
                  <c:v>Animations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18</c:v>
                </c:pt>
                <c:pt idx="2">
                  <c:v>17</c:v>
                </c:pt>
                <c:pt idx="3">
                  <c:v>25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C7F-43C4-9D8C-22E54993E7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2625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title slide has multi-line text, code-style text, rounded rectangles, shadows, and master footer/slide numbering.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tests rich text runs, bullets, wrapping, alignment, rotation, hyperlinks, and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tests native shapes, fills, transparency, lines, arrowheads, rotation, and shadows.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crop vs contain image sizing and transparent PNG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table layout, borders, cell text, widths, and a z-order edge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native chart objects; many browser PPTX viewers struggle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line connectors placed behind nodes, code block rendering, and multiple grouped conceptual zones.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background test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checklist slide for viewer implementation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DiceUI PPTX viewer test deck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eui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6126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Composable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PPTX Viewer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Deck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3232" y="3246120"/>
            <a:ext cx="5257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A practical deck for testing parsing, layout fidelity, text rendering, images, shapes, tables, charts, hyperlinks, notes, and slide metadata.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78040" y="841248"/>
            <a:ext cx="3977640" cy="448056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blurRad="25400" dist="50800" dir="27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@diceui/presentation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26680" y="1874520"/>
            <a:ext cx="30175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&lt;Presentation.Root&gt;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&lt;Presentation.Toolbar 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&lt;Presentation.Sidebar 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&lt;Presentation.Canvas 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&lt;Presentation.Controls 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&lt;/Presentation.Root&gt;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43800" y="425196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53528" y="4315968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</a:rPr>
              <a:t>headless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732520" y="4251960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842248" y="4315968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themeable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966960" y="4251960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E11D48">
              <a:alpha val="12000"/>
            </a:srgbClr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76688" y="4315968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11D48"/>
                </a:solidFill>
              </a:rPr>
              <a:t>extensible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FIDELITY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Rich text, bullets, alignment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7607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Same textbox, </a:t>
            </a:r>
            <a:r>
              <a:rPr lang="en-US" sz="1800" i="1" dirty="0">
                <a:solidFill>
                  <a:srgbClr val="2563EB"/>
                </a:solidFill>
              </a:rPr>
              <a:t>multiple runs, </a:t>
            </a:r>
            <a:r>
              <a:rPr lang="en-US" sz="1800" b="1" i="1" dirty="0">
                <a:solidFill>
                  <a:srgbClr val="E11D48"/>
                </a:solidFill>
              </a:rPr>
              <a:t>inline emphasis, </a:t>
            </a:r>
            <a:r>
              <a:rPr lang="en-US" sz="1800" dirty="0">
                <a:solidFill>
                  <a:srgbClr val="059669"/>
                </a:solidFill>
              </a:rPr>
              <a:t>and symbol support: → ✓ ★ αβγ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2834640" cy="11430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Left aligned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with manual line breaks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and a soft gray fill.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77640" y="2423160"/>
            <a:ext cx="2331720" cy="1143000"/>
          </a:xfrm>
          <a:prstGeom prst="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</a:rPr>
              <a:t>Centered text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</a:rPr>
              <a:t>inside a box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20840" y="2423160"/>
            <a:ext cx="2514600" cy="1143000"/>
          </a:xfrm>
          <a:prstGeom prst="rect">
            <a:avLst/>
          </a:prstGeom>
          <a:solidFill>
            <a:srgbClr val="ECFEFF"/>
          </a:solidFill>
          <a:ln>
            <a:solidFill>
              <a:srgbClr val="A5F3F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334155"/>
                </a:solidFill>
              </a:rPr>
              <a:t>Right aligned</a:t>
            </a:r>
            <a:endParaRPr lang="en-US" sz="1500" dirty="0"/>
          </a:p>
          <a:p>
            <a:pPr marL="0" indent="0" algn="r">
              <a:buNone/>
            </a:pPr>
            <a:r>
              <a:rPr lang="en-US" sz="1500" dirty="0">
                <a:solidFill>
                  <a:srgbClr val="334155"/>
                </a:solidFill>
              </a:rPr>
              <a:t>short paragraph</a:t>
            </a:r>
            <a:endParaRPr lang="en-US" sz="1500" dirty="0"/>
          </a:p>
          <a:p>
            <a:pPr marL="0" indent="0" algn="r">
              <a:buNone/>
            </a:pPr>
            <a:r>
              <a:rPr lang="en-US" sz="1500" dirty="0">
                <a:solidFill>
                  <a:srgbClr val="334155"/>
                </a:solidFill>
              </a:rPr>
              <a:t>for wrapping.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 rot="5400000">
            <a:off x="10012680" y="2560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</a:rPr>
              <a:t>Rotated label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548640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Bullets with indentation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Nested bullet approximation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Long bullet intentionally wraps to verify line-height and width calculations in the viewer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Number-like item: 01 02 03</a:t>
            </a:r>
            <a:endParaRPr lang="en-US" sz="14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690372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2563EB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Hyperlink to DiceUI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4800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Speaker notes are attached to this slide.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Shapes, lines, fills, transforms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508760" cy="914400"/>
          </a:xfrm>
          <a:prstGeom prst="rect">
            <a:avLst/>
          </a:prstGeom>
          <a:solidFill>
            <a:srgbClr val="2563EB">
              <a:alpha val="88000"/>
            </a:srgbClr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Rect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1508760"/>
            <a:ext cx="1508760" cy="914400"/>
          </a:xfrm>
          <a:prstGeom prst="roundRect">
            <a:avLst/>
          </a:prstGeom>
          <a:solidFill>
            <a:srgbClr val="7C3AED">
              <a:alpha val="88000"/>
            </a:srgbClr>
          </a:solidFill>
          <a:ln w="1778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2560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Round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1234440" cy="914400"/>
          </a:xfrm>
          <a:prstGeom prst="ellipse">
            <a:avLst/>
          </a:prstGeom>
          <a:solidFill>
            <a:srgbClr val="059669">
              <a:alpha val="88000"/>
            </a:srgbClr>
          </a:solidFill>
          <a:ln w="1778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25603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Oval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46520" y="1463040"/>
            <a:ext cx="1234440" cy="960120"/>
          </a:xfrm>
          <a:prstGeom prst="triangle">
            <a:avLst/>
          </a:prstGeom>
          <a:solidFill>
            <a:srgbClr val="D97706">
              <a:alpha val="88000"/>
            </a:srgbClr>
          </a:solidFill>
          <a:ln w="1778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25146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Tri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83880" y="1426464"/>
            <a:ext cx="1234440" cy="1005840"/>
          </a:xfrm>
          <a:prstGeom prst="hexagon">
            <a:avLst/>
          </a:prstGeom>
          <a:solidFill>
            <a:srgbClr val="E11D48">
              <a:alpha val="88000"/>
            </a:srgbClr>
          </a:solidFill>
          <a:ln w="1778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83880" y="247802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Hex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921240" y="1463040"/>
            <a:ext cx="1234440" cy="960120"/>
          </a:xfrm>
          <a:prstGeom prst="cloud">
            <a:avLst/>
          </a:prstGeom>
          <a:solidFill>
            <a:srgbClr val="0891B2">
              <a:alpha val="88000"/>
            </a:srgbClr>
          </a:solidFill>
          <a:ln w="1778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921240" y="25146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Cloud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657600"/>
            <a:ext cx="1920240" cy="1005840"/>
          </a:xfrm>
          <a:prstGeom prst="arc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46120" y="4160520"/>
            <a:ext cx="201168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0" y="43891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Arrow 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900000">
            <a:off x="5715000" y="3703320"/>
            <a:ext cx="1463040" cy="822960"/>
          </a:xfrm>
          <a:prstGeom prst="chevron">
            <a:avLst/>
          </a:prstGeom>
          <a:solidFill>
            <a:srgbClr val="D97706">
              <a:alpha val="82000"/>
            </a:srgbClr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9788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Rotated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26680" y="3611880"/>
            <a:ext cx="30632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50800" dir="2700000" algn="bl" rotWithShape="0">
              <a:srgbClr val="CBD5E1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01000" y="39776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Drop shadow + rounded rectangle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Raster images: crop, contain, border</a:t>
            </a:r>
            <a:endParaRPr lang="en-US" sz="2500" dirty="0"/>
          </a:p>
        </p:txBody>
      </p:sp>
      <p:pic>
        <p:nvPicPr>
          <p:cNvPr id="4" name="Image 0" descr="/home/oai/skills/slides/artifact_tool/examples/tower.jpeg"/>
          <p:cNvPicPr>
            <a:picLocks noChangeAspect="1"/>
          </p:cNvPicPr>
          <p:nvPr/>
        </p:nvPicPr>
        <p:blipFill>
          <a:blip r:embed="rId3"/>
          <a:srcRect t="27680" b="27680"/>
          <a:stretch/>
        </p:blipFill>
        <p:spPr>
          <a:xfrm>
            <a:off x="685800" y="1417320"/>
            <a:ext cx="4709160" cy="3154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417320"/>
            <a:ext cx="4709160" cy="3154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48006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Cropped cover image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0" y="1417320"/>
            <a:ext cx="4892040" cy="3154680"/>
          </a:xfrm>
          <a:prstGeom prst="roundRect">
            <a:avLst>
              <a:gd name="adj" fmla="val 463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oai/skills/slides/artifact_tool/examples/giraf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971" y="1783080"/>
            <a:ext cx="1610178" cy="2423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5040" y="4800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Contained transparent PNG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85800" y="52852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This slide intentionally includes two different image fitting behaviors so a viewer can test cropping math and aspect-ratio preservation.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LAYOUT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Tables and styled cells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8961120" cy="30175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MVP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Advanced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Viewer risk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Text boxes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Rich runs + bullets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Images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Crop + alpha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Charts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Basic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Native chart XML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Animations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Transitions/events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Very high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Overlays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Comments + AI layers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1417320"/>
            <a:ext cx="10698480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731520" y="56509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Note: header fill is a separate shape behind/near the table in some renderers; useful for testing z-order edge cases.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Native PPTX charts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37160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400800" y="1417320"/>
          <a:ext cx="41605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822960" y="5257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Native charts are important because many libraries flatten or ignore them. Your renderer can decide: parse chart XML, rasterize fallback image, or show a placeholder.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Composable viewer architecture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0" y="1920240"/>
            <a:ext cx="5943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2563EB">
              <a:alpha val="12000"/>
            </a:srgbClr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7099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</a:rPr>
              <a:t>Parse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039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334155"/>
                </a:solidFill>
              </a:rPr>
              <a:t>Unzip OOXML and relationships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532120" y="1920240"/>
            <a:ext cx="5943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11880" y="150876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7C3AED">
              <a:alpha val="12000"/>
            </a:srgbClr>
          </a:solidFill>
          <a:ln w="165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49040" y="17099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</a:rPr>
              <a:t>Normalize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94760" y="2039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334155"/>
                </a:solidFill>
              </a:rPr>
              <a:t>Resolve theme, masters, layouts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8321040" y="1920240"/>
            <a:ext cx="5943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150876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059669">
              <a:alpha val="12000"/>
            </a:srgbClr>
          </a:solidFill>
          <a:ln w="1651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17099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9669"/>
                </a:solidFill>
              </a:rPr>
              <a:t>Render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2039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334155"/>
                </a:solidFill>
              </a:rPr>
              <a:t>Map slide model to DOM/SVG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9189720" y="150876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E11D48">
              <a:alpha val="12000"/>
            </a:srgbClr>
          </a:solidFill>
          <a:ln w="1651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26880" y="17099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11D48"/>
                </a:solidFill>
              </a:rPr>
              <a:t>Compose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72600" y="2039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334155"/>
                </a:solidFill>
              </a:rPr>
              <a:t>Expose headless React primitives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2296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Suggested API shape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703320"/>
            <a:ext cx="4663440" cy="1508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const viewer = usePresentation();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&lt;Presentation.Root src={file}&gt;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&lt;Presentation.Sidebar 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&lt;Presentation.Canvas 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&lt;Presentation.Controls 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&lt;/Presentation.Root&gt;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Renderer adapters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703320"/>
            <a:ext cx="283464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HTML/CSS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SVG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Canvas fallback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Server raster fallback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Dark slide / high contrast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04088" y="126187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Useful for checking theme color resolution, white text, transparency, and shadows on non-white backgrounds.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2423160"/>
            <a:ext cx="2240280" cy="117043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265176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8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</a:rPr>
              <a:t>Slides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66160" y="2423160"/>
            <a:ext cx="2240280" cy="117043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30752" y="265176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View / Present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749040" y="30632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</a:rPr>
              <a:t>Modes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55080" y="2423160"/>
            <a:ext cx="2240280" cy="117043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19672" y="265176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PPTX XML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537960" y="30632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</a:rPr>
              <a:t>Core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0" y="2423160"/>
            <a:ext cx="2240280" cy="117043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08592" y="265176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Composable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326880" y="30632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</a:rPr>
              <a:t>UI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46634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E2E8F0"/>
                </a:solidFill>
              </a:rPr>
              <a:t>Large text with paragraph wrapping: a good viewer should scale the entire slide while keeping text crisp, not rasterized or blurry.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validate in your viewer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5636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Parser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536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Relationships, layouts, masters, themes, slide order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8437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816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Font face, size, line height, bullets, rich runs, links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977640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41239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Geometry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4096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Native shapes, z-order, rotations, transparency, shadows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15636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Media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1536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Aspect ratio, crop, transparent PNG, missing assets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697480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28437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2816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Tables, charts, fallbacks, embedded XML objects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41239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UX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4096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Zoom, keyboard nav, fullscreen, thumbnails, loading states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623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End of test deck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695</Words>
  <Application>Microsoft Office PowerPoint</Application>
  <PresentationFormat>Widescreen</PresentationFormat>
  <Paragraphs>156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DiceUI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Composable PPTX Viewer Test Deck</dc:title>
  <dc:subject>PPTX viewer renderer test deck</dc:subject>
  <dc:creator>OpenAI</dc:creator>
  <cp:lastModifiedBy>Sadman Sakib</cp:lastModifiedBy>
  <cp:revision>2</cp:revision>
  <dcterms:created xsi:type="dcterms:W3CDTF">2026-06-28T03:34:11Z</dcterms:created>
  <dcterms:modified xsi:type="dcterms:W3CDTF">2026-07-07T07:41:37Z</dcterms:modified>
</cp:coreProperties>
</file>