
<file path=[Content_Types].xml><?xml version="1.0" encoding="utf-8"?>
<Types xmlns="http://schemas.openxmlformats.org/package/2006/content-types">
  <Default Extension="fntdata" ContentType="application/x-fontdata"/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/docProps/core.xml" Id="Rbf21c520f3f24421" /><Relationship Type="http://schemas.openxmlformats.org/officeDocument/2006/relationships/extended-properties" Target="/docProps/app.xml" Id="R5f520b6c98be4118" /><Relationship Type="http://schemas.openxmlformats.org/officeDocument/2006/relationships/officeDocument" Target="/ppt/presentation.xml" Id="R2428a8b501064cfc" /></Relationships>
</file>

<file path=ppt/presentation.xml><?xml version="1.0" encoding="utf-8"?>
<p:presentation xmlns:r="http://schemas.openxmlformats.org/officeDocument/2006/relationships" xmlns:p="http://schemas.openxmlformats.org/presentationml/2006/main" saveSubsetFonts="false" embedTrueTypeFonts="true">
  <p:sldMasterIdLst>
    <p:sldMasterId xmlns:r="http://schemas.openxmlformats.org/officeDocument/2006/relationships" id="2147483648" r:id="R0cd65d591a6a48af"/>
  </p:sldMasterIdLst>
  <p:notesMasterIdLst>
    <p:notesMasterId xmlns:r="http://schemas.openxmlformats.org/officeDocument/2006/relationships" r:id="Rdeb84743a7c14ac1"/>
  </p:notesMasterIdLst>
  <p:sldIdLst>
    <p:sldId xmlns:r="http://schemas.openxmlformats.org/officeDocument/2006/relationships" id="256" r:id="R38cf979c59fc486c"/>
    <p:sldId xmlns:r="http://schemas.openxmlformats.org/officeDocument/2006/relationships" id="257" r:id="Ra9bd7656bfb248b6"/>
    <p:sldId xmlns:r="http://schemas.openxmlformats.org/officeDocument/2006/relationships" id="258" r:id="R7018436128384cc3"/>
    <p:sldId xmlns:r="http://schemas.openxmlformats.org/officeDocument/2006/relationships" id="259" r:id="Ra2622099ae7c4920"/>
    <p:sldId xmlns:r="http://schemas.openxmlformats.org/officeDocument/2006/relationships" id="260" r:id="R4bcd86a7e9804207"/>
    <p:sldId xmlns:r="http://schemas.openxmlformats.org/officeDocument/2006/relationships" id="261" r:id="R3b753bd8b7fd4b4e"/>
    <p:sldId xmlns:r="http://schemas.openxmlformats.org/officeDocument/2006/relationships" id="262" r:id="R53d0c15f54434ccb"/>
    <p:sldId xmlns:r="http://schemas.openxmlformats.org/officeDocument/2006/relationships" id="263" r:id="R4ac4c32fe08748a9"/>
  </p:sldIdLst>
  <p:sldSz cx="12192000" cy="6858000"/>
  <p:notesSz cx="6858000" cy="9144000"/>
  <p:embeddedFontLst>
    <p:embeddedFont>
      <p:font typeface="Bricolage Grotesque Display"/>
      <p:regular r:id="rId201314"/>
    </p:embeddedFont>
    <p:embeddedFont>
      <p:font typeface="Bricolage Grotesque Heading"/>
      <p:regular r:id="rId201315"/>
    </p:embeddedFont>
    <p:embeddedFont>
      <p:font typeface="DM Sans Text"/>
      <p:regular r:id="rId201316"/>
    </p:embeddedFont>
    <p:embeddedFont>
      <p:font typeface="DM Mono Labels"/>
      <p:regular r:id="rId201317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aaa6ee50cad14a7c"/><Relationship Type="http://schemas.openxmlformats.org/officeDocument/2006/relationships/slideMaster" Target="/ppt/slideMasters/slideMaster1.xml" Id="R0cd65d591a6a48af"/><Relationship Type="http://schemas.openxmlformats.org/officeDocument/2006/relationships/notesMaster" Target="/ppt/notesMasters/notesMaster1.xml" Id="Rdeb84743a7c14ac1"/><Relationship Type="http://schemas.openxmlformats.org/officeDocument/2006/relationships/presProps" Target="/ppt/presProps.xml" Id="R55eac2ca3a764f15"/><Relationship Type="http://schemas.openxmlformats.org/officeDocument/2006/relationships/tableStyles" Target="/ppt/tableStyles.xml" Id="Rcb25f645870b4e9a"/><Relationship Type="http://schemas.openxmlformats.org/officeDocument/2006/relationships/slide" Target="/ppt/slides/slide1.xml" Id="R38cf979c59fc486c"/><Relationship Type="http://schemas.openxmlformats.org/officeDocument/2006/relationships/slide" Target="/ppt/slides/slide2.xml" Id="Ra9bd7656bfb248b6"/><Relationship Type="http://schemas.openxmlformats.org/officeDocument/2006/relationships/slide" Target="/ppt/slides/slide3.xml" Id="R7018436128384cc3"/><Relationship Type="http://schemas.openxmlformats.org/officeDocument/2006/relationships/slide" Target="/ppt/slides/slide4.xml" Id="Ra2622099ae7c4920"/><Relationship Type="http://schemas.openxmlformats.org/officeDocument/2006/relationships/slide" Target="/ppt/slides/slide5.xml" Id="R4bcd86a7e9804207"/><Relationship Type="http://schemas.openxmlformats.org/officeDocument/2006/relationships/slide" Target="/ppt/slides/slide6.xml" Id="R3b753bd8b7fd4b4e"/><Relationship Type="http://schemas.openxmlformats.org/officeDocument/2006/relationships/slide" Target="/ppt/slides/slide7.xml" Id="R53d0c15f54434ccb"/><Relationship Type="http://schemas.openxmlformats.org/officeDocument/2006/relationships/slide" Target="/ppt/slides/slide8.xml" Id="R4ac4c32fe08748a9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?><Relationships xmlns="http://schemas.openxmlformats.org/package/2006/relationships"><Relationship Type="http://schemas.openxmlformats.org/officeDocument/2006/relationships/theme" Target="/ppt/notesMasters/theme/theme3.xml" Id="Rbcba0a384b2d41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?><Relationships xmlns="http://schemas.openxmlformats.org/package/2006/relationships"><Relationship Type="http://schemas.openxmlformats.org/officeDocument/2006/relationships/slide" Target="/ppt/slides/slide1.xml" Id="R2ad4bdd7f1d94c92" /><Relationship Type="http://schemas.openxmlformats.org/officeDocument/2006/relationships/notesMaster" Target="/ppt/notesMasters/notesMaster1.xml" Id="R1f496e86a5154405" /></Relationships>
</file>

<file path=ppt/notesSlides/_rels/notesSlide2.xml.rels><?xml version="1.0" encoding="utf-8"?><Relationships xmlns="http://schemas.openxmlformats.org/package/2006/relationships"><Relationship Type="http://schemas.openxmlformats.org/officeDocument/2006/relationships/slide" Target="/ppt/slides/slide2.xml" Id="R10b871cbc8c543fa" /><Relationship Type="http://schemas.openxmlformats.org/officeDocument/2006/relationships/notesMaster" Target="/ppt/notesMasters/notesMaster1.xml" Id="Rc9a8065a0f5d449b" /></Relationships>
</file>

<file path=ppt/notesSlides/_rels/notesSlide3.xml.rels><?xml version="1.0" encoding="utf-8"?><Relationships xmlns="http://schemas.openxmlformats.org/package/2006/relationships"><Relationship Type="http://schemas.openxmlformats.org/officeDocument/2006/relationships/slide" Target="/ppt/slides/slide3.xml" Id="R8b5da74970c24472" /><Relationship Type="http://schemas.openxmlformats.org/officeDocument/2006/relationships/notesMaster" Target="/ppt/notesMasters/notesMaster1.xml" Id="Rba68984e7a714ea9" /></Relationships>
</file>

<file path=ppt/notesSlides/_rels/notesSlide4.xml.rels><?xml version="1.0" encoding="utf-8"?><Relationships xmlns="http://schemas.openxmlformats.org/package/2006/relationships"><Relationship Type="http://schemas.openxmlformats.org/officeDocument/2006/relationships/slide" Target="/ppt/slides/slide4.xml" Id="R8ed7107b18364f78" /><Relationship Type="http://schemas.openxmlformats.org/officeDocument/2006/relationships/notesMaster" Target="/ppt/notesMasters/notesMaster1.xml" Id="R946d16e5740d410e" /></Relationships>
</file>

<file path=ppt/notesSlides/_rels/notesSlide5.xml.rels><?xml version="1.0" encoding="utf-8"?><Relationships xmlns="http://schemas.openxmlformats.org/package/2006/relationships"><Relationship Type="http://schemas.openxmlformats.org/officeDocument/2006/relationships/slide" Target="/ppt/slides/slide5.xml" Id="R444512e497f74db2" /><Relationship Type="http://schemas.openxmlformats.org/officeDocument/2006/relationships/notesMaster" Target="/ppt/notesMasters/notesMaster1.xml" Id="R3f1da22ed32e4653" /></Relationships>
</file>

<file path=ppt/notesSlides/_rels/notesSlide6.xml.rels><?xml version="1.0" encoding="utf-8"?><Relationships xmlns="http://schemas.openxmlformats.org/package/2006/relationships"><Relationship Type="http://schemas.openxmlformats.org/officeDocument/2006/relationships/slide" Target="/ppt/slides/slide6.xml" Id="Ra4bbd8dfa3bd46a3" /><Relationship Type="http://schemas.openxmlformats.org/officeDocument/2006/relationships/notesMaster" Target="/ppt/notesMasters/notesMaster1.xml" Id="R430fb928fcfb4e8f" /></Relationships>
</file>

<file path=ppt/notesSlides/_rels/notesSlide7.xml.rels><?xml version="1.0" encoding="utf-8"?><Relationships xmlns="http://schemas.openxmlformats.org/package/2006/relationships"><Relationship Type="http://schemas.openxmlformats.org/officeDocument/2006/relationships/slide" Target="/ppt/slides/slide7.xml" Id="Ra85481d4f8834e81" /><Relationship Type="http://schemas.openxmlformats.org/officeDocument/2006/relationships/notesMaster" Target="/ppt/notesMasters/notesMaster1.xml" Id="Radb859aa207a4a1b" /></Relationships>
</file>

<file path=ppt/notesSlides/_rels/notesSlide8.xml.rels><?xml version="1.0" encoding="utf-8"?><Relationships xmlns="http://schemas.openxmlformats.org/package/2006/relationships"><Relationship Type="http://schemas.openxmlformats.org/officeDocument/2006/relationships/slide" Target="/ppt/slides/slide8.xml" Id="Rf99526263a0b47aa" /><Relationship Type="http://schemas.openxmlformats.org/officeDocument/2006/relationships/notesMaster" Target="/ppt/notesMasters/notesMaster1.xml" Id="R38c76a1d9e534d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https://github.com/zarazhangrui/beautiful-html-templates/tree/main/templates/mat</a:t>
            </a:r>
          </a:p>
          <a:p xmlns:a="http://schemas.openxmlformats.org/drawingml/2006/main">
            <a:r>
              <a:t>- https://github.com/zarazhangrui/beautiful-html-templates/blob/main/templates/mat/design.md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Mat template system. All room names, acoustic values, measurements, listening-session lengths, and observations are illustrative demo content created for this editable presentation.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https://github.com/zarazhangrui/beautiful-html-templates/tree/main/templates/mat</a:t>
            </a:r>
          </a:p>
          <a:p xmlns:a="http://schemas.openxmlformats.org/drawingml/2006/main">
            <a:r>
              <a:t>- https://github.com/zarazhangrui/beautiful-html-templates/blob/main/templates/mat/design.md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Mat template system. All room names, acoustic values, measurements, listening-session lengths, and observations are illustrative demo content created for this editable presentation.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https://github.com/zarazhangrui/beautiful-html-templates/tree/main/templates/mat</a:t>
            </a:r>
          </a:p>
          <a:p xmlns:a="http://schemas.openxmlformats.org/drawingml/2006/main">
            <a:r>
              <a:t>- https://github.com/zarazhangrui/beautiful-html-templates/blob/main/templates/mat/design.md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Mat template system. All room names, acoustic values, measurements, listening-session lengths, and observations are illustrative demo content created for this editable presentation.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https://github.com/zarazhangrui/beautiful-html-templates/tree/main/templates/mat</a:t>
            </a:r>
          </a:p>
          <a:p xmlns:a="http://schemas.openxmlformats.org/drawingml/2006/main">
            <a:r>
              <a:t>- https://github.com/zarazhangrui/beautiful-html-templates/blob/main/templates/mat/design.md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Mat template system. All room names, acoustic values, measurements, listening-session lengths, and observations are illustrative demo content created for this editable presentation.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https://github.com/zarazhangrui/beautiful-html-templates/tree/main/templates/mat</a:t>
            </a:r>
          </a:p>
          <a:p xmlns:a="http://schemas.openxmlformats.org/drawingml/2006/main">
            <a:r>
              <a:t>- https://github.com/zarazhangrui/beautiful-html-templates/blob/main/templates/mat/design.md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Mat template system. All room names, acoustic values, measurements, listening-session lengths, and observations are illustrative demo content created for this editable presentation. The frequency-decay profile is a native editable PowerPoint line chart.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https://github.com/zarazhangrui/beautiful-html-templates/tree/main/templates/mat</a:t>
            </a:r>
          </a:p>
          <a:p xmlns:a="http://schemas.openxmlformats.org/drawingml/2006/main">
            <a:r>
              <a:t>- https://github.com/zarazhangrui/beautiful-html-templates/blob/main/templates/mat/design.md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Mat template system. All room names, acoustic values, measurements, listening-session lengths, and observations are illustrative demo content created for this editable presentation. The listening-session comparison is a native editable PowerPoint clustered column chart.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https://github.com/zarazhangrui/beautiful-html-templates/tree/main/templates/mat</a:t>
            </a:r>
          </a:p>
          <a:p xmlns:a="http://schemas.openxmlformats.org/drawingml/2006/main">
            <a:r>
              <a:t>- https://github.com/zarazhangrui/beautiful-html-templates/blob/main/templates/mat/design.md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Mat template system. All room names, acoustic values, measurements, listening-session lengths, and observations are illustrative demo content created for this editable presentation. The room ledger is a native editable PowerPoint 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https://github.com/zarazhangrui/frontend-slides</a:t>
            </a:r>
          </a:p>
          <a:p xmlns:a="http://schemas.openxmlformats.org/drawingml/2006/main">
            <a:r>
              <a:t>- https://github.com/zarazhangrui/beautiful-html-templates/tree/main/templates/mat</a:t>
            </a:r>
          </a:p>
          <a:p xmlns:a="http://schemas.openxmlformats.org/drawingml/2006/main">
            <a:r>
              <a:t>- https://github.com/zarazhangrui/beautiful-html-templates/blob/main/templates/mat/design.md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direction adapted from Zara Zhang's MIT-licensed Mat template system. All room names, acoustic values, measurements, listening-session lengths, and observations are illustrative demo content created for this editable presentation.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15e74cc12b504b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theme" Target="/ppt/slideMasters/theme/theme2.xml" Id="R5117f4cd2d9844b3" /><Relationship Type="http://schemas.openxmlformats.org/officeDocument/2006/relationships/slideLayout" Target="/ppt/slideLayouts/slideLayout1.xml" Id="R35e67c870b2d48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e67c870b2d48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d7ccb11eb30e4634" /><Relationship Type="http://schemas.openxmlformats.org/officeDocument/2006/relationships/notesSlide" Target="/ppt/notesSlides/notesSlide1.xml" Id="R90187c76a03f407c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c47fdba927114c41" /><Relationship Type="http://schemas.openxmlformats.org/officeDocument/2006/relationships/notesSlide" Target="/ppt/notesSlides/notesSlide2.xml" Id="Rab42d3e8d0784c05" 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32b187c5966f4c68" /><Relationship Type="http://schemas.openxmlformats.org/officeDocument/2006/relationships/notesSlide" Target="/ppt/notesSlides/notesSlide3.xml" Id="Rc27dc3ba0c7d4530" 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5c440d0ebe29420f" /><Relationship Type="http://schemas.openxmlformats.org/officeDocument/2006/relationships/notesSlide" Target="/ppt/notesSlides/notesSlide4.xml" Id="Rfcccdb0816f949b6" 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aaa2e7a5d5634b98" /><Relationship Type="http://schemas.openxmlformats.org/officeDocument/2006/relationships/chart" Target="/ppt/slides/charts/chart1.xml" Id="Rdde3b38529d546a6" /><Relationship Type="http://schemas.openxmlformats.org/officeDocument/2006/relationships/notesSlide" Target="/ppt/notesSlides/notesSlide5.xml" Id="R99413f2f9ec54be8" 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7060e12ddfb48e9" /><Relationship Type="http://schemas.openxmlformats.org/officeDocument/2006/relationships/chart" Target="/ppt/slides/charts/chart2.xml" Id="Rbe31ff63ac3f4724" /><Relationship Type="http://schemas.openxmlformats.org/officeDocument/2006/relationships/notesSlide" Target="/ppt/notesSlides/notesSlide6.xml" Id="R0816728ea4f0434d" 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6cdbffa13ef149d0" /><Relationship Type="http://schemas.openxmlformats.org/officeDocument/2006/relationships/notesSlide" Target="/ppt/notesSlides/notesSlide7.xml" Id="Re9be443eab4140cd" 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8db469c61181408d" /><Relationship Type="http://schemas.openxmlformats.org/officeDocument/2006/relationships/notesSlide" Target="/ppt/notesSlides/notesSlide8.xml" Id="Rd6bf628bcf88440c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Untreated</c:v>
          </c:tx>
          <c:spPr>
            <a:ln xmlns:a="http://schemas.openxmlformats.org/drawingml/2006/main" w="38100">
              <a:solidFill>
                <a:srgbClr val="F0E8D2">
                  <a:alpha val="62000"/>
                </a:srgbClr>
              </a:solidFill>
              <a:prstDash val="solid"/>
            </a:ln>
          </c:spPr>
          <c:marker>
            <c:symbol val="circle"/>
            <c:size val="9"/>
          </c:marker>
          <c:cat>
            <c:strLit>
              <c:ptCount val="6"/>
              <c:pt idx="0">
                <c:v>125</c:v>
              </c:pt>
              <c:pt idx="1">
                <c:v>250</c:v>
              </c:pt>
              <c:pt idx="2">
                <c:v>500</c:v>
              </c:pt>
              <c:pt idx="3">
                <c:v>1k</c:v>
              </c:pt>
              <c:pt idx="4">
                <c:v>2k</c:v>
              </c:pt>
              <c:pt idx="5">
                <c:v>4k</c:v>
              </c:pt>
            </c:strLit>
          </c:cat>
          <c:val>
            <c:numLit>
              <c:formatCode>0.0</c:formatCode>
              <c:ptCount val="6"/>
              <c:pt idx="0">
                <c:v>0.78</c:v>
              </c:pt>
              <c:pt idx="1">
                <c:v>0.64</c:v>
              </c:pt>
              <c:pt idx="2">
                <c:v>0.51</c:v>
              </c:pt>
              <c:pt idx="3">
                <c:v>0.46</c:v>
              </c:pt>
              <c:pt idx="4">
                <c:v>0.43</c:v>
              </c:pt>
              <c:pt idx="5">
                <c:v>0.4</c:v>
              </c:pt>
            </c:numLit>
          </c:val>
        </c:ser>
        <c:ser>
          <c:idx val="1"/>
          <c:order val="1"/>
          <c:tx>
            <c:v>Tuned</c:v>
          </c:tx>
          <c:spPr>
            <a:ln xmlns:a="http://schemas.openxmlformats.org/drawingml/2006/main" w="38100">
              <a:solidFill>
                <a:srgbClr val="C07030"/>
              </a:solidFill>
              <a:prstDash val="solid"/>
            </a:ln>
          </c:spPr>
          <c:marker>
            <c:symbol val="circle"/>
            <c:size val="9"/>
          </c:marker>
          <c:cat>
            <c:strLit>
              <c:ptCount val="6"/>
              <c:pt idx="0">
                <c:v>125</c:v>
              </c:pt>
              <c:pt idx="1">
                <c:v>250</c:v>
              </c:pt>
              <c:pt idx="2">
                <c:v>500</c:v>
              </c:pt>
              <c:pt idx="3">
                <c:v>1k</c:v>
              </c:pt>
              <c:pt idx="4">
                <c:v>2k</c:v>
              </c:pt>
              <c:pt idx="5">
                <c:v>4k</c:v>
              </c:pt>
            </c:strLit>
          </c:cat>
          <c:val>
            <c:numLit>
              <c:formatCode>0.0</c:formatCode>
              <c:ptCount val="6"/>
              <c:pt idx="0">
                <c:v>0.55</c:v>
              </c:pt>
              <c:pt idx="1">
                <c:v>0.44</c:v>
              </c:pt>
              <c:pt idx="2">
                <c:v>0.38</c:v>
              </c:pt>
              <c:pt idx="3">
                <c:v>0.35</c:v>
              </c:pt>
              <c:pt idx="4">
                <c:v>0.34</c:v>
              </c:pt>
              <c:pt idx="5">
                <c:v>0.33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 b="1">
                    <a:solidFill>
                      <a:srgbClr val="F0E8D2">
                        <a:alpha val="72000"/>
                      </a:srgbClr>
                    </a:solidFill>
                  </a:rPr>
                  <a:t>OCTAVE BAND · HZ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latin typeface="DM Mono Labels"/>
                  <a:solidFill>
                    <a:srgbClr val="F0E8D2">
                      <a:alpha val="72000"/>
                    </a:srgbClr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F0E8D2">
                <a:alpha val="30000"/>
              </a:srgbClr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 b="1">
                <a:latin typeface="DM Mono Labels"/>
                <a:solidFill>
                  <a:srgbClr val="F0E8D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0.9"/>
          <c:min val="0.2"/>
        </c:scaling>
        <c:delete val="0"/>
        <c:axPos val="l"/>
        <c:majorGridlines>
          <c:spPr>
            <a:ln xmlns:a="http://schemas.openxmlformats.org/drawingml/2006/main" w="9525">
              <a:solidFill>
                <a:srgbClr val="F0E8D2">
                  <a:alpha val="16000"/>
                </a:srgbClr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 b="1">
                    <a:solidFill>
                      <a:srgbClr val="F0E8D2">
                        <a:alpha val="72000"/>
                      </a:srgbClr>
                    </a:solidFill>
                  </a:rPr>
                  <a:t>DECAY · SECONDS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latin typeface="DM Mono Labels"/>
                  <a:solidFill>
                    <a:srgbClr val="F0E8D2">
                      <a:alpha val="72000"/>
                    </a:srgbClr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F0E8D2">
                <a:alpha val="30000"/>
              </a:srgbClr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 b="1">
                <a:latin typeface="DM Mono Labels"/>
                <a:solidFill>
                  <a:srgbClr val="F0E8D2"/>
                </a:solidFill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0">
          <a:solidFill>
            <a:srgbClr val="000000">
              <a:alpha val="0"/>
            </a:srgbClr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latin typeface="DM Mono Labels"/>
              <a:solidFill>
                <a:srgbClr val="F0E8D2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0">
      <a:solidFill>
        <a:srgbClr val="000000">
          <a:alpha val="0"/>
        </a:srgbClr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Midday</c:v>
          </c:tx>
          <c:spPr>
            <a:solidFill xmlns:a="http://schemas.openxmlformats.org/drawingml/2006/main">
              <a:srgbClr val="2E3D30"/>
            </a:solidFill>
            <a:ln xmlns:a="http://schemas.openxmlformats.org/drawingml/2006/main" w="9525">
              <a:solidFill>
                <a:srgbClr val="2E3D30"/>
              </a:solidFill>
              <a:prstDash val="solid"/>
            </a:ln>
          </c:spPr>
          <c:cat>
            <c:strLit>
              <c:ptCount val="4"/>
              <c:pt idx="0">
                <c:v>Bare</c:v>
              </c:pt>
              <c:pt idx="1">
                <c:v>Softened</c:v>
              </c:pt>
              <c:pt idx="2">
                <c:v>Balanced</c:v>
              </c:pt>
              <c:pt idx="3">
                <c:v>Tuned</c:v>
              </c:pt>
            </c:strLit>
          </c:cat>
          <c:val>
            <c:numLit>
              <c:formatCode>General</c:formatCode>
              <c:ptCount val="4"/>
              <c:pt idx="0">
                <c:v>22</c:v>
              </c:pt>
              <c:pt idx="1">
                <c:v>31</c:v>
              </c:pt>
              <c:pt idx="2">
                <c:v>43</c:v>
              </c:pt>
              <c:pt idx="3">
                <c:v>54</c:v>
              </c:pt>
            </c:numLit>
          </c:val>
        </c:ser>
        <c:ser>
          <c:idx val="1"/>
          <c:order val="1"/>
          <c:tx>
            <c:v>Evening</c:v>
          </c:tx>
          <c:spPr>
            <a:solidFill xmlns:a="http://schemas.openxmlformats.org/drawingml/2006/main">
              <a:srgbClr val="C07030"/>
            </a:solidFill>
            <a:ln xmlns:a="http://schemas.openxmlformats.org/drawingml/2006/main" w="9525">
              <a:solidFill>
                <a:srgbClr val="C07030"/>
              </a:solidFill>
              <a:prstDash val="solid"/>
            </a:ln>
          </c:spPr>
          <c:cat>
            <c:strLit>
              <c:ptCount val="4"/>
              <c:pt idx="0">
                <c:v>Bare</c:v>
              </c:pt>
              <c:pt idx="1">
                <c:v>Softened</c:v>
              </c:pt>
              <c:pt idx="2">
                <c:v>Balanced</c:v>
              </c:pt>
              <c:pt idx="3">
                <c:v>Tuned</c:v>
              </c:pt>
            </c:strLit>
          </c:cat>
          <c:val>
            <c:numLit>
              <c:formatCode>General</c:formatCode>
              <c:ptCount val="4"/>
              <c:pt idx="0">
                <c:v>28</c:v>
              </c:pt>
              <c:pt idx="1">
                <c:v>39</c:v>
              </c:pt>
              <c:pt idx="2">
                <c:v>52</c:v>
              </c:pt>
              <c:pt idx="3">
                <c:v>63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latin typeface="DM Mono Labels"/>
                  <a:solidFill>
                    <a:srgbClr val="232E2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32E26">
                <a:alpha val="36000"/>
              </a:srgbClr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 b="1">
                <a:latin typeface="DM Mono Labels"/>
                <a:solidFill>
                  <a:srgbClr val="232E2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32E26">
                  <a:alpha val="18000"/>
                </a:srgbClr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 b="1">
                    <a:solidFill>
                      <a:srgbClr val="232E26">
                        <a:alpha val="70000"/>
                      </a:srgbClr>
                    </a:solidFill>
                  </a:rPr>
                  <a:t>UNINTERRUPTED MINUTES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latin typeface="DM Mono Labels"/>
                  <a:solidFill>
                    <a:srgbClr val="232E26">
                      <a:alpha val="70000"/>
                    </a:srgbClr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32E26">
                <a:alpha val="36000"/>
              </a:srgbClr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 b="1">
                <a:latin typeface="DM Mono Labels"/>
                <a:solidFill>
                  <a:srgbClr val="232E26"/>
                </a:solidFill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EDE6D0"/>
        </a:solidFill>
        <a:ln xmlns:a="http://schemas.openxmlformats.org/drawingml/2006/main" w="0">
          <a:solidFill>
            <a:srgbClr val="EDE6D0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latin typeface="DM Mono Labels"/>
              <a:solidFill>
                <a:srgbClr val="232E26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EDE6D0"/>
    </a:solidFill>
    <a:ln xmlns:a="http://schemas.openxmlformats.org/drawingml/2006/main" w="0">
      <a:solidFill>
        <a:srgbClr val="EDE6D0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32E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t-cover-wood-glow">
            <a:extLst xmlns:a="http://schemas.openxmlformats.org/drawingml/2006/main">
              <a:ext uri="{FF2B5EF4-FFF2-40B4-BE49-F238E27FC236}">
                <a16:creationId xmlns:a16="http://schemas.microsoft.com/office/drawing/2014/main" id="{7F851CA7-7351-40B0-A476-68F295DC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71850"/>
            <a:ext cx="4324350" cy="32766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7A4E24">
                  <a:alpha val="34000"/>
                </a:srgbClr>
              </a:gs>
              <a:gs pos="46000">
                <a:srgbClr val="7A4E24">
                  <a:alpha val="14000"/>
                </a:srgbClr>
              </a:gs>
              <a:gs pos="100000">
                <a:srgbClr val="232E26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mat-cover-kicker">
            <a:extLst xmlns:a="http://schemas.openxmlformats.org/drawingml/2006/main">
              <a:ext uri="{FF2B5EF4-FFF2-40B4-BE49-F238E27FC236}">
                <a16:creationId xmlns:a16="http://schemas.microsoft.com/office/drawing/2014/main" id="{B238B291-1445-4361-8A14-9D390DDE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defRPr>
            </a:pPr>
            <a:r>
              <a:rPr sz="1050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rPr>
              <a:t>A FIELD GUIDE TO LISTENING ROOMS</a:t>
            </a:r>
          </a:p>
        </p:txBody>
      </p:sp>
      <p:sp>
        <p:nvSpPr>
          <p:cNvPr id="3" name="mat-cover-title">
            <a:extLst xmlns:a="http://schemas.openxmlformats.org/drawingml/2006/main">
              <a:ext uri="{FF2B5EF4-FFF2-40B4-BE49-F238E27FC236}">
                <a16:creationId xmlns:a16="http://schemas.microsoft.com/office/drawing/2014/main" id="{787E4AC8-80CF-45F5-8B91-CC557307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85725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7000"/>
              </a:lnSpc>
              <a:buNone/>
              <a:defRPr sz="7950" b="1" i="0">
                <a:solidFill>
                  <a:srgbClr val="F0E8D2"/>
                </a:solidFill>
                <a:latin typeface="Bricolage Grotesque Display"/>
                <a:ea typeface="Bricolage Grotesque Display"/>
                <a:cs typeface="Bricolage Grotesque Display"/>
              </a:defRPr>
            </a:pPr>
            <a:r>
              <a:rPr sz="7950" b="1" i="0">
                <a:solidFill>
                  <a:srgbClr val="F0E8D2"/>
                </a:solidFill>
                <a:latin typeface="Bricolage Grotesque Display"/>
                <a:ea typeface="Bricolage Grotesque Display"/>
                <a:cs typeface="Bricolage Grotesque Display"/>
              </a:rPr>
              <a:t>After the</a:t>
            </a:r>
          </a:p>
          <a:p xmlns:a="http://schemas.openxmlformats.org/drawingml/2006/main">
            <a:pPr algn="l">
              <a:lnSpc>
                <a:spcPct val="87000"/>
              </a:lnSpc>
              <a:buNone/>
              <a:defRPr sz="7950" b="1" i="0">
                <a:solidFill>
                  <a:srgbClr val="F0E8D2"/>
                </a:solidFill>
                <a:latin typeface="Bricolage Grotesque Display"/>
                <a:ea typeface="Bricolage Grotesque Display"/>
                <a:cs typeface="Bricolage Grotesque Display"/>
              </a:defRPr>
            </a:pPr>
            <a:r>
              <a:rPr sz="7950" b="1" i="0">
                <a:solidFill>
                  <a:srgbClr val="F0E8D2"/>
                </a:solidFill>
                <a:latin typeface="Bricolage Grotesque Display"/>
                <a:ea typeface="Bricolage Grotesque Display"/>
                <a:cs typeface="Bricolage Grotesque Display"/>
              </a:rPr>
              <a:t>needle drops.</a:t>
            </a:r>
          </a:p>
        </p:txBody>
      </p:sp>
      <p:sp>
        <p:nvSpPr>
          <p:cNvPr id="4" name="mat-cover-accent-rule">
            <a:extLst xmlns:a="http://schemas.openxmlformats.org/drawingml/2006/main">
              <a:ext uri="{FF2B5EF4-FFF2-40B4-BE49-F238E27FC236}">
                <a16:creationId xmlns:a16="http://schemas.microsoft.com/office/drawing/2014/main" id="{2A8E03BC-62F2-4D71-8C7A-1B282F1E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70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at-cover-subtitle">
            <a:extLst xmlns:a="http://schemas.openxmlformats.org/drawingml/2006/main">
              <a:ext uri="{FF2B5EF4-FFF2-40B4-BE49-F238E27FC236}">
                <a16:creationId xmlns:a16="http://schemas.microsoft.com/office/drawing/2014/main" id="{ABE9DCCD-71B8-477F-8A94-63D7B9E7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9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100" b="0" i="0">
                <a:solidFill>
                  <a:srgbClr val="F0E8D2"/>
                </a:solidFill>
                <a:latin typeface="DM Sans Text"/>
                <a:ea typeface="DM Sans Text"/>
                <a:cs typeface="DM Sans Text"/>
              </a:defRPr>
            </a:pPr>
            <a:r>
              <a:rPr sz="2100" b="0" i="0">
                <a:solidFill>
                  <a:srgbClr val="F0E8D2"/>
                </a:solidFill>
                <a:latin typeface="DM Sans Text"/>
                <a:ea typeface="DM Sans Text"/>
                <a:cs typeface="DM Sans Text"/>
              </a:rPr>
              <a:t>A small field guide to rooms that disappear when the music starts.</a:t>
            </a:r>
          </a:p>
        </p:txBody>
      </p:sp>
      <p:sp>
        <p:nvSpPr>
          <p:cNvPr id="6" name="mat-cover-edition">
            <a:extLst xmlns:a="http://schemas.openxmlformats.org/drawingml/2006/main">
              <a:ext uri="{FF2B5EF4-FFF2-40B4-BE49-F238E27FC236}">
                <a16:creationId xmlns:a16="http://schemas.microsoft.com/office/drawing/2014/main" id="{8FA03B2B-71FB-4740-BE29-6F90D7E7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341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F0E8D2">
                    <a:alpha val="64000"/>
                  </a:srgbClr>
                </a:solidFill>
                <a:latin typeface="DM Mono Labels"/>
                <a:ea typeface="DM Mono Labels"/>
                <a:cs typeface="DM Mono Labels"/>
              </a:defRPr>
            </a:pPr>
            <a:r>
              <a:rPr sz="900" b="0" i="0">
                <a:solidFill>
                  <a:srgbClr val="F0E8D2">
                    <a:alpha val="64000"/>
                  </a:srgbClr>
                </a:solidFill>
                <a:latin typeface="DM Mono Labels"/>
                <a:ea typeface="DM Mono Labels"/>
                <a:cs typeface="DM Mono Labels"/>
              </a:rPr>
              <a:t>LISTENING NOTE 01 / 2026</a:t>
            </a:r>
          </a:p>
        </p:txBody>
      </p:sp>
      <p:sp>
        <p:nvSpPr>
          <p:cNvPr id="7" name="mat-cover-mark">
            <a:extLst xmlns:a="http://schemas.openxmlformats.org/drawingml/2006/main">
              <a:ext uri="{FF2B5EF4-FFF2-40B4-BE49-F238E27FC236}">
                <a16:creationId xmlns:a16="http://schemas.microsoft.com/office/drawing/2014/main" id="{F01D7E5F-22FD-410F-9C72-1A614E8D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914900"/>
            <a:ext cx="1638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4500" b="1" i="0">
                <a:solidFill>
                  <a:srgbClr val="C07030"/>
                </a:solidFill>
                <a:latin typeface="Bricolage Grotesque Heading"/>
                <a:ea typeface="Bricolage Grotesque Heading"/>
                <a:cs typeface="Bricolage Grotesque Heading"/>
              </a:defRPr>
            </a:pPr>
            <a:r>
              <a:rPr sz="4500" b="1" i="0">
                <a:solidFill>
                  <a:srgbClr val="C07030"/>
                </a:solidFill>
                <a:latin typeface="Bricolage Grotesque Heading"/>
                <a:ea typeface="Bricolage Grotesque Heading"/>
                <a:cs typeface="Bricolage Grotesque Heading"/>
              </a:rPr>
              <a:t>33⅓</a:t>
            </a:r>
          </a:p>
        </p:txBody>
      </p:sp>
    </p:spTree>
    <p:extLst>
      <p:ext uri="{BB962C8B-B14F-4D97-AF65-F5344CB8AC3E}">
        <p14:creationId xmlns:p14="http://schemas.microsoft.com/office/powerpoint/2010/main" val="7169517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DE6D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t-top-rule-2">
            <a:extLst xmlns:a="http://schemas.openxmlformats.org/drawingml/2006/main">
              <a:ext uri="{FF2B5EF4-FFF2-40B4-BE49-F238E27FC236}">
                <a16:creationId xmlns:a16="http://schemas.microsoft.com/office/drawing/2014/main" id="{6DB7ECB2-37B8-418D-BD73-DE9DE2E3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E26">
              <a:alpha val="6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mat-section-2">
            <a:extLst xmlns:a="http://schemas.openxmlformats.org/drawingml/2006/main">
              <a:ext uri="{FF2B5EF4-FFF2-40B4-BE49-F238E27FC236}">
                <a16:creationId xmlns:a16="http://schemas.microsoft.com/office/drawing/2014/main" id="{7DC5E4BB-58F8-47B7-A07C-50978690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638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232E26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232E26"/>
                </a:solidFill>
                <a:latin typeface="DM Mono Labels"/>
                <a:ea typeface="DM Mono Labels"/>
                <a:cs typeface="DM Mono Labels"/>
              </a:rPr>
              <a:t>THE PREMISE</a:t>
            </a:r>
          </a:p>
        </p:txBody>
      </p:sp>
      <p:sp>
        <p:nvSpPr>
          <p:cNvPr id="3" name="mat-page-2">
            <a:extLst xmlns:a="http://schemas.openxmlformats.org/drawingml/2006/main">
              <a:ext uri="{FF2B5EF4-FFF2-40B4-BE49-F238E27FC236}">
                <a16:creationId xmlns:a16="http://schemas.microsoft.com/office/drawing/2014/main" id="{D5615CC8-1C69-46C2-9066-3861E809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385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232E26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232E26"/>
                </a:solidFill>
                <a:latin typeface="DM Mono Labels"/>
                <a:ea typeface="DM Mono Labels"/>
                <a:cs typeface="DM Mono Labels"/>
              </a:rPr>
              <a:t>02 / 08</a:t>
            </a:r>
          </a:p>
        </p:txBody>
      </p:sp>
      <p:sp>
        <p:nvSpPr>
          <p:cNvPr id="4" name="mat-bottom-rule-2">
            <a:extLst xmlns:a="http://schemas.openxmlformats.org/drawingml/2006/main">
              <a:ext uri="{FF2B5EF4-FFF2-40B4-BE49-F238E27FC236}">
                <a16:creationId xmlns:a16="http://schemas.microsoft.com/office/drawing/2014/main" id="{A5431E8F-06A0-494A-849B-FE4F273B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674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E26">
              <a:alpha val="6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at-footer-2">
            <a:extLst xmlns:a="http://schemas.openxmlformats.org/drawingml/2006/main">
              <a:ext uri="{FF2B5EF4-FFF2-40B4-BE49-F238E27FC236}">
                <a16:creationId xmlns:a16="http://schemas.microsoft.com/office/drawing/2014/main" id="{CFDBDB52-8CA3-4E27-860C-C608AEBB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232E26">
                    <a:alpha val="62000"/>
                  </a:srgbClr>
                </a:solidFill>
                <a:latin typeface="DM Mono Labels"/>
                <a:ea typeface="DM Mono Labels"/>
                <a:cs typeface="DM Mono Labels"/>
              </a:defRPr>
            </a:pPr>
            <a:r>
              <a:rPr sz="750" b="0" i="0">
                <a:solidFill>
                  <a:srgbClr val="232E26">
                    <a:alpha val="62000"/>
                  </a:srgbClr>
                </a:solidFill>
                <a:latin typeface="DM Mono Labels"/>
                <a:ea typeface="DM Mono Labels"/>
                <a:cs typeface="DM Mono Labels"/>
              </a:rPr>
              <a:t>AFTER THE NEEDLE DROPS · EDITABLE DEMO</a:t>
            </a:r>
          </a:p>
        </p:txBody>
      </p:sp>
      <p:sp>
        <p:nvSpPr>
          <p:cNvPr id="6" name="mat-premise-kicker">
            <a:extLst xmlns:a="http://schemas.openxmlformats.org/drawingml/2006/main">
              <a:ext uri="{FF2B5EF4-FFF2-40B4-BE49-F238E27FC236}">
                <a16:creationId xmlns:a16="http://schemas.microsoft.com/office/drawing/2014/main" id="{D15445BE-D9F4-47AD-B07D-62533AB4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defRPr>
            </a:pPr>
            <a:r>
              <a:rPr sz="1050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rPr>
              <a:t>ROOM FIRST / COMPONENTS SECOND</a:t>
            </a:r>
          </a:p>
        </p:txBody>
      </p:sp>
      <p:sp>
        <p:nvSpPr>
          <p:cNvPr id="7" name="mat-premise-title">
            <a:extLst xmlns:a="http://schemas.openxmlformats.org/drawingml/2006/main">
              <a:ext uri="{FF2B5EF4-FFF2-40B4-BE49-F238E27FC236}">
                <a16:creationId xmlns:a16="http://schemas.microsoft.com/office/drawing/2014/main" id="{A23F2EB2-E2CF-42D6-A862-B9D5937B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1000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975" b="1" i="0">
                <a:solidFill>
                  <a:srgbClr val="232E26"/>
                </a:solidFill>
                <a:latin typeface="Bricolage Grotesque Display"/>
                <a:ea typeface="Bricolage Grotesque Display"/>
                <a:cs typeface="Bricolage Grotesque Display"/>
              </a:defRPr>
            </a:pPr>
            <a:r>
              <a:rPr sz="3975" b="1" i="0">
                <a:solidFill>
                  <a:srgbClr val="232E26"/>
                </a:solidFill>
                <a:latin typeface="Bricolage Grotesque Display"/>
                <a:ea typeface="Bricolage Grotesque Display"/>
                <a:cs typeface="Bricolage Grotesque Display"/>
              </a:rPr>
              <a:t>A good listening room does not sound impressive.</a:t>
            </a:r>
          </a:p>
        </p:txBody>
      </p:sp>
      <p:sp>
        <p:nvSpPr>
          <p:cNvPr id="8" name="mat-premise-statement">
            <a:extLst xmlns:a="http://schemas.openxmlformats.org/drawingml/2006/main">
              <a:ext uri="{FF2B5EF4-FFF2-40B4-BE49-F238E27FC236}">
                <a16:creationId xmlns:a16="http://schemas.microsoft.com/office/drawing/2014/main" id="{B1E9A517-E6C4-4091-95D1-D6B88E7F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C07030"/>
                </a:solidFill>
                <a:latin typeface="Bricolage Grotesque Heading"/>
                <a:ea typeface="Bricolage Grotesque Heading"/>
                <a:cs typeface="Bricolage Grotesque Heading"/>
              </a:defRPr>
            </a:pPr>
            <a:r>
              <a:rPr sz="3150" b="1" i="0">
                <a:solidFill>
                  <a:srgbClr val="C07030"/>
                </a:solidFill>
                <a:latin typeface="Bricolage Grotesque Heading"/>
                <a:ea typeface="Bricolage Grotesque Heading"/>
                <a:cs typeface="Bricolage Grotesque Heading"/>
              </a:rPr>
              <a:t>It simply stops interrupting.</a:t>
            </a:r>
          </a:p>
        </p:txBody>
      </p:sp>
      <p:sp>
        <p:nvSpPr>
          <p:cNvPr id="9" name="mat-premise-divider-0">
            <a:extLst xmlns:a="http://schemas.openxmlformats.org/drawingml/2006/main">
              <a:ext uri="{FF2B5EF4-FFF2-40B4-BE49-F238E27FC236}">
                <a16:creationId xmlns:a16="http://schemas.microsoft.com/office/drawing/2014/main" id="{B1D82AB9-7C9D-46A1-956A-CEC50F98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E26">
              <a:alpha val="4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at-premise-ordinal-0">
            <a:extLst xmlns:a="http://schemas.openxmlformats.org/drawingml/2006/main">
              <a:ext uri="{FF2B5EF4-FFF2-40B4-BE49-F238E27FC236}">
                <a16:creationId xmlns:a16="http://schemas.microsoft.com/office/drawing/2014/main" id="{73E5385C-CE58-4D34-B6A5-F91E5D41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defRPr>
            </a:pPr>
            <a:r>
              <a:rPr sz="1050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rPr>
              <a:t>01</a:t>
            </a:r>
          </a:p>
        </p:txBody>
      </p:sp>
      <p:sp>
        <p:nvSpPr>
          <p:cNvPr id="11" name="mat-premise-verb-0">
            <a:extLst xmlns:a="http://schemas.openxmlformats.org/drawingml/2006/main">
              <a:ext uri="{FF2B5EF4-FFF2-40B4-BE49-F238E27FC236}">
                <a16:creationId xmlns:a16="http://schemas.microsoft.com/office/drawing/2014/main" id="{A041332C-63BF-48A4-8AAA-5BB9BB6D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32E26"/>
                </a:solidFill>
                <a:latin typeface="Bricolage Grotesque Heading"/>
                <a:ea typeface="Bricolage Grotesque Heading"/>
                <a:cs typeface="Bricolage Grotesque Heading"/>
              </a:defRPr>
            </a:pPr>
            <a:r>
              <a:rPr sz="1950" b="1" i="0">
                <a:solidFill>
                  <a:srgbClr val="232E26"/>
                </a:solidFill>
                <a:latin typeface="Bricolage Grotesque Heading"/>
                <a:ea typeface="Bricolage Grotesque Heading"/>
                <a:cs typeface="Bricolage Grotesque Heading"/>
              </a:rPr>
              <a:t>CONTROL</a:t>
            </a:r>
          </a:p>
        </p:txBody>
      </p:sp>
      <p:sp>
        <p:nvSpPr>
          <p:cNvPr id="12" name="mat-premise-body-0">
            <a:extLst xmlns:a="http://schemas.openxmlformats.org/drawingml/2006/main">
              <a:ext uri="{FF2B5EF4-FFF2-40B4-BE49-F238E27FC236}">
                <a16:creationId xmlns:a16="http://schemas.microsoft.com/office/drawing/2014/main" id="{26F85CE2-EA46-4FBC-93DD-D246106E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defRPr>
            </a:pPr>
            <a:r>
              <a:rPr sz="142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rPr>
              <a:t>the first reflection</a:t>
            </a:r>
          </a:p>
        </p:txBody>
      </p:sp>
      <p:sp>
        <p:nvSpPr>
          <p:cNvPr id="13" name="mat-premise-divider-1">
            <a:extLst xmlns:a="http://schemas.openxmlformats.org/drawingml/2006/main">
              <a:ext uri="{FF2B5EF4-FFF2-40B4-BE49-F238E27FC236}">
                <a16:creationId xmlns:a16="http://schemas.microsoft.com/office/drawing/2014/main" id="{8E54C2BA-5661-40FF-9F1B-3B04BA9E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148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E26">
              <a:alpha val="4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at-premise-ordinal-1">
            <a:extLst xmlns:a="http://schemas.openxmlformats.org/drawingml/2006/main">
              <a:ext uri="{FF2B5EF4-FFF2-40B4-BE49-F238E27FC236}">
                <a16:creationId xmlns:a16="http://schemas.microsoft.com/office/drawing/2014/main" id="{39C4EEC2-BB73-4248-A3F3-A5B199F4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053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defRPr>
            </a:pPr>
            <a:r>
              <a:rPr sz="1050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rPr>
              <a:t>02</a:t>
            </a:r>
          </a:p>
        </p:txBody>
      </p:sp>
      <p:sp>
        <p:nvSpPr>
          <p:cNvPr id="15" name="mat-premise-verb-1">
            <a:extLst xmlns:a="http://schemas.openxmlformats.org/drawingml/2006/main">
              <a:ext uri="{FF2B5EF4-FFF2-40B4-BE49-F238E27FC236}">
                <a16:creationId xmlns:a16="http://schemas.microsoft.com/office/drawing/2014/main" id="{A446350E-2EDD-4D55-9F62-93DBB63C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863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32E26"/>
                </a:solidFill>
                <a:latin typeface="Bricolage Grotesque Heading"/>
                <a:ea typeface="Bricolage Grotesque Heading"/>
                <a:cs typeface="Bricolage Grotesque Heading"/>
              </a:defRPr>
            </a:pPr>
            <a:r>
              <a:rPr sz="1950" b="1" i="0">
                <a:solidFill>
                  <a:srgbClr val="232E26"/>
                </a:solidFill>
                <a:latin typeface="Bricolage Grotesque Heading"/>
                <a:ea typeface="Bricolage Grotesque Heading"/>
                <a:cs typeface="Bricolage Grotesque Heading"/>
              </a:rPr>
              <a:t>SETTLE</a:t>
            </a:r>
          </a:p>
        </p:txBody>
      </p:sp>
      <p:sp>
        <p:nvSpPr>
          <p:cNvPr id="16" name="mat-premise-body-1">
            <a:extLst xmlns:a="http://schemas.openxmlformats.org/drawingml/2006/main">
              <a:ext uri="{FF2B5EF4-FFF2-40B4-BE49-F238E27FC236}">
                <a16:creationId xmlns:a16="http://schemas.microsoft.com/office/drawing/2014/main" id="{A1E36B93-03E1-45CF-AD92-9F492E2C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054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defRPr>
            </a:pPr>
            <a:r>
              <a:rPr sz="142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rPr>
              <a:t>the lowest octave</a:t>
            </a:r>
          </a:p>
        </p:txBody>
      </p:sp>
      <p:sp>
        <p:nvSpPr>
          <p:cNvPr id="17" name="mat-premise-divider-2">
            <a:extLst xmlns:a="http://schemas.openxmlformats.org/drawingml/2006/main">
              <a:ext uri="{FF2B5EF4-FFF2-40B4-BE49-F238E27FC236}">
                <a16:creationId xmlns:a16="http://schemas.microsoft.com/office/drawing/2014/main" id="{6C1C3C22-AD7F-4586-949F-25888242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148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E26">
              <a:alpha val="4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at-premise-ordinal-2">
            <a:extLst xmlns:a="http://schemas.openxmlformats.org/drawingml/2006/main">
              <a:ext uri="{FF2B5EF4-FFF2-40B4-BE49-F238E27FC236}">
                <a16:creationId xmlns:a16="http://schemas.microsoft.com/office/drawing/2014/main" id="{D1BD4D6D-2297-40E0-8B5B-618B7485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053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defRPr>
            </a:pPr>
            <a:r>
              <a:rPr sz="1050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rPr>
              <a:t>03</a:t>
            </a:r>
          </a:p>
        </p:txBody>
      </p:sp>
      <p:sp>
        <p:nvSpPr>
          <p:cNvPr id="19" name="mat-premise-verb-2">
            <a:extLst xmlns:a="http://schemas.openxmlformats.org/drawingml/2006/main">
              <a:ext uri="{FF2B5EF4-FFF2-40B4-BE49-F238E27FC236}">
                <a16:creationId xmlns:a16="http://schemas.microsoft.com/office/drawing/2014/main" id="{E7DDED6B-9833-4FCA-87FA-2E72750E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863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32E26"/>
                </a:solidFill>
                <a:latin typeface="Bricolage Grotesque Heading"/>
                <a:ea typeface="Bricolage Grotesque Heading"/>
                <a:cs typeface="Bricolage Grotesque Heading"/>
              </a:defRPr>
            </a:pPr>
            <a:r>
              <a:rPr sz="1950" b="1" i="0">
                <a:solidFill>
                  <a:srgbClr val="232E26"/>
                </a:solidFill>
                <a:latin typeface="Bricolage Grotesque Heading"/>
                <a:ea typeface="Bricolage Grotesque Heading"/>
                <a:cs typeface="Bricolage Grotesque Heading"/>
              </a:rPr>
              <a:t>QUIET</a:t>
            </a:r>
          </a:p>
        </p:txBody>
      </p:sp>
      <p:sp>
        <p:nvSpPr>
          <p:cNvPr id="20" name="mat-premise-body-2">
            <a:extLst xmlns:a="http://schemas.openxmlformats.org/drawingml/2006/main">
              <a:ext uri="{FF2B5EF4-FFF2-40B4-BE49-F238E27FC236}">
                <a16:creationId xmlns:a16="http://schemas.microsoft.com/office/drawing/2014/main" id="{92594AC2-CCCD-4A4E-A4EE-BAB4AF76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054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defRPr>
            </a:pPr>
            <a:r>
              <a:rPr sz="142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rPr>
              <a:t>the visual field</a:t>
            </a:r>
          </a:p>
        </p:txBody>
      </p:sp>
    </p:spTree>
    <p:extLst>
      <p:ext uri="{BB962C8B-B14F-4D97-AF65-F5344CB8AC3E}">
        <p14:creationId xmlns:p14="http://schemas.microsoft.com/office/powerpoint/2010/main" val="21108087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32E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t-layers-wood-glow">
            <a:extLst xmlns:a="http://schemas.openxmlformats.org/drawingml/2006/main">
              <a:ext uri="{FF2B5EF4-FFF2-40B4-BE49-F238E27FC236}">
                <a16:creationId xmlns:a16="http://schemas.microsoft.com/office/drawing/2014/main" id="{5968D4F0-B8D0-46A0-A32A-DB6AAF59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71850"/>
            <a:ext cx="4324350" cy="32766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7A4E24">
                  <a:alpha val="34000"/>
                </a:srgbClr>
              </a:gs>
              <a:gs pos="46000">
                <a:srgbClr val="7A4E24">
                  <a:alpha val="14000"/>
                </a:srgbClr>
              </a:gs>
              <a:gs pos="100000">
                <a:srgbClr val="232E26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mat-top-rule-3">
            <a:extLst xmlns:a="http://schemas.openxmlformats.org/drawingml/2006/main">
              <a:ext uri="{FF2B5EF4-FFF2-40B4-BE49-F238E27FC236}">
                <a16:creationId xmlns:a16="http://schemas.microsoft.com/office/drawing/2014/main" id="{CE3A223F-EA93-4C66-8EAE-925F3584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D2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mat-section-3">
            <a:extLst xmlns:a="http://schemas.openxmlformats.org/drawingml/2006/main">
              <a:ext uri="{FF2B5EF4-FFF2-40B4-BE49-F238E27FC236}">
                <a16:creationId xmlns:a16="http://schemas.microsoft.com/office/drawing/2014/main" id="{50AE5F83-B39A-478B-904E-F7A72FA6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638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0E8D2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F0E8D2"/>
                </a:solidFill>
                <a:latin typeface="DM Mono Labels"/>
                <a:ea typeface="DM Mono Labels"/>
                <a:cs typeface="DM Mono Labels"/>
              </a:rPr>
              <a:t>THE TUNING LAYERS</a:t>
            </a:r>
          </a:p>
        </p:txBody>
      </p:sp>
      <p:sp>
        <p:nvSpPr>
          <p:cNvPr id="4" name="mat-page-3">
            <a:extLst xmlns:a="http://schemas.openxmlformats.org/drawingml/2006/main">
              <a:ext uri="{FF2B5EF4-FFF2-40B4-BE49-F238E27FC236}">
                <a16:creationId xmlns:a16="http://schemas.microsoft.com/office/drawing/2014/main" id="{E8803E39-BB9F-44B9-BC57-1B0FD100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385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F0E8D2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F0E8D2"/>
                </a:solidFill>
                <a:latin typeface="DM Mono Labels"/>
                <a:ea typeface="DM Mono Labels"/>
                <a:cs typeface="DM Mono Labels"/>
              </a:rPr>
              <a:t>03 / 08</a:t>
            </a:r>
          </a:p>
        </p:txBody>
      </p:sp>
      <p:sp>
        <p:nvSpPr>
          <p:cNvPr id="5" name="mat-bottom-rule-3">
            <a:extLst xmlns:a="http://schemas.openxmlformats.org/drawingml/2006/main">
              <a:ext uri="{FF2B5EF4-FFF2-40B4-BE49-F238E27FC236}">
                <a16:creationId xmlns:a16="http://schemas.microsoft.com/office/drawing/2014/main" id="{7AF426A6-FBA5-4240-892B-E684E43C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674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D2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at-footer-3">
            <a:extLst xmlns:a="http://schemas.openxmlformats.org/drawingml/2006/main">
              <a:ext uri="{FF2B5EF4-FFF2-40B4-BE49-F238E27FC236}">
                <a16:creationId xmlns:a16="http://schemas.microsoft.com/office/drawing/2014/main" id="{5D153A21-03A4-4C4C-970B-4DD7A375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F0E8D2">
                    <a:alpha val="60000"/>
                  </a:srgbClr>
                </a:solidFill>
                <a:latin typeface="DM Mono Labels"/>
                <a:ea typeface="DM Mono Labels"/>
                <a:cs typeface="DM Mono Labels"/>
              </a:defRPr>
            </a:pPr>
            <a:r>
              <a:rPr sz="750" b="0" i="0">
                <a:solidFill>
                  <a:srgbClr val="F0E8D2">
                    <a:alpha val="60000"/>
                  </a:srgbClr>
                </a:solidFill>
                <a:latin typeface="DM Mono Labels"/>
                <a:ea typeface="DM Mono Labels"/>
                <a:cs typeface="DM Mono Labels"/>
              </a:rPr>
              <a:t>AFTER THE NEEDLE DROPS · EDITABLE DEMO</a:t>
            </a:r>
          </a:p>
        </p:txBody>
      </p:sp>
      <p:sp>
        <p:nvSpPr>
          <p:cNvPr id="7" name="mat-layers-title">
            <a:extLst xmlns:a="http://schemas.openxmlformats.org/drawingml/2006/main">
              <a:ext uri="{FF2B5EF4-FFF2-40B4-BE49-F238E27FC236}">
                <a16:creationId xmlns:a16="http://schemas.microsoft.com/office/drawing/2014/main" id="{3F1BAAA9-BA6A-40F5-A97C-5F915F03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53530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350" b="1" i="0">
                <a:solidFill>
                  <a:srgbClr val="F0E8D2"/>
                </a:solidFill>
                <a:latin typeface="Bricolage Grotesque Display"/>
                <a:ea typeface="Bricolage Grotesque Display"/>
                <a:cs typeface="Bricolage Grotesque Display"/>
              </a:defRPr>
            </a:pPr>
            <a:r>
              <a:rPr sz="4350" b="1" i="0">
                <a:solidFill>
                  <a:srgbClr val="F0E8D2"/>
                </a:solidFill>
                <a:latin typeface="Bricolage Grotesque Display"/>
                <a:ea typeface="Bricolage Grotesque Display"/>
                <a:cs typeface="Bricolage Grotesque Display"/>
              </a:rPr>
              <a:t>The room is the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350" b="1" i="0">
                <a:solidFill>
                  <a:srgbClr val="F0E8D2"/>
                </a:solidFill>
                <a:latin typeface="Bricolage Grotesque Display"/>
                <a:ea typeface="Bricolage Grotesque Display"/>
                <a:cs typeface="Bricolage Grotesque Display"/>
              </a:defRPr>
            </a:pPr>
            <a:r>
              <a:rPr sz="4350" b="1" i="0">
                <a:solidFill>
                  <a:srgbClr val="F0E8D2"/>
                </a:solidFill>
                <a:latin typeface="Bricolage Grotesque Display"/>
                <a:ea typeface="Bricolage Grotesque Display"/>
                <a:cs typeface="Bricolage Grotesque Display"/>
              </a:rPr>
              <a:t>final component.</a:t>
            </a:r>
          </a:p>
        </p:txBody>
      </p:sp>
      <p:sp>
        <p:nvSpPr>
          <p:cNvPr id="8" name="mat-layers-copy">
            <a:extLst xmlns:a="http://schemas.openxmlformats.org/drawingml/2006/main">
              <a:ext uri="{FF2B5EF4-FFF2-40B4-BE49-F238E27FC236}">
                <a16:creationId xmlns:a16="http://schemas.microsoft.com/office/drawing/2014/main" id="{A5D77F73-BDFC-4B8C-A6D7-3D9F4B89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0" i="0">
                <a:solidFill>
                  <a:srgbClr val="F0E8D2">
                    <a:alpha val="86000"/>
                  </a:srgbClr>
                </a:solidFill>
                <a:latin typeface="DM Sans Text"/>
                <a:ea typeface="DM Sans Text"/>
                <a:cs typeface="DM Sans Text"/>
              </a:defRPr>
            </a:pPr>
            <a:r>
              <a:rPr sz="1650" b="0" i="0">
                <a:solidFill>
                  <a:srgbClr val="F0E8D2">
                    <a:alpha val="86000"/>
                  </a:srgbClr>
                </a:solidFill>
                <a:latin typeface="DM Sans Text"/>
                <a:ea typeface="DM Sans Text"/>
                <a:cs typeface="DM Sans Text"/>
              </a:rPr>
              <a:t>Good tuning is less about covering every surface and more about placing the right material where the room asks for it.</a:t>
            </a:r>
          </a:p>
        </p:txBody>
      </p:sp>
      <p:sp>
        <p:nvSpPr>
          <p:cNvPr id="9" name="mat-layers-card">
            <a:extLst xmlns:a="http://schemas.openxmlformats.org/drawingml/2006/main">
              <a:ext uri="{FF2B5EF4-FFF2-40B4-BE49-F238E27FC236}">
                <a16:creationId xmlns:a16="http://schemas.microsoft.com/office/drawing/2014/main" id="{7CA546A4-B9BA-410F-AE85-25251FE7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066800"/>
            <a:ext cx="50482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at-layers-card-kicker">
            <a:extLst xmlns:a="http://schemas.openxmlformats.org/drawingml/2006/main">
              <a:ext uri="{FF2B5EF4-FFF2-40B4-BE49-F238E27FC236}">
                <a16:creationId xmlns:a16="http://schemas.microsoft.com/office/drawing/2014/main" id="{61F6F333-8165-496A-95C5-257EFF16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352550"/>
            <a:ext cx="421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rPr>
              <a:t>FOUR LAYERS / ONE QUIETER SYSTEM</a:t>
            </a:r>
          </a:p>
        </p:txBody>
      </p:sp>
      <p:sp>
        <p:nvSpPr>
          <p:cNvPr id="11" name="mat-layer-rule-0">
            <a:extLst xmlns:a="http://schemas.openxmlformats.org/drawingml/2006/main">
              <a:ext uri="{FF2B5EF4-FFF2-40B4-BE49-F238E27FC236}">
                <a16:creationId xmlns:a16="http://schemas.microsoft.com/office/drawing/2014/main" id="{DC77ED0F-F940-4162-B7FA-C7FD784E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14600"/>
            <a:ext cx="434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E26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at-layer-ordinal-0">
            <a:extLst xmlns:a="http://schemas.openxmlformats.org/drawingml/2006/main">
              <a:ext uri="{FF2B5EF4-FFF2-40B4-BE49-F238E27FC236}">
                <a16:creationId xmlns:a16="http://schemas.microsoft.com/office/drawing/2014/main" id="{0E49B508-E97C-4235-A685-0305C5BA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09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rPr>
              <a:t>01</a:t>
            </a:r>
          </a:p>
        </p:txBody>
      </p:sp>
      <p:sp>
        <p:nvSpPr>
          <p:cNvPr id="13" name="mat-layer-title-0">
            <a:extLst xmlns:a="http://schemas.openxmlformats.org/drawingml/2006/main">
              <a:ext uri="{FF2B5EF4-FFF2-40B4-BE49-F238E27FC236}">
                <a16:creationId xmlns:a16="http://schemas.microsoft.com/office/drawing/2014/main" id="{68EA1C64-A8E2-47AE-80B8-28DBD327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716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32E26"/>
                </a:solidFill>
                <a:latin typeface="Bricolage Grotesque Heading"/>
                <a:ea typeface="Bricolage Grotesque Heading"/>
                <a:cs typeface="Bricolage Grotesque Heading"/>
              </a:defRPr>
            </a:pPr>
            <a:r>
              <a:rPr sz="1800" b="1" i="0">
                <a:solidFill>
                  <a:srgbClr val="232E26"/>
                </a:solidFill>
                <a:latin typeface="Bricolage Grotesque Heading"/>
                <a:ea typeface="Bricolage Grotesque Heading"/>
                <a:cs typeface="Bricolage Grotesque Heading"/>
              </a:rPr>
              <a:t>Placement</a:t>
            </a:r>
          </a:p>
        </p:txBody>
      </p:sp>
      <p:sp>
        <p:nvSpPr>
          <p:cNvPr id="14" name="mat-layer-body-0">
            <a:extLst xmlns:a="http://schemas.openxmlformats.org/drawingml/2006/main">
              <a:ext uri="{FF2B5EF4-FFF2-40B4-BE49-F238E27FC236}">
                <a16:creationId xmlns:a16="http://schemas.microsoft.com/office/drawing/2014/main" id="{317075E9-9EB2-44DB-B655-CAC97BDD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14550"/>
            <a:ext cx="3676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defRPr>
            </a:pPr>
            <a:r>
              <a:rPr sz="127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rPr>
              <a:t>Move the seat before buying treatment.</a:t>
            </a:r>
          </a:p>
        </p:txBody>
      </p:sp>
      <p:sp>
        <p:nvSpPr>
          <p:cNvPr id="15" name="mat-layer-rule-1">
            <a:extLst xmlns:a="http://schemas.openxmlformats.org/drawingml/2006/main">
              <a:ext uri="{FF2B5EF4-FFF2-40B4-BE49-F238E27FC236}">
                <a16:creationId xmlns:a16="http://schemas.microsoft.com/office/drawing/2014/main" id="{2284D393-1C2C-4C63-9D32-49140EF0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434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E26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at-layer-ordinal-1">
            <a:extLst xmlns:a="http://schemas.openxmlformats.org/drawingml/2006/main">
              <a:ext uri="{FF2B5EF4-FFF2-40B4-BE49-F238E27FC236}">
                <a16:creationId xmlns:a16="http://schemas.microsoft.com/office/drawing/2014/main" id="{F5801090-2BE1-4EAC-83DD-111FB338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24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rPr>
              <a:t>02</a:t>
            </a:r>
          </a:p>
        </p:txBody>
      </p:sp>
      <p:sp>
        <p:nvSpPr>
          <p:cNvPr id="17" name="mat-layer-title-1">
            <a:extLst xmlns:a="http://schemas.openxmlformats.org/drawingml/2006/main">
              <a:ext uri="{FF2B5EF4-FFF2-40B4-BE49-F238E27FC236}">
                <a16:creationId xmlns:a16="http://schemas.microsoft.com/office/drawing/2014/main" id="{60E0DD3E-335C-46EF-8AAE-ED44D568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86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32E26"/>
                </a:solidFill>
                <a:latin typeface="Bricolage Grotesque Heading"/>
                <a:ea typeface="Bricolage Grotesque Heading"/>
                <a:cs typeface="Bricolage Grotesque Heading"/>
              </a:defRPr>
            </a:pPr>
            <a:r>
              <a:rPr sz="1800" b="1" i="0">
                <a:solidFill>
                  <a:srgbClr val="232E26"/>
                </a:solidFill>
                <a:latin typeface="Bricolage Grotesque Heading"/>
                <a:ea typeface="Bricolage Grotesque Heading"/>
                <a:cs typeface="Bricolage Grotesque Heading"/>
              </a:rPr>
              <a:t>Absorption</a:t>
            </a:r>
          </a:p>
        </p:txBody>
      </p:sp>
      <p:sp>
        <p:nvSpPr>
          <p:cNvPr id="18" name="mat-layer-body-1">
            <a:extLst xmlns:a="http://schemas.openxmlformats.org/drawingml/2006/main">
              <a:ext uri="{FF2B5EF4-FFF2-40B4-BE49-F238E27FC236}">
                <a16:creationId xmlns:a16="http://schemas.microsoft.com/office/drawing/2014/main" id="{92F51869-BA34-45AD-8390-7428DFA0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28950"/>
            <a:ext cx="3676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defRPr>
            </a:pPr>
            <a:r>
              <a:rPr sz="127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rPr>
              <a:t>Take energy from the loudest reflection.</a:t>
            </a:r>
          </a:p>
        </p:txBody>
      </p:sp>
      <p:sp>
        <p:nvSpPr>
          <p:cNvPr id="19" name="mat-layer-rule-2">
            <a:extLst xmlns:a="http://schemas.openxmlformats.org/drawingml/2006/main">
              <a:ext uri="{FF2B5EF4-FFF2-40B4-BE49-F238E27FC236}">
                <a16:creationId xmlns:a16="http://schemas.microsoft.com/office/drawing/2014/main" id="{A7481677-92AC-4584-B1EB-EA8923AF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43400"/>
            <a:ext cx="434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E26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at-layer-ordinal-2">
            <a:extLst xmlns:a="http://schemas.openxmlformats.org/drawingml/2006/main">
              <a:ext uri="{FF2B5EF4-FFF2-40B4-BE49-F238E27FC236}">
                <a16:creationId xmlns:a16="http://schemas.microsoft.com/office/drawing/2014/main" id="{A41BB870-61C7-41A5-B279-75470F26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38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rPr>
              <a:t>03</a:t>
            </a:r>
          </a:p>
        </p:txBody>
      </p:sp>
      <p:sp>
        <p:nvSpPr>
          <p:cNvPr id="21" name="mat-layer-title-2">
            <a:extLst xmlns:a="http://schemas.openxmlformats.org/drawingml/2006/main">
              <a:ext uri="{FF2B5EF4-FFF2-40B4-BE49-F238E27FC236}">
                <a16:creationId xmlns:a16="http://schemas.microsoft.com/office/drawing/2014/main" id="{936AC25B-2C4D-414E-A62D-888096E3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004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32E26"/>
                </a:solidFill>
                <a:latin typeface="Bricolage Grotesque Heading"/>
                <a:ea typeface="Bricolage Grotesque Heading"/>
                <a:cs typeface="Bricolage Grotesque Heading"/>
              </a:defRPr>
            </a:pPr>
            <a:r>
              <a:rPr sz="1800" b="1" i="0">
                <a:solidFill>
                  <a:srgbClr val="232E26"/>
                </a:solidFill>
                <a:latin typeface="Bricolage Grotesque Heading"/>
                <a:ea typeface="Bricolage Grotesque Heading"/>
                <a:cs typeface="Bricolage Grotesque Heading"/>
              </a:rPr>
              <a:t>Bass control</a:t>
            </a:r>
          </a:p>
        </p:txBody>
      </p:sp>
      <p:sp>
        <p:nvSpPr>
          <p:cNvPr id="22" name="mat-layer-body-2">
            <a:extLst xmlns:a="http://schemas.openxmlformats.org/drawingml/2006/main">
              <a:ext uri="{FF2B5EF4-FFF2-40B4-BE49-F238E27FC236}">
                <a16:creationId xmlns:a16="http://schemas.microsoft.com/office/drawing/2014/main" id="{D900D578-442A-4783-B697-097F1871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43350"/>
            <a:ext cx="3676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defRPr>
            </a:pPr>
            <a:r>
              <a:rPr sz="127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rPr>
              <a:t>Let the bottom octave decay together.</a:t>
            </a:r>
          </a:p>
        </p:txBody>
      </p:sp>
      <p:sp>
        <p:nvSpPr>
          <p:cNvPr id="23" name="mat-layer-rule-3">
            <a:extLst xmlns:a="http://schemas.openxmlformats.org/drawingml/2006/main">
              <a:ext uri="{FF2B5EF4-FFF2-40B4-BE49-F238E27FC236}">
                <a16:creationId xmlns:a16="http://schemas.microsoft.com/office/drawing/2014/main" id="{34B43919-DAEF-43C1-9740-E4B2A4EB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257800"/>
            <a:ext cx="434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E26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mat-layer-ordinal-3">
            <a:extLst xmlns:a="http://schemas.openxmlformats.org/drawingml/2006/main">
              <a:ext uri="{FF2B5EF4-FFF2-40B4-BE49-F238E27FC236}">
                <a16:creationId xmlns:a16="http://schemas.microsoft.com/office/drawing/2014/main" id="{C35A4987-6613-494F-86BC-9205F2C4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52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rPr>
              <a:t>04</a:t>
            </a:r>
          </a:p>
        </p:txBody>
      </p:sp>
      <p:sp>
        <p:nvSpPr>
          <p:cNvPr id="25" name="mat-layer-title-3">
            <a:extLst xmlns:a="http://schemas.openxmlformats.org/drawingml/2006/main">
              <a:ext uri="{FF2B5EF4-FFF2-40B4-BE49-F238E27FC236}">
                <a16:creationId xmlns:a16="http://schemas.microsoft.com/office/drawing/2014/main" id="{0F0CADBF-C558-4548-9C76-D7288B08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148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32E26"/>
                </a:solidFill>
                <a:latin typeface="Bricolage Grotesque Heading"/>
                <a:ea typeface="Bricolage Grotesque Heading"/>
                <a:cs typeface="Bricolage Grotesque Heading"/>
              </a:defRPr>
            </a:pPr>
            <a:r>
              <a:rPr sz="1800" b="1" i="0">
                <a:solidFill>
                  <a:srgbClr val="232E26"/>
                </a:solidFill>
                <a:latin typeface="Bricolage Grotesque Heading"/>
                <a:ea typeface="Bricolage Grotesque Heading"/>
                <a:cs typeface="Bricolage Grotesque Heading"/>
              </a:rPr>
              <a:t>Diffusion</a:t>
            </a:r>
          </a:p>
        </p:txBody>
      </p:sp>
      <p:sp>
        <p:nvSpPr>
          <p:cNvPr id="26" name="mat-layer-body-3">
            <a:extLst xmlns:a="http://schemas.openxmlformats.org/drawingml/2006/main">
              <a:ext uri="{FF2B5EF4-FFF2-40B4-BE49-F238E27FC236}">
                <a16:creationId xmlns:a16="http://schemas.microsoft.com/office/drawing/2014/main" id="{9245F28A-B984-4437-BBC2-198396B4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57750"/>
            <a:ext cx="3676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defRPr>
            </a:pPr>
            <a:r>
              <a:rPr sz="127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rPr>
              <a:t>Keep the room alive without glare.</a:t>
            </a:r>
          </a:p>
        </p:txBody>
      </p:sp>
    </p:spTree>
    <p:extLst>
      <p:ext uri="{BB962C8B-B14F-4D97-AF65-F5344CB8AC3E}">
        <p14:creationId xmlns:p14="http://schemas.microsoft.com/office/powerpoint/2010/main" val="18180373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DE6D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t-top-rule-4">
            <a:extLst xmlns:a="http://schemas.openxmlformats.org/drawingml/2006/main">
              <a:ext uri="{FF2B5EF4-FFF2-40B4-BE49-F238E27FC236}">
                <a16:creationId xmlns:a16="http://schemas.microsoft.com/office/drawing/2014/main" id="{813FCE9B-E297-4B6B-A3B8-1A5EAE48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E26">
              <a:alpha val="6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mat-section-4">
            <a:extLst xmlns:a="http://schemas.openxmlformats.org/drawingml/2006/main">
              <a:ext uri="{FF2B5EF4-FFF2-40B4-BE49-F238E27FC236}">
                <a16:creationId xmlns:a16="http://schemas.microsoft.com/office/drawing/2014/main" id="{CA9F6178-7BAE-4125-9A33-884C0D4C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638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232E26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232E26"/>
                </a:solidFill>
                <a:latin typeface="DM Mono Labels"/>
                <a:ea typeface="DM Mono Labels"/>
                <a:cs typeface="DM Mono Labels"/>
              </a:rPr>
              <a:t>THE USEFUL NUMBERS</a:t>
            </a:r>
          </a:p>
        </p:txBody>
      </p:sp>
      <p:sp>
        <p:nvSpPr>
          <p:cNvPr id="3" name="mat-page-4">
            <a:extLst xmlns:a="http://schemas.openxmlformats.org/drawingml/2006/main">
              <a:ext uri="{FF2B5EF4-FFF2-40B4-BE49-F238E27FC236}">
                <a16:creationId xmlns:a16="http://schemas.microsoft.com/office/drawing/2014/main" id="{07960784-356A-4944-81FC-19A0BCE1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385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232E26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232E26"/>
                </a:solidFill>
                <a:latin typeface="DM Mono Labels"/>
                <a:ea typeface="DM Mono Labels"/>
                <a:cs typeface="DM Mono Labels"/>
              </a:rPr>
              <a:t>04 / 08</a:t>
            </a:r>
          </a:p>
        </p:txBody>
      </p:sp>
      <p:sp>
        <p:nvSpPr>
          <p:cNvPr id="4" name="mat-bottom-rule-4">
            <a:extLst xmlns:a="http://schemas.openxmlformats.org/drawingml/2006/main">
              <a:ext uri="{FF2B5EF4-FFF2-40B4-BE49-F238E27FC236}">
                <a16:creationId xmlns:a16="http://schemas.microsoft.com/office/drawing/2014/main" id="{01BE001F-50DD-4BBE-B08A-FCF94DC7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674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E26">
              <a:alpha val="6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at-footer-4">
            <a:extLst xmlns:a="http://schemas.openxmlformats.org/drawingml/2006/main">
              <a:ext uri="{FF2B5EF4-FFF2-40B4-BE49-F238E27FC236}">
                <a16:creationId xmlns:a16="http://schemas.microsoft.com/office/drawing/2014/main" id="{B5BF9B6A-F66B-448B-AC4A-08565FFB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232E26">
                    <a:alpha val="62000"/>
                  </a:srgbClr>
                </a:solidFill>
                <a:latin typeface="DM Mono Labels"/>
                <a:ea typeface="DM Mono Labels"/>
                <a:cs typeface="DM Mono Labels"/>
              </a:defRPr>
            </a:pPr>
            <a:r>
              <a:rPr sz="750" b="0" i="0">
                <a:solidFill>
                  <a:srgbClr val="232E26">
                    <a:alpha val="62000"/>
                  </a:srgbClr>
                </a:solidFill>
                <a:latin typeface="DM Mono Labels"/>
                <a:ea typeface="DM Mono Labels"/>
                <a:cs typeface="DM Mono Labels"/>
              </a:rPr>
              <a:t>AFTER THE NEEDLE DROPS · EDITABLE DEMO</a:t>
            </a:r>
          </a:p>
        </p:txBody>
      </p:sp>
      <p:sp>
        <p:nvSpPr>
          <p:cNvPr id="6" name="mat-numbers-title">
            <a:extLst xmlns:a="http://schemas.openxmlformats.org/drawingml/2006/main">
              <a:ext uri="{FF2B5EF4-FFF2-40B4-BE49-F238E27FC236}">
                <a16:creationId xmlns:a16="http://schemas.microsoft.com/office/drawing/2014/main" id="{095757C3-97D9-4B0B-B93D-DCCB40FD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9650"/>
            <a:ext cx="971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232E26"/>
                </a:solidFill>
                <a:latin typeface="Bricolage Grotesque Display"/>
                <a:ea typeface="Bricolage Grotesque Display"/>
                <a:cs typeface="Bricolage Grotesque Display"/>
              </a:defRPr>
            </a:pPr>
            <a:r>
              <a:rPr sz="3900" b="1" i="0">
                <a:solidFill>
                  <a:srgbClr val="232E26"/>
                </a:solidFill>
                <a:latin typeface="Bricolage Grotesque Display"/>
                <a:ea typeface="Bricolage Grotesque Display"/>
                <a:cs typeface="Bricolage Grotesque Display"/>
              </a:rPr>
              <a:t>Three numbers define a calmer room.</a:t>
            </a:r>
          </a:p>
        </p:txBody>
      </p:sp>
      <p:sp>
        <p:nvSpPr>
          <p:cNvPr id="7" name="mat-numbers-subtitle">
            <a:extLst xmlns:a="http://schemas.openxmlformats.org/drawingml/2006/main">
              <a:ext uri="{FF2B5EF4-FFF2-40B4-BE49-F238E27FC236}">
                <a16:creationId xmlns:a16="http://schemas.microsoft.com/office/drawing/2014/main" id="{59D32D60-5AE2-4D8F-AB0D-5B9D182B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defRPr>
            </a:pPr>
            <a:r>
              <a:rPr sz="157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rPr>
              <a:t>A practical target is balanced decay, a stable seat, and enough comfort to forget the clock.</a:t>
            </a:r>
          </a:p>
        </p:txBody>
      </p:sp>
      <p:sp>
        <p:nvSpPr>
          <p:cNvPr id="8" name="mat-numbers-top-rule">
            <a:extLst xmlns:a="http://schemas.openxmlformats.org/drawingml/2006/main">
              <a:ext uri="{FF2B5EF4-FFF2-40B4-BE49-F238E27FC236}">
                <a16:creationId xmlns:a16="http://schemas.microsoft.com/office/drawing/2014/main" id="{8BAF4610-B9BF-4C9B-9D0D-98976768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1059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E26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at-numbers-vrule-a">
            <a:extLst xmlns:a="http://schemas.openxmlformats.org/drawingml/2006/main">
              <a:ext uri="{FF2B5EF4-FFF2-40B4-BE49-F238E27FC236}">
                <a16:creationId xmlns:a16="http://schemas.microsoft.com/office/drawing/2014/main" id="{809E98E8-921B-4DF9-8833-BC4AF6A8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9525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E26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at-numbers-vrule-b">
            <a:extLst xmlns:a="http://schemas.openxmlformats.org/drawingml/2006/main">
              <a:ext uri="{FF2B5EF4-FFF2-40B4-BE49-F238E27FC236}">
                <a16:creationId xmlns:a16="http://schemas.microsoft.com/office/drawing/2014/main" id="{42661CA8-E8D1-4FBE-B12B-0E344CF4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28950"/>
            <a:ext cx="9525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E26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at-number-decay-value">
            <a:extLst xmlns:a="http://schemas.openxmlformats.org/drawingml/2006/main">
              <a:ext uri="{FF2B5EF4-FFF2-40B4-BE49-F238E27FC236}">
                <a16:creationId xmlns:a16="http://schemas.microsoft.com/office/drawing/2014/main" id="{826B958D-ACFE-4303-91CC-642B7643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2933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232E26"/>
                </a:solidFill>
                <a:latin typeface="Bricolage Grotesque Display"/>
                <a:ea typeface="Bricolage Grotesque Display"/>
                <a:cs typeface="Bricolage Grotesque Display"/>
              </a:defRPr>
            </a:pPr>
            <a:r>
              <a:rPr sz="5400" b="1" i="0">
                <a:solidFill>
                  <a:srgbClr val="232E26"/>
                </a:solidFill>
                <a:latin typeface="Bricolage Grotesque Display"/>
                <a:ea typeface="Bricolage Grotesque Display"/>
                <a:cs typeface="Bricolage Grotesque Display"/>
              </a:rPr>
              <a:t>0.42</a:t>
            </a:r>
          </a:p>
        </p:txBody>
      </p:sp>
      <p:sp>
        <p:nvSpPr>
          <p:cNvPr id="12" name="mat-number-decay-unit">
            <a:extLst xmlns:a="http://schemas.openxmlformats.org/drawingml/2006/main">
              <a:ext uri="{FF2B5EF4-FFF2-40B4-BE49-F238E27FC236}">
                <a16:creationId xmlns:a16="http://schemas.microsoft.com/office/drawing/2014/main" id="{E9197E19-0916-4E1C-BE0F-ADC64D64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defRPr>
            </a:pPr>
            <a:r>
              <a:rPr sz="1050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rPr>
              <a:t>SECONDS</a:t>
            </a:r>
          </a:p>
        </p:txBody>
      </p:sp>
      <p:sp>
        <p:nvSpPr>
          <p:cNvPr id="13" name="mat-number-decay-label">
            <a:extLst xmlns:a="http://schemas.openxmlformats.org/drawingml/2006/main">
              <a:ext uri="{FF2B5EF4-FFF2-40B4-BE49-F238E27FC236}">
                <a16:creationId xmlns:a16="http://schemas.microsoft.com/office/drawing/2014/main" id="{76A219D2-FDB7-460A-AB14-4B4A58DA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2933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232E26"/>
                </a:solidFill>
                <a:latin typeface="DM Sans Text"/>
                <a:ea typeface="DM Sans Text"/>
                <a:cs typeface="DM Sans Text"/>
              </a:defRPr>
            </a:pPr>
            <a:r>
              <a:rPr sz="1350" b="0" i="0">
                <a:solidFill>
                  <a:srgbClr val="232E26"/>
                </a:solidFill>
                <a:latin typeface="DM Sans Text"/>
                <a:ea typeface="DM Sans Text"/>
                <a:cs typeface="DM Sans Text"/>
              </a:rPr>
              <a:t>mid-band decay after treatment</a:t>
            </a:r>
          </a:p>
        </p:txBody>
      </p:sp>
      <p:sp>
        <p:nvSpPr>
          <p:cNvPr id="14" name="mat-number-seat-value">
            <a:extLst xmlns:a="http://schemas.openxmlformats.org/drawingml/2006/main">
              <a:ext uri="{FF2B5EF4-FFF2-40B4-BE49-F238E27FC236}">
                <a16:creationId xmlns:a16="http://schemas.microsoft.com/office/drawing/2014/main" id="{24960F05-F569-4C69-A6B6-75E2265B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90850"/>
            <a:ext cx="2647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232E26"/>
                </a:solidFill>
                <a:latin typeface="Bricolage Grotesque Display"/>
                <a:ea typeface="Bricolage Grotesque Display"/>
                <a:cs typeface="Bricolage Grotesque Display"/>
              </a:defRPr>
            </a:pPr>
            <a:r>
              <a:rPr sz="5400" b="1" i="0">
                <a:solidFill>
                  <a:srgbClr val="232E26"/>
                </a:solidFill>
                <a:latin typeface="Bricolage Grotesque Display"/>
                <a:ea typeface="Bricolage Grotesque Display"/>
                <a:cs typeface="Bricolage Grotesque Display"/>
              </a:rPr>
              <a:t>±2.5</a:t>
            </a:r>
          </a:p>
        </p:txBody>
      </p:sp>
      <p:sp>
        <p:nvSpPr>
          <p:cNvPr id="15" name="mat-number-seat-unit">
            <a:extLst xmlns:a="http://schemas.openxmlformats.org/drawingml/2006/main">
              <a:ext uri="{FF2B5EF4-FFF2-40B4-BE49-F238E27FC236}">
                <a16:creationId xmlns:a16="http://schemas.microsoft.com/office/drawing/2014/main" id="{53488C5F-7EF4-4275-81F7-2774FF03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6715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defRPr>
            </a:pPr>
            <a:r>
              <a:rPr sz="1050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rPr>
              <a:t>DECIBELS</a:t>
            </a:r>
          </a:p>
        </p:txBody>
      </p:sp>
      <p:sp>
        <p:nvSpPr>
          <p:cNvPr id="16" name="mat-number-seat-label">
            <a:extLst xmlns:a="http://schemas.openxmlformats.org/drawingml/2006/main">
              <a:ext uri="{FF2B5EF4-FFF2-40B4-BE49-F238E27FC236}">
                <a16:creationId xmlns:a16="http://schemas.microsoft.com/office/drawing/2014/main" id="{110A8966-C9A4-460A-B7EE-C7560C56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48150"/>
            <a:ext cx="264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232E26"/>
                </a:solidFill>
                <a:latin typeface="DM Sans Text"/>
                <a:ea typeface="DM Sans Text"/>
                <a:cs typeface="DM Sans Text"/>
              </a:defRPr>
            </a:pPr>
            <a:r>
              <a:rPr sz="1350" b="0" i="0">
                <a:solidFill>
                  <a:srgbClr val="232E26"/>
                </a:solidFill>
                <a:latin typeface="DM Sans Text"/>
                <a:ea typeface="DM Sans Text"/>
                <a:cs typeface="DM Sans Text"/>
              </a:rPr>
              <a:t>variance across the listening seat</a:t>
            </a:r>
          </a:p>
        </p:txBody>
      </p:sp>
      <p:sp>
        <p:nvSpPr>
          <p:cNvPr id="17" name="mat-number-session-value">
            <a:extLst xmlns:a="http://schemas.openxmlformats.org/drawingml/2006/main">
              <a:ext uri="{FF2B5EF4-FFF2-40B4-BE49-F238E27FC236}">
                <a16:creationId xmlns:a16="http://schemas.microsoft.com/office/drawing/2014/main" id="{7C5DB566-035A-4A15-8C0D-F37AFB09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90850"/>
            <a:ext cx="3086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232E26"/>
                </a:solidFill>
                <a:latin typeface="Bricolage Grotesque Display"/>
                <a:ea typeface="Bricolage Grotesque Display"/>
                <a:cs typeface="Bricolage Grotesque Display"/>
              </a:defRPr>
            </a:pPr>
            <a:r>
              <a:rPr sz="5400" b="1" i="0">
                <a:solidFill>
                  <a:srgbClr val="232E26"/>
                </a:solidFill>
                <a:latin typeface="Bricolage Grotesque Display"/>
                <a:ea typeface="Bricolage Grotesque Display"/>
                <a:cs typeface="Bricolage Grotesque Display"/>
              </a:rPr>
              <a:t>61</a:t>
            </a:r>
          </a:p>
        </p:txBody>
      </p:sp>
      <p:sp>
        <p:nvSpPr>
          <p:cNvPr id="18" name="mat-number-session-unit">
            <a:extLst xmlns:a="http://schemas.openxmlformats.org/drawingml/2006/main">
              <a:ext uri="{FF2B5EF4-FFF2-40B4-BE49-F238E27FC236}">
                <a16:creationId xmlns:a16="http://schemas.microsoft.com/office/drawing/2014/main" id="{5BB9B44D-3310-4C46-AAC0-64362106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67150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defRPr>
            </a:pPr>
            <a:r>
              <a:rPr sz="1050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rPr>
              <a:t>MINUTES</a:t>
            </a:r>
          </a:p>
        </p:txBody>
      </p:sp>
      <p:sp>
        <p:nvSpPr>
          <p:cNvPr id="19" name="mat-number-session-label">
            <a:extLst xmlns:a="http://schemas.openxmlformats.org/drawingml/2006/main">
              <a:ext uri="{FF2B5EF4-FFF2-40B4-BE49-F238E27FC236}">
                <a16:creationId xmlns:a16="http://schemas.microsoft.com/office/drawing/2014/main" id="{D118CAF3-45F4-40E6-998E-EED9D1B4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48150"/>
            <a:ext cx="3086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232E26"/>
                </a:solidFill>
                <a:latin typeface="DM Sans Text"/>
                <a:ea typeface="DM Sans Text"/>
                <a:cs typeface="DM Sans Text"/>
              </a:defRPr>
            </a:pPr>
            <a:r>
              <a:rPr sz="1350" b="0" i="0">
                <a:solidFill>
                  <a:srgbClr val="232E26"/>
                </a:solidFill>
                <a:latin typeface="DM Sans Text"/>
                <a:ea typeface="DM Sans Text"/>
                <a:cs typeface="DM Sans Text"/>
              </a:rPr>
              <a:t>median uninterrupted evening session</a:t>
            </a:r>
          </a:p>
        </p:txBody>
      </p:sp>
      <p:sp>
        <p:nvSpPr>
          <p:cNvPr id="20" name="mat-numbers-disclaimer">
            <a:extLst xmlns:a="http://schemas.openxmlformats.org/drawingml/2006/main">
              <a:ext uri="{FF2B5EF4-FFF2-40B4-BE49-F238E27FC236}">
                <a16:creationId xmlns:a16="http://schemas.microsoft.com/office/drawing/2014/main" id="{CBAC778A-AD32-430F-90AE-E1DF04CA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defRPr>
            </a:pPr>
            <a:r>
              <a:rPr sz="82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rPr>
              <a:t>ILLUSTRATIVE CONCEPT STUDY · VALUES ARE EDITABLE</a:t>
            </a:r>
          </a:p>
        </p:txBody>
      </p:sp>
    </p:spTree>
    <p:extLst>
      <p:ext uri="{BB962C8B-B14F-4D97-AF65-F5344CB8AC3E}">
        <p14:creationId xmlns:p14="http://schemas.microsoft.com/office/powerpoint/2010/main" val="13338979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32E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t-decay-wood-glow">
            <a:extLst xmlns:a="http://schemas.openxmlformats.org/drawingml/2006/main">
              <a:ext uri="{FF2B5EF4-FFF2-40B4-BE49-F238E27FC236}">
                <a16:creationId xmlns:a16="http://schemas.microsoft.com/office/drawing/2014/main" id="{52E4AB02-7595-42F2-BDC0-95400FCC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71850"/>
            <a:ext cx="4324350" cy="32766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7A4E24">
                  <a:alpha val="34000"/>
                </a:srgbClr>
              </a:gs>
              <a:gs pos="46000">
                <a:srgbClr val="7A4E24">
                  <a:alpha val="14000"/>
                </a:srgbClr>
              </a:gs>
              <a:gs pos="100000">
                <a:srgbClr val="232E26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mat-top-rule-5">
            <a:extLst xmlns:a="http://schemas.openxmlformats.org/drawingml/2006/main">
              <a:ext uri="{FF2B5EF4-FFF2-40B4-BE49-F238E27FC236}">
                <a16:creationId xmlns:a16="http://schemas.microsoft.com/office/drawing/2014/main" id="{1A38B20D-CE55-47A0-9338-9FC09B06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D2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mat-section-5">
            <a:extLst xmlns:a="http://schemas.openxmlformats.org/drawingml/2006/main">
              <a:ext uri="{FF2B5EF4-FFF2-40B4-BE49-F238E27FC236}">
                <a16:creationId xmlns:a16="http://schemas.microsoft.com/office/drawing/2014/main" id="{787611D8-F43C-41B3-AE8B-F78B02CC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638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0E8D2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F0E8D2"/>
                </a:solidFill>
                <a:latin typeface="DM Mono Labels"/>
                <a:ea typeface="DM Mono Labels"/>
                <a:cs typeface="DM Mono Labels"/>
              </a:rPr>
              <a:t>EDITABLE DECAY PROFILE</a:t>
            </a:r>
          </a:p>
        </p:txBody>
      </p:sp>
      <p:sp>
        <p:nvSpPr>
          <p:cNvPr id="4" name="mat-page-5">
            <a:extLst xmlns:a="http://schemas.openxmlformats.org/drawingml/2006/main">
              <a:ext uri="{FF2B5EF4-FFF2-40B4-BE49-F238E27FC236}">
                <a16:creationId xmlns:a16="http://schemas.microsoft.com/office/drawing/2014/main" id="{B7256766-D141-436B-A3D0-BA84F2BF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385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F0E8D2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F0E8D2"/>
                </a:solidFill>
                <a:latin typeface="DM Mono Labels"/>
                <a:ea typeface="DM Mono Labels"/>
                <a:cs typeface="DM Mono Labels"/>
              </a:rPr>
              <a:t>05 / 08</a:t>
            </a:r>
          </a:p>
        </p:txBody>
      </p:sp>
      <p:sp>
        <p:nvSpPr>
          <p:cNvPr id="5" name="mat-bottom-rule-5">
            <a:extLst xmlns:a="http://schemas.openxmlformats.org/drawingml/2006/main">
              <a:ext uri="{FF2B5EF4-FFF2-40B4-BE49-F238E27FC236}">
                <a16:creationId xmlns:a16="http://schemas.microsoft.com/office/drawing/2014/main" id="{9B449667-CC91-4AB7-A393-737083B6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674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D2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at-footer-5">
            <a:extLst xmlns:a="http://schemas.openxmlformats.org/drawingml/2006/main">
              <a:ext uri="{FF2B5EF4-FFF2-40B4-BE49-F238E27FC236}">
                <a16:creationId xmlns:a16="http://schemas.microsoft.com/office/drawing/2014/main" id="{B1EE7F9E-659C-4B6A-A2F1-79381852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F0E8D2">
                    <a:alpha val="60000"/>
                  </a:srgbClr>
                </a:solidFill>
                <a:latin typeface="DM Mono Labels"/>
                <a:ea typeface="DM Mono Labels"/>
                <a:cs typeface="DM Mono Labels"/>
              </a:defRPr>
            </a:pPr>
            <a:r>
              <a:rPr sz="750" b="0" i="0">
                <a:solidFill>
                  <a:srgbClr val="F0E8D2">
                    <a:alpha val="60000"/>
                  </a:srgbClr>
                </a:solidFill>
                <a:latin typeface="DM Mono Labels"/>
                <a:ea typeface="DM Mono Labels"/>
                <a:cs typeface="DM Mono Labels"/>
              </a:rPr>
              <a:t>AFTER THE NEEDLE DROPS · EDITABLE DEMO</a:t>
            </a:r>
          </a:p>
        </p:txBody>
      </p:sp>
      <p:sp>
        <p:nvSpPr>
          <p:cNvPr id="7" name="mat-decay-title">
            <a:extLst xmlns:a="http://schemas.openxmlformats.org/drawingml/2006/main">
              <a:ext uri="{FF2B5EF4-FFF2-40B4-BE49-F238E27FC236}">
                <a16:creationId xmlns:a16="http://schemas.microsoft.com/office/drawing/2014/main" id="{C589D060-0A52-4236-9D9E-DBF5F5D5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850"/>
          </a:bodyPr>
          <a:lstStyle xmlns:a="http://schemas.openxmlformats.org/drawingml/2006/main"/>
          <a:p xmlns:a="http://schemas.openxmlformats.org/drawingml/2006/main">
            <a:pPr algn="l">
              <a:defRPr sz="3675" b="1" i="0">
                <a:solidFill>
                  <a:srgbClr val="F0E8D2"/>
                </a:solidFill>
                <a:latin typeface="Bricolage Grotesque Display"/>
                <a:ea typeface="Bricolage Grotesque Display"/>
                <a:cs typeface="Bricolage Grotesque Display"/>
              </a:defRPr>
            </a:pPr>
            <a:r>
              <a:rPr sz="3675" b="1" i="0">
                <a:solidFill>
                  <a:srgbClr val="F0E8D2"/>
                </a:solidFill>
                <a:latin typeface="Bricolage Grotesque Display"/>
                <a:ea typeface="Bricolage Grotesque Display"/>
                <a:cs typeface="Bricolage Grotesque Display"/>
              </a:rPr>
              <a:t>Decay should fall together—not fight by frequency.</a:t>
            </a:r>
          </a:p>
        </p:txBody>
      </p:sp>
      <p:sp>
        <p:nvSpPr>
          <p:cNvPr id="8" name="mat-decay-subtitle">
            <a:extLst xmlns:a="http://schemas.openxmlformats.org/drawingml/2006/main">
              <a:ext uri="{FF2B5EF4-FFF2-40B4-BE49-F238E27FC236}">
                <a16:creationId xmlns:a16="http://schemas.microsoft.com/office/drawing/2014/main" id="{CAC7A49A-474C-4339-A47E-A460A1E5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0E8D2">
                    <a:alpha val="76000"/>
                  </a:srgbClr>
                </a:solidFill>
                <a:latin typeface="DM Sans Text"/>
                <a:ea typeface="DM Sans Text"/>
                <a:cs typeface="DM Sans Text"/>
              </a:defRPr>
            </a:pPr>
            <a:r>
              <a:rPr sz="1425" b="0" i="0">
                <a:solidFill>
                  <a:srgbClr val="F0E8D2">
                    <a:alpha val="76000"/>
                  </a:srgbClr>
                </a:solidFill>
                <a:latin typeface="DM Sans Text"/>
                <a:ea typeface="DM Sans Text"/>
                <a:cs typeface="DM Sans Text"/>
              </a:rPr>
              <a:t>Illustrative RT60 by octave band · lower and more even after tuning</a:t>
            </a:r>
          </a:p>
        </p:txBody>
      </p:sp>
      <p:graphicFrame>
        <p:nvGraphicFramePr>
          <p:cNvPr id="19" name="mat-editable-decay-line-chart"/>
          <p:cNvGraphicFramePr/>
          <p:nvPr/>
        </p:nvGraphicFramePr>
        <p:xfrm>
          <a:off xmlns:a="http://schemas.openxmlformats.org/drawingml/2006/main" x="723900" y="2266950"/>
          <a:ext xmlns:a="http://schemas.openxmlformats.org/drawingml/2006/main" cx="10744200" cy="3352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de3b38529d546a6"/>
          </a:graphicData>
        </a:graphic>
      </p:graphicFrame>
      <p:sp>
        <p:nvSpPr>
          <p:cNvPr id="10" name="mat-decay-note">
            <a:extLst xmlns:a="http://schemas.openxmlformats.org/drawingml/2006/main">
              <a:ext uri="{FF2B5EF4-FFF2-40B4-BE49-F238E27FC236}">
                <a16:creationId xmlns:a16="http://schemas.microsoft.com/office/drawing/2014/main" id="{B2A0B153-CDF7-48DB-B739-7D9DB4D1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defRPr>
            </a:pPr>
            <a:r>
              <a:rPr sz="82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rPr>
              <a:t>NATIVE EDITABLE LINE CHART · ILLUSTRATIVE VALUES</a:t>
            </a:r>
          </a:p>
        </p:txBody>
      </p:sp>
    </p:spTree>
    <p:extLst>
      <p:ext uri="{BB962C8B-B14F-4D97-AF65-F5344CB8AC3E}">
        <p14:creationId xmlns:p14="http://schemas.microsoft.com/office/powerpoint/2010/main" val="14036067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DE6D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t-top-rule-6">
            <a:extLst xmlns:a="http://schemas.openxmlformats.org/drawingml/2006/main">
              <a:ext uri="{FF2B5EF4-FFF2-40B4-BE49-F238E27FC236}">
                <a16:creationId xmlns:a16="http://schemas.microsoft.com/office/drawing/2014/main" id="{B6965FD2-1631-4E32-869A-3095D815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E26">
              <a:alpha val="6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mat-section-6">
            <a:extLst xmlns:a="http://schemas.openxmlformats.org/drawingml/2006/main">
              <a:ext uri="{FF2B5EF4-FFF2-40B4-BE49-F238E27FC236}">
                <a16:creationId xmlns:a16="http://schemas.microsoft.com/office/drawing/2014/main" id="{D3DBA1B9-37B3-41C4-8FD0-2605A35F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638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232E26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232E26"/>
                </a:solidFill>
                <a:latin typeface="DM Mono Labels"/>
                <a:ea typeface="DM Mono Labels"/>
                <a:cs typeface="DM Mono Labels"/>
              </a:rPr>
              <a:t>LISTENING ENDURANCE</a:t>
            </a:r>
          </a:p>
        </p:txBody>
      </p:sp>
      <p:sp>
        <p:nvSpPr>
          <p:cNvPr id="3" name="mat-page-6">
            <a:extLst xmlns:a="http://schemas.openxmlformats.org/drawingml/2006/main">
              <a:ext uri="{FF2B5EF4-FFF2-40B4-BE49-F238E27FC236}">
                <a16:creationId xmlns:a16="http://schemas.microsoft.com/office/drawing/2014/main" id="{024DCC6B-DE19-4AE5-BC3A-13571059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385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232E26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232E26"/>
                </a:solidFill>
                <a:latin typeface="DM Mono Labels"/>
                <a:ea typeface="DM Mono Labels"/>
                <a:cs typeface="DM Mono Labels"/>
              </a:rPr>
              <a:t>06 / 08</a:t>
            </a:r>
          </a:p>
        </p:txBody>
      </p:sp>
      <p:sp>
        <p:nvSpPr>
          <p:cNvPr id="4" name="mat-bottom-rule-6">
            <a:extLst xmlns:a="http://schemas.openxmlformats.org/drawingml/2006/main">
              <a:ext uri="{FF2B5EF4-FFF2-40B4-BE49-F238E27FC236}">
                <a16:creationId xmlns:a16="http://schemas.microsoft.com/office/drawing/2014/main" id="{0C78D9E3-8604-41D6-A5AD-86712412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674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E26">
              <a:alpha val="6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at-footer-6">
            <a:extLst xmlns:a="http://schemas.openxmlformats.org/drawingml/2006/main">
              <a:ext uri="{FF2B5EF4-FFF2-40B4-BE49-F238E27FC236}">
                <a16:creationId xmlns:a16="http://schemas.microsoft.com/office/drawing/2014/main" id="{380F9CBA-CF3E-4082-BBE3-B005FBF2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232E26">
                    <a:alpha val="62000"/>
                  </a:srgbClr>
                </a:solidFill>
                <a:latin typeface="DM Mono Labels"/>
                <a:ea typeface="DM Mono Labels"/>
                <a:cs typeface="DM Mono Labels"/>
              </a:defRPr>
            </a:pPr>
            <a:r>
              <a:rPr sz="750" b="0" i="0">
                <a:solidFill>
                  <a:srgbClr val="232E26">
                    <a:alpha val="62000"/>
                  </a:srgbClr>
                </a:solidFill>
                <a:latin typeface="DM Mono Labels"/>
                <a:ea typeface="DM Mono Labels"/>
                <a:cs typeface="DM Mono Labels"/>
              </a:rPr>
              <a:t>AFTER THE NEEDLE DROPS · EDITABLE DEMO</a:t>
            </a:r>
          </a:p>
        </p:txBody>
      </p:sp>
      <p:sp>
        <p:nvSpPr>
          <p:cNvPr id="6" name="mat-session-title">
            <a:extLst xmlns:a="http://schemas.openxmlformats.org/drawingml/2006/main">
              <a:ext uri="{FF2B5EF4-FFF2-40B4-BE49-F238E27FC236}">
                <a16:creationId xmlns:a16="http://schemas.microsoft.com/office/drawing/2014/main" id="{36165A19-5FAD-41A2-B4E4-4417E63E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232E26"/>
                </a:solidFill>
                <a:latin typeface="Bricolage Grotesque Display"/>
                <a:ea typeface="Bricolage Grotesque Display"/>
                <a:cs typeface="Bricolage Grotesque Display"/>
              </a:defRPr>
            </a:pPr>
            <a:r>
              <a:rPr sz="3600" b="1" i="0">
                <a:solidFill>
                  <a:srgbClr val="232E26"/>
                </a:solidFill>
                <a:latin typeface="Bricolage Grotesque Display"/>
                <a:ea typeface="Bricolage Grotesque Display"/>
                <a:cs typeface="Bricolage Grotesque Display"/>
              </a:rPr>
              <a:t>Room tuning extends uninterrupted listening.</a:t>
            </a:r>
          </a:p>
        </p:txBody>
      </p:sp>
      <p:sp>
        <p:nvSpPr>
          <p:cNvPr id="7" name="mat-session-subtitle">
            <a:extLst xmlns:a="http://schemas.openxmlformats.org/drawingml/2006/main">
              <a:ext uri="{FF2B5EF4-FFF2-40B4-BE49-F238E27FC236}">
                <a16:creationId xmlns:a16="http://schemas.microsoft.com/office/drawing/2014/main" id="{A25B8FA8-2917-4BFD-BFAF-B0664705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defRPr>
            </a:pPr>
            <a:r>
              <a:rPr sz="142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rPr>
              <a:t>Median session length across four illustrative room states</a:t>
            </a:r>
          </a:p>
        </p:txBody>
      </p:sp>
      <p:graphicFrame>
        <p:nvGraphicFramePr>
          <p:cNvPr id="17" name="mat-editable-session-column-chart"/>
          <p:cNvGraphicFramePr/>
          <p:nvPr/>
        </p:nvGraphicFramePr>
        <p:xfrm>
          <a:off xmlns:a="http://schemas.openxmlformats.org/drawingml/2006/main" x="800100" y="2152650"/>
          <a:ext xmlns:a="http://schemas.openxmlformats.org/drawingml/2006/main" cx="10553700" cy="3486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31ff63ac3f4724"/>
          </a:graphicData>
        </a:graphic>
      </p:graphicFrame>
      <p:sp>
        <p:nvSpPr>
          <p:cNvPr id="9" name="mat-session-note">
            <a:extLst xmlns:a="http://schemas.openxmlformats.org/drawingml/2006/main">
              <a:ext uri="{FF2B5EF4-FFF2-40B4-BE49-F238E27FC236}">
                <a16:creationId xmlns:a16="http://schemas.microsoft.com/office/drawing/2014/main" id="{E23D5896-59A9-45D7-824E-E9B3C43F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defRPr>
            </a:pPr>
            <a:r>
              <a:rPr sz="82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rPr>
              <a:t>NATIVE EDITABLE CLUSTERED COLUMN CHART · MINUTES</a:t>
            </a:r>
          </a:p>
        </p:txBody>
      </p:sp>
    </p:spTree>
    <p:extLst>
      <p:ext uri="{BB962C8B-B14F-4D97-AF65-F5344CB8AC3E}">
        <p14:creationId xmlns:p14="http://schemas.microsoft.com/office/powerpoint/2010/main" val="20757470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32E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t-ledger-wood-glow">
            <a:extLst xmlns:a="http://schemas.openxmlformats.org/drawingml/2006/main">
              <a:ext uri="{FF2B5EF4-FFF2-40B4-BE49-F238E27FC236}">
                <a16:creationId xmlns:a16="http://schemas.microsoft.com/office/drawing/2014/main" id="{B20F6799-C209-415D-A27C-0BCAA1E8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71850"/>
            <a:ext cx="4324350" cy="32766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7A4E24">
                  <a:alpha val="34000"/>
                </a:srgbClr>
              </a:gs>
              <a:gs pos="46000">
                <a:srgbClr val="7A4E24">
                  <a:alpha val="14000"/>
                </a:srgbClr>
              </a:gs>
              <a:gs pos="100000">
                <a:srgbClr val="232E26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mat-top-rule-7">
            <a:extLst xmlns:a="http://schemas.openxmlformats.org/drawingml/2006/main">
              <a:ext uri="{FF2B5EF4-FFF2-40B4-BE49-F238E27FC236}">
                <a16:creationId xmlns:a16="http://schemas.microsoft.com/office/drawing/2014/main" id="{2554A8E6-B9BC-43A7-B00C-E4FEF781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D2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mat-section-7">
            <a:extLst xmlns:a="http://schemas.openxmlformats.org/drawingml/2006/main">
              <a:ext uri="{FF2B5EF4-FFF2-40B4-BE49-F238E27FC236}">
                <a16:creationId xmlns:a16="http://schemas.microsoft.com/office/drawing/2014/main" id="{DA6CF75C-7E3D-43D1-8CEA-A74D60AA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638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0E8D2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F0E8D2"/>
                </a:solidFill>
                <a:latin typeface="DM Mono Labels"/>
                <a:ea typeface="DM Mono Labels"/>
                <a:cs typeface="DM Mono Labels"/>
              </a:rPr>
              <a:t>THE ROOM LEDGER</a:t>
            </a:r>
          </a:p>
        </p:txBody>
      </p:sp>
      <p:sp>
        <p:nvSpPr>
          <p:cNvPr id="4" name="mat-page-7">
            <a:extLst xmlns:a="http://schemas.openxmlformats.org/drawingml/2006/main">
              <a:ext uri="{FF2B5EF4-FFF2-40B4-BE49-F238E27FC236}">
                <a16:creationId xmlns:a16="http://schemas.microsoft.com/office/drawing/2014/main" id="{9BACE5A3-B987-4625-9B02-6F6C2C7F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385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F0E8D2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F0E8D2"/>
                </a:solidFill>
                <a:latin typeface="DM Mono Labels"/>
                <a:ea typeface="DM Mono Labels"/>
                <a:cs typeface="DM Mono Labels"/>
              </a:rPr>
              <a:t>07 / 08</a:t>
            </a:r>
          </a:p>
        </p:txBody>
      </p:sp>
      <p:sp>
        <p:nvSpPr>
          <p:cNvPr id="5" name="mat-bottom-rule-7">
            <a:extLst xmlns:a="http://schemas.openxmlformats.org/drawingml/2006/main">
              <a:ext uri="{FF2B5EF4-FFF2-40B4-BE49-F238E27FC236}">
                <a16:creationId xmlns:a16="http://schemas.microsoft.com/office/drawing/2014/main" id="{E725855A-9A96-4124-A208-00E61733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674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8D2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at-footer-7">
            <a:extLst xmlns:a="http://schemas.openxmlformats.org/drawingml/2006/main">
              <a:ext uri="{FF2B5EF4-FFF2-40B4-BE49-F238E27FC236}">
                <a16:creationId xmlns:a16="http://schemas.microsoft.com/office/drawing/2014/main" id="{A4EB945C-4C7A-4E74-8A2A-38B579CF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F0E8D2">
                    <a:alpha val="60000"/>
                  </a:srgbClr>
                </a:solidFill>
                <a:latin typeface="DM Mono Labels"/>
                <a:ea typeface="DM Mono Labels"/>
                <a:cs typeface="DM Mono Labels"/>
              </a:defRPr>
            </a:pPr>
            <a:r>
              <a:rPr sz="750" b="0" i="0">
                <a:solidFill>
                  <a:srgbClr val="F0E8D2">
                    <a:alpha val="60000"/>
                  </a:srgbClr>
                </a:solidFill>
                <a:latin typeface="DM Mono Labels"/>
                <a:ea typeface="DM Mono Labels"/>
                <a:cs typeface="DM Mono Labels"/>
              </a:rPr>
              <a:t>AFTER THE NEEDLE DROPS · EDITABLE DEMO</a:t>
            </a:r>
          </a:p>
        </p:txBody>
      </p:sp>
      <p:sp>
        <p:nvSpPr>
          <p:cNvPr id="7" name="mat-ledger-title">
            <a:extLst xmlns:a="http://schemas.openxmlformats.org/drawingml/2006/main">
              <a:ext uri="{FF2B5EF4-FFF2-40B4-BE49-F238E27FC236}">
                <a16:creationId xmlns:a16="http://schemas.microsoft.com/office/drawing/2014/main" id="{D61BB12B-884A-4268-A332-DEA3B873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1" i="0">
                <a:solidFill>
                  <a:srgbClr val="F0E8D2"/>
                </a:solidFill>
                <a:latin typeface="Bricolage Grotesque Display"/>
                <a:ea typeface="Bricolage Grotesque Display"/>
                <a:cs typeface="Bricolage Grotesque Display"/>
              </a:defRPr>
            </a:pPr>
            <a:r>
              <a:rPr sz="3675" b="1" i="0">
                <a:solidFill>
                  <a:srgbClr val="F0E8D2"/>
                </a:solidFill>
                <a:latin typeface="Bricolage Grotesque Display"/>
                <a:ea typeface="Bricolage Grotesque Display"/>
                <a:cs typeface="Bricolage Grotesque Display"/>
              </a:rPr>
              <a:t>Every room needs a different next move.</a:t>
            </a:r>
          </a:p>
        </p:txBody>
      </p:sp>
      <p:sp>
        <p:nvSpPr>
          <p:cNvPr id="8" name="mat-ledger-subtitle">
            <a:extLst xmlns:a="http://schemas.openxmlformats.org/drawingml/2006/main">
              <a:ext uri="{FF2B5EF4-FFF2-40B4-BE49-F238E27FC236}">
                <a16:creationId xmlns:a16="http://schemas.microsoft.com/office/drawing/2014/main" id="{C4DCEDD6-724F-442A-9329-4CBE53C4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0E8D2">
                    <a:alpha val="78000"/>
                  </a:srgbClr>
                </a:solidFill>
                <a:latin typeface="DM Sans Text"/>
                <a:ea typeface="DM Sans Text"/>
                <a:cs typeface="DM Sans Text"/>
              </a:defRPr>
            </a:pPr>
            <a:r>
              <a:rPr sz="1425" b="0" i="0">
                <a:solidFill>
                  <a:srgbClr val="F0E8D2">
                    <a:alpha val="78000"/>
                  </a:srgbClr>
                </a:solidFill>
                <a:latin typeface="DM Sans Text"/>
                <a:ea typeface="DM Sans Text"/>
                <a:cs typeface="DM Sans Text"/>
              </a:rPr>
              <a:t>A compact diagnostic before adding more material</a:t>
            </a:r>
          </a:p>
        </p:txBody>
      </p:sp>
      <p:graphicFrame>
        <p:nvGraphicFramePr>
          <p:cNvPr id="19" name="mat-editable-room-ledger-table"/>
          <p:cNvGraphicFramePr/>
          <p:nvPr/>
        </p:nvGraphicFramePr>
        <p:xfrm>
          <a:off xmlns:a="http://schemas.openxmlformats.org/drawingml/2006/main" x="781050" y="2152650"/>
          <a:ext xmlns:a="http://schemas.openxmlformats.org/drawingml/2006/main" cx="106299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12522"/>
                <a:gridCol w="1391551"/>
                <a:gridCol w="1584821"/>
                <a:gridCol w="1739438"/>
                <a:gridCol w="3401568"/>
              </a:tblGrid>
              <a:tr h="555625">
                <a:tc>
                  <a:txBody>
                    <a:bodyPr lIns="104775" tIns="57150" rIns="104775" bIns="57150" anchor="ctr"/>
                    <a:lstStyle/>
                    <a:p>
                      <a:pPr algn="l"/>
                      <a:r>
                        <a:rPr sz="1125" b="1">
                          <a:solidFill>
                            <a:srgbClr val="F0E8D2"/>
                          </a:solidFill>
                          <a:latin typeface="DM Mono Labels"/>
                          <a:ea typeface="DM Mono Labels"/>
                          <a:cs typeface="DM Mono Labels"/>
                        </a:rPr>
                        <a:t>ROOM</a:t>
                      </a:r>
                    </a:p>
                  </a:txBody>
                  <a:tcPr marL="91440" marR="91440" marT="45720" marB="45720">
                    <a:solidFill>
                      <a:srgbClr val="232E26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ctr"/>
                      <a:r>
                        <a:rPr sz="1125" b="1">
                          <a:solidFill>
                            <a:srgbClr val="F0E8D2"/>
                          </a:solidFill>
                          <a:latin typeface="DM Mono Labels"/>
                          <a:ea typeface="DM Mono Labels"/>
                          <a:cs typeface="DM Mono Labels"/>
                        </a:rPr>
                        <a:t>VOLUME</a:t>
                      </a:r>
                    </a:p>
                  </a:txBody>
                  <a:tcPr marL="91440" marR="91440" marT="45720" marB="45720">
                    <a:solidFill>
                      <a:srgbClr val="232E26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ctr"/>
                      <a:r>
                        <a:rPr sz="1125" b="1">
                          <a:solidFill>
                            <a:srgbClr val="F0E8D2"/>
                          </a:solidFill>
                          <a:latin typeface="DM Mono Labels"/>
                          <a:ea typeface="DM Mono Labels"/>
                          <a:cs typeface="DM Mono Labels"/>
                        </a:rPr>
                        <a:t>MID RT60</a:t>
                      </a:r>
                    </a:p>
                  </a:txBody>
                  <a:tcPr marL="91440" marR="91440" marT="45720" marB="45720">
                    <a:solidFill>
                      <a:srgbClr val="232E26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ctr"/>
                      <a:r>
                        <a:rPr sz="1125" b="1">
                          <a:solidFill>
                            <a:srgbClr val="F0E8D2"/>
                          </a:solidFill>
                          <a:latin typeface="DM Mono Labels"/>
                          <a:ea typeface="DM Mono Labels"/>
                          <a:cs typeface="DM Mono Labels"/>
                        </a:rPr>
                        <a:t>SEAT SWING</a:t>
                      </a:r>
                    </a:p>
                  </a:txBody>
                  <a:tcPr marL="91440" marR="91440" marT="45720" marB="45720">
                    <a:solidFill>
                      <a:srgbClr val="232E26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l"/>
                      <a:r>
                        <a:rPr sz="1125" b="1">
                          <a:solidFill>
                            <a:srgbClr val="F0E8D2"/>
                          </a:solidFill>
                          <a:latin typeface="DM Mono Labels"/>
                          <a:ea typeface="DM Mono Labels"/>
                          <a:cs typeface="DM Mono Labels"/>
                        </a:rPr>
                        <a:t>NEXT MOVE</a:t>
                      </a:r>
                    </a:p>
                  </a:txBody>
                  <a:tcPr marL="91440" marR="91440" marT="45720" marB="45720">
                    <a:solidFill>
                      <a:srgbClr val="232E26"/>
                    </a:solidFill>
                  </a:tcPr>
                </a:tc>
              </a:tr>
              <a:tr h="555625">
                <a:tc>
                  <a:txBody>
                    <a:bodyPr lIns="104775" tIns="57150" rIns="104775" bIns="57150" anchor="ctr"/>
                    <a:lstStyle/>
                    <a:p>
                      <a:pPr algn="l"/>
                      <a:r>
                        <a:rPr sz="1425" b="1">
                          <a:solidFill>
                            <a:srgbClr val="1E2820"/>
                          </a:solidFill>
                          <a:latin typeface="Bricolage Grotesque Heading"/>
                          <a:ea typeface="Bricolage Grotesque Heading"/>
                          <a:cs typeface="Bricolage Grotesque Heading"/>
                        </a:rPr>
                        <a:t>Window room</a:t>
                      </a:r>
                    </a:p>
                  </a:txBody>
                  <a:tcPr marL="91440" marR="91440" marT="45720" marB="45720">
                    <a:solidFill>
                      <a:srgbClr val="EDE6D0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ctr"/>
                      <a:r>
                        <a:rPr sz="1275" b="0">
                          <a:solidFill>
                            <a:srgbClr val="1E2820"/>
                          </a:solidFill>
                          <a:latin typeface="DM Sans Text"/>
                          <a:ea typeface="DM Sans Text"/>
                          <a:cs typeface="DM Sans Text"/>
                        </a:rPr>
                        <a:t>48 m³</a:t>
                      </a:r>
                    </a:p>
                  </a:txBody>
                  <a:tcPr marL="91440" marR="91440" marT="45720" marB="45720">
                    <a:solidFill>
                      <a:srgbClr val="EDE6D0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ctr"/>
                      <a:r>
                        <a:rPr sz="1275" b="0">
                          <a:solidFill>
                            <a:srgbClr val="1E2820"/>
                          </a:solidFill>
                          <a:latin typeface="DM Sans Text"/>
                          <a:ea typeface="DM Sans Text"/>
                          <a:cs typeface="DM Sans Text"/>
                        </a:rPr>
                        <a:t>0.58 s</a:t>
                      </a:r>
                    </a:p>
                  </a:txBody>
                  <a:tcPr marL="91440" marR="91440" marT="45720" marB="45720">
                    <a:solidFill>
                      <a:srgbClr val="EDE6D0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ctr"/>
                      <a:r>
                        <a:rPr sz="1275" b="0">
                          <a:solidFill>
                            <a:srgbClr val="1E2820"/>
                          </a:solidFill>
                          <a:latin typeface="DM Sans Text"/>
                          <a:ea typeface="DM Sans Text"/>
                          <a:cs typeface="DM Sans Text"/>
                        </a:rPr>
                        <a:t>±4.1 dB</a:t>
                      </a:r>
                    </a:p>
                  </a:txBody>
                  <a:tcPr marL="91440" marR="91440" marT="45720" marB="45720">
                    <a:solidFill>
                      <a:srgbClr val="EDE6D0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l"/>
                      <a:r>
                        <a:rPr sz="1275" b="0">
                          <a:solidFill>
                            <a:srgbClr val="1E2820"/>
                          </a:solidFill>
                          <a:latin typeface="DM Sans Text"/>
                          <a:ea typeface="DM Sans Text"/>
                          <a:cs typeface="DM Sans Text"/>
                        </a:rPr>
                        <a:t>Soften first reflection</a:t>
                      </a:r>
                    </a:p>
                  </a:txBody>
                  <a:tcPr marL="91440" marR="91440" marT="45720" marB="45720">
                    <a:solidFill>
                      <a:srgbClr val="EDE6D0"/>
                    </a:solidFill>
                  </a:tcPr>
                </a:tc>
              </a:tr>
              <a:tr h="555625">
                <a:tc>
                  <a:txBody>
                    <a:bodyPr lIns="104775" tIns="57150" rIns="104775" bIns="57150" anchor="ctr"/>
                    <a:lstStyle/>
                    <a:p>
                      <a:pPr algn="l"/>
                      <a:r>
                        <a:rPr sz="1425" b="1">
                          <a:solidFill>
                            <a:srgbClr val="1E2820"/>
                          </a:solidFill>
                          <a:latin typeface="Bricolage Grotesque Heading"/>
                          <a:ea typeface="Bricolage Grotesque Heading"/>
                          <a:cs typeface="Bricolage Grotesque Heading"/>
                        </a:rPr>
                        <a:t>Brick alcove</a:t>
                      </a:r>
                    </a:p>
                  </a:txBody>
                  <a:tcPr marL="91440" marR="91440" marT="45720" marB="45720">
                    <a:solidFill>
                      <a:srgbClr val="E4DAC4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ctr"/>
                      <a:r>
                        <a:rPr sz="1275" b="0">
                          <a:solidFill>
                            <a:srgbClr val="1E2820"/>
                          </a:solidFill>
                          <a:latin typeface="DM Sans Text"/>
                          <a:ea typeface="DM Sans Text"/>
                          <a:cs typeface="DM Sans Text"/>
                        </a:rPr>
                        <a:t>62 m³</a:t>
                      </a:r>
                    </a:p>
                  </a:txBody>
                  <a:tcPr marL="91440" marR="91440" marT="45720" marB="45720">
                    <a:solidFill>
                      <a:srgbClr val="E4DAC4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ctr"/>
                      <a:r>
                        <a:rPr sz="1275" b="0">
                          <a:solidFill>
                            <a:srgbClr val="1E2820"/>
                          </a:solidFill>
                          <a:latin typeface="DM Sans Text"/>
                          <a:ea typeface="DM Sans Text"/>
                          <a:cs typeface="DM Sans Text"/>
                        </a:rPr>
                        <a:t>0.47 s</a:t>
                      </a:r>
                    </a:p>
                  </a:txBody>
                  <a:tcPr marL="91440" marR="91440" marT="45720" marB="45720">
                    <a:solidFill>
                      <a:srgbClr val="E4DAC4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ctr"/>
                      <a:r>
                        <a:rPr sz="1275" b="0">
                          <a:solidFill>
                            <a:srgbClr val="1E2820"/>
                          </a:solidFill>
                          <a:latin typeface="DM Sans Text"/>
                          <a:ea typeface="DM Sans Text"/>
                          <a:cs typeface="DM Sans Text"/>
                        </a:rPr>
                        <a:t>±3.4 dB</a:t>
                      </a:r>
                    </a:p>
                  </a:txBody>
                  <a:tcPr marL="91440" marR="91440" marT="45720" marB="45720">
                    <a:solidFill>
                      <a:srgbClr val="E4DAC4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l"/>
                      <a:r>
                        <a:rPr sz="1275" b="0">
                          <a:solidFill>
                            <a:srgbClr val="1E2820"/>
                          </a:solidFill>
                          <a:latin typeface="DM Sans Text"/>
                          <a:ea typeface="DM Sans Text"/>
                          <a:cs typeface="DM Sans Text"/>
                        </a:rPr>
                        <a:t>Add low-end trapping</a:t>
                      </a:r>
                    </a:p>
                  </a:txBody>
                  <a:tcPr marL="91440" marR="91440" marT="45720" marB="45720">
                    <a:solidFill>
                      <a:srgbClr val="E4DAC4"/>
                    </a:solidFill>
                  </a:tcPr>
                </a:tc>
              </a:tr>
              <a:tr h="555625">
                <a:tc>
                  <a:txBody>
                    <a:bodyPr lIns="104775" tIns="57150" rIns="104775" bIns="57150" anchor="ctr"/>
                    <a:lstStyle/>
                    <a:p>
                      <a:pPr algn="l"/>
                      <a:r>
                        <a:rPr sz="1425" b="1">
                          <a:solidFill>
                            <a:srgbClr val="1E2820"/>
                          </a:solidFill>
                          <a:latin typeface="Bricolage Grotesque Heading"/>
                          <a:ea typeface="Bricolage Grotesque Heading"/>
                          <a:cs typeface="Bricolage Grotesque Heading"/>
                        </a:rPr>
                        <a:t>Long loft</a:t>
                      </a:r>
                    </a:p>
                  </a:txBody>
                  <a:tcPr marL="91440" marR="91440" marT="45720" marB="45720">
                    <a:solidFill>
                      <a:srgbClr val="EDE6D0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ctr"/>
                      <a:r>
                        <a:rPr sz="1275" b="0">
                          <a:solidFill>
                            <a:srgbClr val="1E2820"/>
                          </a:solidFill>
                          <a:latin typeface="DM Sans Text"/>
                          <a:ea typeface="DM Sans Text"/>
                          <a:cs typeface="DM Sans Text"/>
                        </a:rPr>
                        <a:t>96 m³</a:t>
                      </a:r>
                    </a:p>
                  </a:txBody>
                  <a:tcPr marL="91440" marR="91440" marT="45720" marB="45720">
                    <a:solidFill>
                      <a:srgbClr val="EDE6D0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ctr"/>
                      <a:r>
                        <a:rPr sz="1275" b="0">
                          <a:solidFill>
                            <a:srgbClr val="1E2820"/>
                          </a:solidFill>
                          <a:latin typeface="DM Sans Text"/>
                          <a:ea typeface="DM Sans Text"/>
                          <a:cs typeface="DM Sans Text"/>
                        </a:rPr>
                        <a:t>0.52 s</a:t>
                      </a:r>
                    </a:p>
                  </a:txBody>
                  <a:tcPr marL="91440" marR="91440" marT="45720" marB="45720">
                    <a:solidFill>
                      <a:srgbClr val="EDE6D0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ctr"/>
                      <a:r>
                        <a:rPr sz="1275" b="0">
                          <a:solidFill>
                            <a:srgbClr val="1E2820"/>
                          </a:solidFill>
                          <a:latin typeface="DM Sans Text"/>
                          <a:ea typeface="DM Sans Text"/>
                          <a:cs typeface="DM Sans Text"/>
                        </a:rPr>
                        <a:t>±5.0 dB</a:t>
                      </a:r>
                    </a:p>
                  </a:txBody>
                  <a:tcPr marL="91440" marR="91440" marT="45720" marB="45720">
                    <a:solidFill>
                      <a:srgbClr val="EDE6D0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l"/>
                      <a:r>
                        <a:rPr sz="1275" b="0">
                          <a:solidFill>
                            <a:srgbClr val="1E2820"/>
                          </a:solidFill>
                          <a:latin typeface="DM Sans Text"/>
                          <a:ea typeface="DM Sans Text"/>
                          <a:cs typeface="DM Sans Text"/>
                        </a:rPr>
                        <a:t>Move seat off center</a:t>
                      </a:r>
                    </a:p>
                  </a:txBody>
                  <a:tcPr marL="91440" marR="91440" marT="45720" marB="45720">
                    <a:solidFill>
                      <a:srgbClr val="EDE6D0"/>
                    </a:solidFill>
                  </a:tcPr>
                </a:tc>
              </a:tr>
              <a:tr h="555625">
                <a:tc>
                  <a:txBody>
                    <a:bodyPr lIns="104775" tIns="57150" rIns="104775" bIns="57150" anchor="ctr"/>
                    <a:lstStyle/>
                    <a:p>
                      <a:pPr algn="l"/>
                      <a:r>
                        <a:rPr sz="1425" b="1">
                          <a:solidFill>
                            <a:srgbClr val="1E2820"/>
                          </a:solidFill>
                          <a:latin typeface="Bricolage Grotesque Heading"/>
                          <a:ea typeface="Bricolage Grotesque Heading"/>
                          <a:cs typeface="Bricolage Grotesque Heading"/>
                        </a:rPr>
                        <a:t>Timber den</a:t>
                      </a:r>
                    </a:p>
                  </a:txBody>
                  <a:tcPr marL="91440" marR="91440" marT="45720" marB="45720">
                    <a:solidFill>
                      <a:srgbClr val="E4DAC4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ctr"/>
                      <a:r>
                        <a:rPr sz="1275" b="0">
                          <a:solidFill>
                            <a:srgbClr val="1E2820"/>
                          </a:solidFill>
                          <a:latin typeface="DM Sans Text"/>
                          <a:ea typeface="DM Sans Text"/>
                          <a:cs typeface="DM Sans Text"/>
                        </a:rPr>
                        <a:t>41 m³</a:t>
                      </a:r>
                    </a:p>
                  </a:txBody>
                  <a:tcPr marL="91440" marR="91440" marT="45720" marB="45720">
                    <a:solidFill>
                      <a:srgbClr val="E4DAC4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ctr"/>
                      <a:r>
                        <a:rPr sz="1275" b="0">
                          <a:solidFill>
                            <a:srgbClr val="1E2820"/>
                          </a:solidFill>
                          <a:latin typeface="DM Sans Text"/>
                          <a:ea typeface="DM Sans Text"/>
                          <a:cs typeface="DM Sans Text"/>
                        </a:rPr>
                        <a:t>0.39 s</a:t>
                      </a:r>
                    </a:p>
                  </a:txBody>
                  <a:tcPr marL="91440" marR="91440" marT="45720" marB="45720">
                    <a:solidFill>
                      <a:srgbClr val="E4DAC4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ctr"/>
                      <a:r>
                        <a:rPr sz="1275" b="0">
                          <a:solidFill>
                            <a:srgbClr val="1E2820"/>
                          </a:solidFill>
                          <a:latin typeface="DM Sans Text"/>
                          <a:ea typeface="DM Sans Text"/>
                          <a:cs typeface="DM Sans Text"/>
                        </a:rPr>
                        <a:t>±2.7 dB</a:t>
                      </a:r>
                    </a:p>
                  </a:txBody>
                  <a:tcPr marL="91440" marR="91440" marT="45720" marB="45720">
                    <a:solidFill>
                      <a:srgbClr val="E4DAC4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l"/>
                      <a:r>
                        <a:rPr sz="1275" b="0">
                          <a:solidFill>
                            <a:srgbClr val="1E2820"/>
                          </a:solidFill>
                          <a:latin typeface="DM Sans Text"/>
                          <a:ea typeface="DM Sans Text"/>
                          <a:cs typeface="DM Sans Text"/>
                        </a:rPr>
                        <a:t>Diffuse rear wall</a:t>
                      </a:r>
                    </a:p>
                  </a:txBody>
                  <a:tcPr marL="91440" marR="91440" marT="45720" marB="45720">
                    <a:solidFill>
                      <a:srgbClr val="E4DAC4"/>
                    </a:solidFill>
                  </a:tcPr>
                </a:tc>
              </a:tr>
              <a:tr h="555625">
                <a:tc>
                  <a:txBody>
                    <a:bodyPr lIns="104775" tIns="57150" rIns="104775" bIns="57150" anchor="ctr"/>
                    <a:lstStyle/>
                    <a:p>
                      <a:pPr algn="l"/>
                      <a:r>
                        <a:rPr sz="1425" b="1">
                          <a:solidFill>
                            <a:srgbClr val="1E2820"/>
                          </a:solidFill>
                          <a:latin typeface="Bricolage Grotesque Heading"/>
                          <a:ea typeface="Bricolage Grotesque Heading"/>
                          <a:cs typeface="Bricolage Grotesque Heading"/>
                        </a:rPr>
                        <a:t>Quiet study</a:t>
                      </a:r>
                    </a:p>
                  </a:txBody>
                  <a:tcPr marL="91440" marR="91440" marT="45720" marB="45720">
                    <a:solidFill>
                      <a:srgbClr val="EDE6D0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ctr"/>
                      <a:r>
                        <a:rPr sz="1275" b="0">
                          <a:solidFill>
                            <a:srgbClr val="1E2820"/>
                          </a:solidFill>
                          <a:latin typeface="DM Sans Text"/>
                          <a:ea typeface="DM Sans Text"/>
                          <a:cs typeface="DM Sans Text"/>
                        </a:rPr>
                        <a:t>35 m³</a:t>
                      </a:r>
                    </a:p>
                  </a:txBody>
                  <a:tcPr marL="91440" marR="91440" marT="45720" marB="45720">
                    <a:solidFill>
                      <a:srgbClr val="EDE6D0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ctr"/>
                      <a:r>
                        <a:rPr sz="1275" b="0">
                          <a:solidFill>
                            <a:srgbClr val="1E2820"/>
                          </a:solidFill>
                          <a:latin typeface="DM Sans Text"/>
                          <a:ea typeface="DM Sans Text"/>
                          <a:cs typeface="DM Sans Text"/>
                        </a:rPr>
                        <a:t>0.34 s</a:t>
                      </a:r>
                    </a:p>
                  </a:txBody>
                  <a:tcPr marL="91440" marR="91440" marT="45720" marB="45720">
                    <a:solidFill>
                      <a:srgbClr val="EDE6D0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ctr"/>
                      <a:r>
                        <a:rPr sz="1275" b="0">
                          <a:solidFill>
                            <a:srgbClr val="1E2820"/>
                          </a:solidFill>
                          <a:latin typeface="DM Sans Text"/>
                          <a:ea typeface="DM Sans Text"/>
                          <a:cs typeface="DM Sans Text"/>
                        </a:rPr>
                        <a:t>±2.2 dB</a:t>
                      </a:r>
                    </a:p>
                  </a:txBody>
                  <a:tcPr marL="91440" marR="91440" marT="45720" marB="45720">
                    <a:solidFill>
                      <a:srgbClr val="EDE6D0"/>
                    </a:solidFill>
                  </a:tcPr>
                </a:tc>
                <a:tc>
                  <a:txBody>
                    <a:bodyPr lIns="104775" tIns="57150" rIns="104775" bIns="57150" anchor="ctr"/>
                    <a:lstStyle/>
                    <a:p>
                      <a:pPr algn="l"/>
                      <a:r>
                        <a:rPr sz="1275" b="0">
                          <a:solidFill>
                            <a:srgbClr val="1E2820"/>
                          </a:solidFill>
                          <a:latin typeface="DM Sans Text"/>
                          <a:ea typeface="DM Sans Text"/>
                          <a:cs typeface="DM Sans Text"/>
                        </a:rPr>
                        <a:t>Hold and listen</a:t>
                      </a:r>
                    </a:p>
                  </a:txBody>
                  <a:tcPr marL="91440" marR="91440" marT="45720" marB="45720">
                    <a:solidFill>
                      <a:srgbClr val="EDE6D0"/>
                    </a:solidFill>
                  </a:tcPr>
                </a:tc>
              </a:tr>
            </a:tbl>
          </a:graphicData>
        </a:graphic>
      </p:graphicFrame>
      <p:sp>
        <p:nvSpPr>
          <p:cNvPr id="10" name="mat-ledger-note">
            <a:extLst xmlns:a="http://schemas.openxmlformats.org/drawingml/2006/main">
              <a:ext uri="{FF2B5EF4-FFF2-40B4-BE49-F238E27FC236}">
                <a16:creationId xmlns:a16="http://schemas.microsoft.com/office/drawing/2014/main" id="{D0E598FD-CE60-4AAD-9FFB-9A6A4DF1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defRPr>
            </a:pPr>
            <a:r>
              <a:rPr sz="82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rPr>
              <a:t>NATIVE EDITABLE TABLE · ALL ROOMS AND VALUES ARE ILLUSTRATIVE</a:t>
            </a:r>
          </a:p>
        </p:txBody>
      </p:sp>
    </p:spTree>
    <p:extLst>
      <p:ext uri="{BB962C8B-B14F-4D97-AF65-F5344CB8AC3E}">
        <p14:creationId xmlns:p14="http://schemas.microsoft.com/office/powerpoint/2010/main" val="4801708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32E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t-close-wood-glow">
            <a:extLst xmlns:a="http://schemas.openxmlformats.org/drawingml/2006/main">
              <a:ext uri="{FF2B5EF4-FFF2-40B4-BE49-F238E27FC236}">
                <a16:creationId xmlns:a16="http://schemas.microsoft.com/office/drawing/2014/main" id="{B1779D63-530C-4F3D-9768-B41D2266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71850"/>
            <a:ext cx="4324350" cy="32766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7A4E24">
                  <a:alpha val="34000"/>
                </a:srgbClr>
              </a:gs>
              <a:gs pos="46000">
                <a:srgbClr val="7A4E24">
                  <a:alpha val="14000"/>
                </a:srgbClr>
              </a:gs>
              <a:gs pos="100000">
                <a:srgbClr val="232E26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mat-close-kicker">
            <a:extLst xmlns:a="http://schemas.openxmlformats.org/drawingml/2006/main">
              <a:ext uri="{FF2B5EF4-FFF2-40B4-BE49-F238E27FC236}">
                <a16:creationId xmlns:a16="http://schemas.microsoft.com/office/drawing/2014/main" id="{51DBEA6E-2BBD-4F36-BAFD-1F256A02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defRPr>
            </a:pPr>
            <a:r>
              <a:rPr sz="1050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rPr>
              <a:t>THE CLOSING PRINCIPLE</a:t>
            </a:r>
          </a:p>
        </p:txBody>
      </p:sp>
      <p:sp>
        <p:nvSpPr>
          <p:cNvPr id="3" name="mat-close-title">
            <a:extLst xmlns:a="http://schemas.openxmlformats.org/drawingml/2006/main">
              <a:ext uri="{FF2B5EF4-FFF2-40B4-BE49-F238E27FC236}">
                <a16:creationId xmlns:a16="http://schemas.microsoft.com/office/drawing/2014/main" id="{0DBE344D-D232-455C-9271-F1C2103E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561"/>
          </a:bodyPr>
          <a:lstStyle xmlns:a="http://schemas.openxmlformats.org/drawingml/2006/main"/>
          <a:p xmlns:a="http://schemas.openxmlformats.org/drawingml/2006/main">
            <a:pPr algn="l">
              <a:defRPr sz="6150" b="1" i="0">
                <a:solidFill>
                  <a:srgbClr val="F0E8D2"/>
                </a:solidFill>
                <a:latin typeface="Bricolage Grotesque Display"/>
                <a:ea typeface="Bricolage Grotesque Display"/>
                <a:cs typeface="Bricolage Grotesque Display"/>
              </a:defRPr>
            </a:pPr>
            <a:r>
              <a:rPr sz="6150" b="1" i="0">
                <a:solidFill>
                  <a:srgbClr val="F0E8D2"/>
                </a:solidFill>
                <a:latin typeface="Bricolage Grotesque Display"/>
                <a:ea typeface="Bricolage Grotesque Display"/>
                <a:cs typeface="Bricolage Grotesque Display"/>
              </a:rPr>
              <a:t>Tune the room.</a:t>
            </a:r>
          </a:p>
        </p:txBody>
      </p:sp>
      <p:sp>
        <p:nvSpPr>
          <p:cNvPr id="4" name="mat-close-title-2">
            <a:extLst xmlns:a="http://schemas.openxmlformats.org/drawingml/2006/main">
              <a:ext uri="{FF2B5EF4-FFF2-40B4-BE49-F238E27FC236}">
                <a16:creationId xmlns:a16="http://schemas.microsoft.com/office/drawing/2014/main" id="{A5B5B3FC-87EF-436F-8C15-5939A98F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561"/>
          </a:bodyPr>
          <a:lstStyle xmlns:a="http://schemas.openxmlformats.org/drawingml/2006/main"/>
          <a:p xmlns:a="http://schemas.openxmlformats.org/drawingml/2006/main">
            <a:pPr algn="l">
              <a:defRPr sz="6150" b="1" i="0">
                <a:solidFill>
                  <a:srgbClr val="C07030"/>
                </a:solidFill>
                <a:latin typeface="Bricolage Grotesque Display"/>
                <a:ea typeface="Bricolage Grotesque Display"/>
                <a:cs typeface="Bricolage Grotesque Display"/>
              </a:defRPr>
            </a:pPr>
            <a:r>
              <a:rPr sz="6150" b="1" i="0">
                <a:solidFill>
                  <a:srgbClr val="C07030"/>
                </a:solidFill>
                <a:latin typeface="Bricolage Grotesque Display"/>
                <a:ea typeface="Bricolage Grotesque Display"/>
                <a:cs typeface="Bricolage Grotesque Display"/>
              </a:rPr>
              <a:t>Then let it disappear.</a:t>
            </a:r>
          </a:p>
        </p:txBody>
      </p:sp>
      <p:sp>
        <p:nvSpPr>
          <p:cNvPr id="5" name="mat-close-card">
            <a:extLst xmlns:a="http://schemas.openxmlformats.org/drawingml/2006/main">
              <a:ext uri="{FF2B5EF4-FFF2-40B4-BE49-F238E27FC236}">
                <a16:creationId xmlns:a16="http://schemas.microsoft.com/office/drawing/2014/main" id="{72133BBF-6ED8-4DD2-92BF-470DE87C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106299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at-close-ordinal-0">
            <a:extLst xmlns:a="http://schemas.openxmlformats.org/drawingml/2006/main">
              <a:ext uri="{FF2B5EF4-FFF2-40B4-BE49-F238E27FC236}">
                <a16:creationId xmlns:a16="http://schemas.microsoft.com/office/drawing/2014/main" id="{E0C4008B-3271-456C-A8BA-EEA698B6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862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rPr>
              <a:t>01</a:t>
            </a:r>
          </a:p>
        </p:txBody>
      </p:sp>
      <p:sp>
        <p:nvSpPr>
          <p:cNvPr id="7" name="mat-close-principle-0">
            <a:extLst xmlns:a="http://schemas.openxmlformats.org/drawingml/2006/main">
              <a:ext uri="{FF2B5EF4-FFF2-40B4-BE49-F238E27FC236}">
                <a16:creationId xmlns:a16="http://schemas.microsoft.com/office/drawing/2014/main" id="{DBF07AF8-4275-4D2E-BC51-370200E0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32E26"/>
                </a:solidFill>
                <a:latin typeface="Bricolage Grotesque Heading"/>
                <a:ea typeface="Bricolage Grotesque Heading"/>
                <a:cs typeface="Bricolage Grotesque Heading"/>
              </a:defRPr>
            </a:pPr>
            <a:r>
              <a:rPr sz="1800" b="1" i="0">
                <a:solidFill>
                  <a:srgbClr val="232E26"/>
                </a:solidFill>
                <a:latin typeface="Bricolage Grotesque Heading"/>
                <a:ea typeface="Bricolage Grotesque Heading"/>
                <a:cs typeface="Bricolage Grotesque Heading"/>
              </a:rPr>
              <a:t>Move first</a:t>
            </a:r>
          </a:p>
        </p:txBody>
      </p:sp>
      <p:sp>
        <p:nvSpPr>
          <p:cNvPr id="8" name="mat-close-body-0">
            <a:extLst xmlns:a="http://schemas.openxmlformats.org/drawingml/2006/main">
              <a:ext uri="{FF2B5EF4-FFF2-40B4-BE49-F238E27FC236}">
                <a16:creationId xmlns:a16="http://schemas.microsoft.com/office/drawing/2014/main" id="{D4DED341-6297-422A-BDEB-FFA729D1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911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defRPr>
            </a:pPr>
            <a:r>
              <a:rPr sz="127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rPr>
              <a:t>Placement is free and usually audible.</a:t>
            </a:r>
          </a:p>
        </p:txBody>
      </p:sp>
      <p:sp>
        <p:nvSpPr>
          <p:cNvPr id="9" name="mat-close-divider-1">
            <a:extLst xmlns:a="http://schemas.openxmlformats.org/drawingml/2006/main">
              <a:ext uri="{FF2B5EF4-FFF2-40B4-BE49-F238E27FC236}">
                <a16:creationId xmlns:a16="http://schemas.microsoft.com/office/drawing/2014/main" id="{E63609A6-D6DE-4815-920C-0F4A8A95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0530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E26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at-close-ordinal-1">
            <a:extLst xmlns:a="http://schemas.openxmlformats.org/drawingml/2006/main">
              <a:ext uri="{FF2B5EF4-FFF2-40B4-BE49-F238E27FC236}">
                <a16:creationId xmlns:a16="http://schemas.microsoft.com/office/drawing/2014/main" id="{5A3D0C4B-9C1E-4BFF-85EE-32F882E2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862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rPr>
              <a:t>02</a:t>
            </a:r>
          </a:p>
        </p:txBody>
      </p:sp>
      <p:sp>
        <p:nvSpPr>
          <p:cNvPr id="11" name="mat-close-principle-1">
            <a:extLst xmlns:a="http://schemas.openxmlformats.org/drawingml/2006/main">
              <a:ext uri="{FF2B5EF4-FFF2-40B4-BE49-F238E27FC236}">
                <a16:creationId xmlns:a16="http://schemas.microsoft.com/office/drawing/2014/main" id="{3DE4A074-6618-4B6E-BF15-5E5CA70F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910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32E26"/>
                </a:solidFill>
                <a:latin typeface="Bricolage Grotesque Heading"/>
                <a:ea typeface="Bricolage Grotesque Heading"/>
                <a:cs typeface="Bricolage Grotesque Heading"/>
              </a:defRPr>
            </a:pPr>
            <a:r>
              <a:rPr sz="1800" b="1" i="0">
                <a:solidFill>
                  <a:srgbClr val="232E26"/>
                </a:solidFill>
                <a:latin typeface="Bricolage Grotesque Heading"/>
                <a:ea typeface="Bricolage Grotesque Heading"/>
                <a:cs typeface="Bricolage Grotesque Heading"/>
              </a:rPr>
              <a:t>Treat lightly</a:t>
            </a:r>
          </a:p>
        </p:txBody>
      </p:sp>
      <p:sp>
        <p:nvSpPr>
          <p:cNvPr id="12" name="mat-close-body-1">
            <a:extLst xmlns:a="http://schemas.openxmlformats.org/drawingml/2006/main">
              <a:ext uri="{FF2B5EF4-FFF2-40B4-BE49-F238E27FC236}">
                <a16:creationId xmlns:a16="http://schemas.microsoft.com/office/drawing/2014/main" id="{8DCA4309-EE15-4990-A408-4816C386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9911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4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defRPr>
            </a:pPr>
            <a:r>
              <a:rPr sz="127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rPr>
              <a:t>Solve the loudest problem, then listen.</a:t>
            </a:r>
          </a:p>
        </p:txBody>
      </p:sp>
      <p:sp>
        <p:nvSpPr>
          <p:cNvPr id="13" name="mat-close-divider-2">
            <a:extLst xmlns:a="http://schemas.openxmlformats.org/drawingml/2006/main">
              <a:ext uri="{FF2B5EF4-FFF2-40B4-BE49-F238E27FC236}">
                <a16:creationId xmlns:a16="http://schemas.microsoft.com/office/drawing/2014/main" id="{ED888EB3-33A3-4B13-883B-3A932341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0530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E26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at-close-ordinal-2">
            <a:extLst xmlns:a="http://schemas.openxmlformats.org/drawingml/2006/main">
              <a:ext uri="{FF2B5EF4-FFF2-40B4-BE49-F238E27FC236}">
                <a16:creationId xmlns:a16="http://schemas.microsoft.com/office/drawing/2014/main" id="{660A3E3C-71B5-4657-A2E5-912E26F6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862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defRPr>
            </a:pPr>
            <a:r>
              <a:rPr sz="975" b="0" i="0">
                <a:solidFill>
                  <a:srgbClr val="C07030"/>
                </a:solidFill>
                <a:latin typeface="DM Mono Labels"/>
                <a:ea typeface="DM Mono Labels"/>
                <a:cs typeface="DM Mono Labels"/>
              </a:rPr>
              <a:t>03</a:t>
            </a:r>
          </a:p>
        </p:txBody>
      </p:sp>
      <p:sp>
        <p:nvSpPr>
          <p:cNvPr id="15" name="mat-close-principle-2">
            <a:extLst xmlns:a="http://schemas.openxmlformats.org/drawingml/2006/main">
              <a:ext uri="{FF2B5EF4-FFF2-40B4-BE49-F238E27FC236}">
                <a16:creationId xmlns:a16="http://schemas.microsoft.com/office/drawing/2014/main" id="{956BE14C-7D20-4BD5-B557-74BA0470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910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32E26"/>
                </a:solidFill>
                <a:latin typeface="Bricolage Grotesque Heading"/>
                <a:ea typeface="Bricolage Grotesque Heading"/>
                <a:cs typeface="Bricolage Grotesque Heading"/>
              </a:defRPr>
            </a:pPr>
            <a:r>
              <a:rPr sz="1800" b="1" i="0">
                <a:solidFill>
                  <a:srgbClr val="232E26"/>
                </a:solidFill>
                <a:latin typeface="Bricolage Grotesque Heading"/>
                <a:ea typeface="Bricolage Grotesque Heading"/>
                <a:cs typeface="Bricolage Grotesque Heading"/>
              </a:rPr>
              <a:t>Keep life</a:t>
            </a:r>
          </a:p>
        </p:txBody>
      </p:sp>
      <p:sp>
        <p:nvSpPr>
          <p:cNvPr id="16" name="mat-close-body-2">
            <a:extLst xmlns:a="http://schemas.openxmlformats.org/drawingml/2006/main">
              <a:ext uri="{FF2B5EF4-FFF2-40B4-BE49-F238E27FC236}">
                <a16:creationId xmlns:a16="http://schemas.microsoft.com/office/drawing/2014/main" id="{8DFD5FD2-A54D-4EE6-92DE-341E860A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911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defRPr>
            </a:pPr>
            <a:r>
              <a:rPr sz="1275" b="0" i="0">
                <a:solidFill>
                  <a:srgbClr val="1E2820"/>
                </a:solidFill>
                <a:latin typeface="DM Sans Text"/>
                <a:ea typeface="DM Sans Text"/>
                <a:cs typeface="DM Sans Text"/>
              </a:rPr>
              <a:t>A good room is controlled, not dead.</a:t>
            </a:r>
          </a:p>
        </p:txBody>
      </p:sp>
      <p:sp>
        <p:nvSpPr>
          <p:cNvPr id="17" name="mat-close-foot">
            <a:extLst xmlns:a="http://schemas.openxmlformats.org/drawingml/2006/main">
              <a:ext uri="{FF2B5EF4-FFF2-40B4-BE49-F238E27FC236}">
                <a16:creationId xmlns:a16="http://schemas.microsoft.com/office/drawing/2014/main" id="{22450A1C-A174-497F-B2FD-2B6C36E4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F0E8D2">
                    <a:alpha val="64000"/>
                  </a:srgbClr>
                </a:solidFill>
                <a:latin typeface="DM Mono Labels"/>
                <a:ea typeface="DM Mono Labels"/>
                <a:cs typeface="DM Mono Labels"/>
              </a:defRPr>
            </a:pPr>
            <a:r>
              <a:rPr sz="900" b="0" i="0">
                <a:solidFill>
                  <a:srgbClr val="F0E8D2">
                    <a:alpha val="64000"/>
                  </a:srgbClr>
                </a:solidFill>
                <a:latin typeface="DM Mono Labels"/>
                <a:ea typeface="DM Mono Labels"/>
                <a:cs typeface="DM Mono Labels"/>
              </a:rPr>
              <a:t>LISTENING NOTE 08 / END</a:t>
            </a:r>
          </a:p>
        </p:txBody>
      </p:sp>
    </p:spTree>
    <p:extLst>
      <p:ext uri="{BB962C8B-B14F-4D97-AF65-F5344CB8AC3E}">
        <p14:creationId xmlns:p14="http://schemas.microsoft.com/office/powerpoint/2010/main" val="19191293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2026-07-27T15:38:45.2210000Z</dcterms:created>
  <dcterms:modified xsi:type="dcterms:W3CDTF">2026-07-27T15:38:45.2210000Z</dcterms:modified>
</coreProperties>
</file>